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8" r:id="rId1"/>
  </p:sldMasterIdLst>
  <p:notesMasterIdLst>
    <p:notesMasterId r:id="rId12"/>
  </p:notesMasterIdLst>
  <p:sldIdLst>
    <p:sldId id="1579" r:id="rId2"/>
    <p:sldId id="1577" r:id="rId3"/>
    <p:sldId id="259" r:id="rId4"/>
    <p:sldId id="264" r:id="rId5"/>
    <p:sldId id="271" r:id="rId6"/>
    <p:sldId id="258" r:id="rId7"/>
    <p:sldId id="272" r:id="rId8"/>
    <p:sldId id="260" r:id="rId9"/>
    <p:sldId id="1578"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7777"/>
    <a:srgbClr val="ED9A2D"/>
    <a:srgbClr val="0089C4"/>
    <a:srgbClr val="49735D"/>
    <a:srgbClr val="A1893D"/>
    <a:srgbClr val="4873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1215A5-E84B-6533-00E7-C3A7218C8746}" v="3" dt="2026-06-08T17:34:00.339"/>
    <p1510:client id="{5294F365-9EC1-CA44-B273-2A43E747F6C3}" v="44" dt="2026-06-08T21:44:16.8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9"/>
  </p:normalViewPr>
  <p:slideViewPr>
    <p:cSldViewPr snapToGrid="0">
      <p:cViewPr varScale="1">
        <p:scale>
          <a:sx n="149" d="100"/>
          <a:sy n="149" d="100"/>
        </p:scale>
        <p:origin x="192"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gan, Robb" userId="6e49e175-ae62-4b25-a9b8-980198524bb0" providerId="ADAL" clId="{815032F7-E4C2-5F74-92C0-8B55A1DE40FC}"/>
    <pc:docChg chg="undo custSel delSld modSld">
      <pc:chgData name="Morgan, Robb" userId="6e49e175-ae62-4b25-a9b8-980198524bb0" providerId="ADAL" clId="{815032F7-E4C2-5F74-92C0-8B55A1DE40FC}" dt="2026-06-08T21:44:19.121" v="373" actId="20577"/>
      <pc:docMkLst>
        <pc:docMk/>
      </pc:docMkLst>
      <pc:sldChg chg="modSp del">
        <pc:chgData name="Morgan, Robb" userId="6e49e175-ae62-4b25-a9b8-980198524bb0" providerId="ADAL" clId="{815032F7-E4C2-5F74-92C0-8B55A1DE40FC}" dt="2026-06-08T18:15:05.884" v="182" actId="2696"/>
        <pc:sldMkLst>
          <pc:docMk/>
          <pc:sldMk cId="2726343695" sldId="257"/>
        </pc:sldMkLst>
        <pc:spChg chg="mod">
          <ac:chgData name="Morgan, Robb" userId="6e49e175-ae62-4b25-a9b8-980198524bb0" providerId="ADAL" clId="{815032F7-E4C2-5F74-92C0-8B55A1DE40FC}" dt="2026-06-08T18:02:17.474" v="110"/>
          <ac:spMkLst>
            <pc:docMk/>
            <pc:sldMk cId="2726343695" sldId="257"/>
            <ac:spMk id="2" creationId="{3296EECA-39E0-C5F2-0DC3-1B5D9FA91CC8}"/>
          </ac:spMkLst>
        </pc:spChg>
      </pc:sldChg>
      <pc:sldChg chg="modSp mod">
        <pc:chgData name="Morgan, Robb" userId="6e49e175-ae62-4b25-a9b8-980198524bb0" providerId="ADAL" clId="{815032F7-E4C2-5F74-92C0-8B55A1DE40FC}" dt="2026-06-08T18:31:46.702" v="221" actId="20577"/>
        <pc:sldMkLst>
          <pc:docMk/>
          <pc:sldMk cId="28918216" sldId="258"/>
        </pc:sldMkLst>
        <pc:spChg chg="mod">
          <ac:chgData name="Morgan, Robb" userId="6e49e175-ae62-4b25-a9b8-980198524bb0" providerId="ADAL" clId="{815032F7-E4C2-5F74-92C0-8B55A1DE40FC}" dt="2026-06-08T18:31:46.702" v="221" actId="20577"/>
          <ac:spMkLst>
            <pc:docMk/>
            <pc:sldMk cId="28918216" sldId="258"/>
            <ac:spMk id="2" creationId="{2CF0CD1D-79DA-C8E1-3D9C-FC96EF2269CA}"/>
          </ac:spMkLst>
        </pc:spChg>
        <pc:spChg chg="mod">
          <ac:chgData name="Morgan, Robb" userId="6e49e175-ae62-4b25-a9b8-980198524bb0" providerId="ADAL" clId="{815032F7-E4C2-5F74-92C0-8B55A1DE40FC}" dt="2026-06-08T18:02:23.500" v="112"/>
          <ac:spMkLst>
            <pc:docMk/>
            <pc:sldMk cId="28918216" sldId="258"/>
            <ac:spMk id="7" creationId="{F0208A4A-912E-BE28-9520-62F441918AEF}"/>
          </ac:spMkLst>
        </pc:spChg>
      </pc:sldChg>
      <pc:sldChg chg="modSp mod">
        <pc:chgData name="Morgan, Robb" userId="6e49e175-ae62-4b25-a9b8-980198524bb0" providerId="ADAL" clId="{815032F7-E4C2-5F74-92C0-8B55A1DE40FC}" dt="2026-06-08T18:15:19.796" v="199" actId="20577"/>
        <pc:sldMkLst>
          <pc:docMk/>
          <pc:sldMk cId="4254772614" sldId="259"/>
        </pc:sldMkLst>
        <pc:spChg chg="mod">
          <ac:chgData name="Morgan, Robb" userId="6e49e175-ae62-4b25-a9b8-980198524bb0" providerId="ADAL" clId="{815032F7-E4C2-5F74-92C0-8B55A1DE40FC}" dt="2026-06-08T18:02:12.097" v="108"/>
          <ac:spMkLst>
            <pc:docMk/>
            <pc:sldMk cId="4254772614" sldId="259"/>
            <ac:spMk id="3" creationId="{FF9A9218-3E4F-407E-8274-BE97716EFA38}"/>
          </ac:spMkLst>
        </pc:spChg>
        <pc:graphicFrameChg chg="mod modGraphic">
          <ac:chgData name="Morgan, Robb" userId="6e49e175-ae62-4b25-a9b8-980198524bb0" providerId="ADAL" clId="{815032F7-E4C2-5F74-92C0-8B55A1DE40FC}" dt="2026-06-08T18:15:19.796" v="199" actId="20577"/>
          <ac:graphicFrameMkLst>
            <pc:docMk/>
            <pc:sldMk cId="4254772614" sldId="259"/>
            <ac:graphicFrameMk id="4" creationId="{F0C6246C-B98E-AF43-50AD-5FCC7AEE66A3}"/>
          </ac:graphicFrameMkLst>
        </pc:graphicFrameChg>
      </pc:sldChg>
      <pc:sldChg chg="addSp delSp modSp mod">
        <pc:chgData name="Morgan, Robb" userId="6e49e175-ae62-4b25-a9b8-980198524bb0" providerId="ADAL" clId="{815032F7-E4C2-5F74-92C0-8B55A1DE40FC}" dt="2026-06-08T19:29:47.715" v="226" actId="1076"/>
        <pc:sldMkLst>
          <pc:docMk/>
          <pc:sldMk cId="3761023704" sldId="260"/>
        </pc:sldMkLst>
        <pc:spChg chg="mod">
          <ac:chgData name="Morgan, Robb" userId="6e49e175-ae62-4b25-a9b8-980198524bb0" providerId="ADAL" clId="{815032F7-E4C2-5F74-92C0-8B55A1DE40FC}" dt="2026-06-08T18:02:32.699" v="114"/>
          <ac:spMkLst>
            <pc:docMk/>
            <pc:sldMk cId="3761023704" sldId="260"/>
            <ac:spMk id="2" creationId="{5BA67F61-38FF-93D3-08E0-234854851129}"/>
          </ac:spMkLst>
        </pc:spChg>
        <pc:spChg chg="add del">
          <ac:chgData name="Morgan, Robb" userId="6e49e175-ae62-4b25-a9b8-980198524bb0" providerId="ADAL" clId="{815032F7-E4C2-5F74-92C0-8B55A1DE40FC}" dt="2026-06-08T18:13:49.077" v="177" actId="22"/>
          <ac:spMkLst>
            <pc:docMk/>
            <pc:sldMk cId="3761023704" sldId="260"/>
            <ac:spMk id="6" creationId="{1FED7751-948F-B187-3C2A-3D9F8FD556A6}"/>
          </ac:spMkLst>
        </pc:spChg>
        <pc:picChg chg="add mod">
          <ac:chgData name="Morgan, Robb" userId="6e49e175-ae62-4b25-a9b8-980198524bb0" providerId="ADAL" clId="{815032F7-E4C2-5F74-92C0-8B55A1DE40FC}" dt="2026-06-08T19:29:47.715" v="226" actId="1076"/>
          <ac:picMkLst>
            <pc:docMk/>
            <pc:sldMk cId="3761023704" sldId="260"/>
            <ac:picMk id="4" creationId="{C0E7E8A8-FB39-DA10-4CCE-03C405E9EFE1}"/>
          </ac:picMkLst>
        </pc:picChg>
        <pc:picChg chg="del">
          <ac:chgData name="Morgan, Robb" userId="6e49e175-ae62-4b25-a9b8-980198524bb0" providerId="ADAL" clId="{815032F7-E4C2-5F74-92C0-8B55A1DE40FC}" dt="2026-06-08T18:13:45.893" v="175" actId="478"/>
          <ac:picMkLst>
            <pc:docMk/>
            <pc:sldMk cId="3761023704" sldId="260"/>
            <ac:picMk id="5" creationId="{652B9DAA-D349-8D6F-C732-17BC0C2483F1}"/>
          </ac:picMkLst>
        </pc:picChg>
        <pc:picChg chg="add del mod">
          <ac:chgData name="Morgan, Robb" userId="6e49e175-ae62-4b25-a9b8-980198524bb0" providerId="ADAL" clId="{815032F7-E4C2-5F74-92C0-8B55A1DE40FC}" dt="2026-06-08T19:29:39.864" v="222" actId="478"/>
          <ac:picMkLst>
            <pc:docMk/>
            <pc:sldMk cId="3761023704" sldId="260"/>
            <ac:picMk id="7" creationId="{B1F14C3C-87A5-CD99-DE06-1AB4792E4885}"/>
          </ac:picMkLst>
        </pc:picChg>
      </pc:sldChg>
      <pc:sldChg chg="modSp mod">
        <pc:chgData name="Morgan, Robb" userId="6e49e175-ae62-4b25-a9b8-980198524bb0" providerId="ADAL" clId="{815032F7-E4C2-5F74-92C0-8B55A1DE40FC}" dt="2026-06-08T20:24:06.174" v="312" actId="20577"/>
        <pc:sldMkLst>
          <pc:docMk/>
          <pc:sldMk cId="1087899392" sldId="261"/>
        </pc:sldMkLst>
        <pc:spChg chg="mod">
          <ac:chgData name="Morgan, Robb" userId="6e49e175-ae62-4b25-a9b8-980198524bb0" providerId="ADAL" clId="{815032F7-E4C2-5F74-92C0-8B55A1DE40FC}" dt="2026-06-08T20:24:06.174" v="312" actId="20577"/>
          <ac:spMkLst>
            <pc:docMk/>
            <pc:sldMk cId="1087899392" sldId="261"/>
            <ac:spMk id="3" creationId="{4C38B454-A478-6480-FE4D-CC779D0CDE81}"/>
          </ac:spMkLst>
        </pc:spChg>
      </pc:sldChg>
      <pc:sldChg chg="modSp">
        <pc:chgData name="Morgan, Robb" userId="6e49e175-ae62-4b25-a9b8-980198524bb0" providerId="ADAL" clId="{815032F7-E4C2-5F74-92C0-8B55A1DE40FC}" dt="2026-06-08T18:02:14.697" v="109"/>
        <pc:sldMkLst>
          <pc:docMk/>
          <pc:sldMk cId="1102218777" sldId="264"/>
        </pc:sldMkLst>
        <pc:spChg chg="mod">
          <ac:chgData name="Morgan, Robb" userId="6e49e175-ae62-4b25-a9b8-980198524bb0" providerId="ADAL" clId="{815032F7-E4C2-5F74-92C0-8B55A1DE40FC}" dt="2026-06-08T18:02:14.697" v="109"/>
          <ac:spMkLst>
            <pc:docMk/>
            <pc:sldMk cId="1102218777" sldId="264"/>
            <ac:spMk id="8" creationId="{9AA49D88-3341-2330-4452-CD8AA6FDEDC5}"/>
          </ac:spMkLst>
        </pc:spChg>
      </pc:sldChg>
      <pc:sldChg chg="modSp">
        <pc:chgData name="Morgan, Robb" userId="6e49e175-ae62-4b25-a9b8-980198524bb0" providerId="ADAL" clId="{815032F7-E4C2-5F74-92C0-8B55A1DE40FC}" dt="2026-06-08T18:02:20.437" v="111"/>
        <pc:sldMkLst>
          <pc:docMk/>
          <pc:sldMk cId="2597882783" sldId="271"/>
        </pc:sldMkLst>
        <pc:spChg chg="mod">
          <ac:chgData name="Morgan, Robb" userId="6e49e175-ae62-4b25-a9b8-980198524bb0" providerId="ADAL" clId="{815032F7-E4C2-5F74-92C0-8B55A1DE40FC}" dt="2026-06-08T18:02:20.437" v="111"/>
          <ac:spMkLst>
            <pc:docMk/>
            <pc:sldMk cId="2597882783" sldId="271"/>
            <ac:spMk id="2" creationId="{788594D3-322A-B02A-389A-D516CC47709C}"/>
          </ac:spMkLst>
        </pc:spChg>
      </pc:sldChg>
      <pc:sldChg chg="modSp">
        <pc:chgData name="Morgan, Robb" userId="6e49e175-ae62-4b25-a9b8-980198524bb0" providerId="ADAL" clId="{815032F7-E4C2-5F74-92C0-8B55A1DE40FC}" dt="2026-06-08T18:02:28.073" v="113"/>
        <pc:sldMkLst>
          <pc:docMk/>
          <pc:sldMk cId="349043267" sldId="272"/>
        </pc:sldMkLst>
        <pc:spChg chg="mod">
          <ac:chgData name="Morgan, Robb" userId="6e49e175-ae62-4b25-a9b8-980198524bb0" providerId="ADAL" clId="{815032F7-E4C2-5F74-92C0-8B55A1DE40FC}" dt="2026-06-08T18:02:28.073" v="113"/>
          <ac:spMkLst>
            <pc:docMk/>
            <pc:sldMk cId="349043267" sldId="272"/>
            <ac:spMk id="2" creationId="{7669FA67-039F-B7F5-0EFC-BEFB17CB779D}"/>
          </ac:spMkLst>
        </pc:spChg>
      </pc:sldChg>
      <pc:sldChg chg="modSp mod">
        <pc:chgData name="Morgan, Robb" userId="6e49e175-ae62-4b25-a9b8-980198524bb0" providerId="ADAL" clId="{815032F7-E4C2-5F74-92C0-8B55A1DE40FC}" dt="2026-06-08T18:02:07.074" v="107" actId="20577"/>
        <pc:sldMkLst>
          <pc:docMk/>
          <pc:sldMk cId="1343593737" sldId="1577"/>
        </pc:sldMkLst>
        <pc:spChg chg="mod">
          <ac:chgData name="Morgan, Robb" userId="6e49e175-ae62-4b25-a9b8-980198524bb0" providerId="ADAL" clId="{815032F7-E4C2-5F74-92C0-8B55A1DE40FC}" dt="2026-06-08T18:02:07.074" v="107" actId="20577"/>
          <ac:spMkLst>
            <pc:docMk/>
            <pc:sldMk cId="1343593737" sldId="1577"/>
            <ac:spMk id="15" creationId="{973B2ADF-F892-0005-771E-51344199B50E}"/>
          </ac:spMkLst>
        </pc:spChg>
      </pc:sldChg>
      <pc:sldChg chg="modSp">
        <pc:chgData name="Morgan, Robb" userId="6e49e175-ae62-4b25-a9b8-980198524bb0" providerId="ADAL" clId="{815032F7-E4C2-5F74-92C0-8B55A1DE40FC}" dt="2026-06-08T18:02:35.442" v="115"/>
        <pc:sldMkLst>
          <pc:docMk/>
          <pc:sldMk cId="373397560" sldId="1578"/>
        </pc:sldMkLst>
        <pc:spChg chg="mod">
          <ac:chgData name="Morgan, Robb" userId="6e49e175-ae62-4b25-a9b8-980198524bb0" providerId="ADAL" clId="{815032F7-E4C2-5F74-92C0-8B55A1DE40FC}" dt="2026-06-08T18:02:35.442" v="115"/>
          <ac:spMkLst>
            <pc:docMk/>
            <pc:sldMk cId="373397560" sldId="1578"/>
            <ac:spMk id="3" creationId="{C87B859E-F282-F0F8-CB8B-EC73CE45C631}"/>
          </ac:spMkLst>
        </pc:spChg>
      </pc:sldChg>
      <pc:sldChg chg="delSp modSp mod">
        <pc:chgData name="Morgan, Robb" userId="6e49e175-ae62-4b25-a9b8-980198524bb0" providerId="ADAL" clId="{815032F7-E4C2-5F74-92C0-8B55A1DE40FC}" dt="2026-06-08T21:44:19.121" v="373" actId="20577"/>
        <pc:sldMkLst>
          <pc:docMk/>
          <pc:sldMk cId="500213301" sldId="1579"/>
        </pc:sldMkLst>
        <pc:spChg chg="mod">
          <ac:chgData name="Morgan, Robb" userId="6e49e175-ae62-4b25-a9b8-980198524bb0" providerId="ADAL" clId="{815032F7-E4C2-5F74-92C0-8B55A1DE40FC}" dt="2026-06-08T20:25:38.106" v="368" actId="20577"/>
          <ac:spMkLst>
            <pc:docMk/>
            <pc:sldMk cId="500213301" sldId="1579"/>
            <ac:spMk id="10" creationId="{CE3AFF28-F957-4403-77AD-ED0D2D2469C5}"/>
          </ac:spMkLst>
        </pc:spChg>
        <pc:spChg chg="mod">
          <ac:chgData name="Morgan, Robb" userId="6e49e175-ae62-4b25-a9b8-980198524bb0" providerId="ADAL" clId="{815032F7-E4C2-5F74-92C0-8B55A1DE40FC}" dt="2026-06-08T21:44:19.121" v="373" actId="20577"/>
          <ac:spMkLst>
            <pc:docMk/>
            <pc:sldMk cId="500213301" sldId="1579"/>
            <ac:spMk id="11" creationId="{508156BA-5B71-4823-B470-934D62A4E5F3}"/>
          </ac:spMkLst>
        </pc:spChg>
        <pc:spChg chg="del mod">
          <ac:chgData name="Morgan, Robb" userId="6e49e175-ae62-4b25-a9b8-980198524bb0" providerId="ADAL" clId="{815032F7-E4C2-5F74-92C0-8B55A1DE40FC}" dt="2026-06-08T20:25:59.739" v="369" actId="478"/>
          <ac:spMkLst>
            <pc:docMk/>
            <pc:sldMk cId="500213301" sldId="1579"/>
            <ac:spMk id="12" creationId="{2E718521-ED89-4586-33A0-D5F7CB2EA11F}"/>
          </ac:spMkLst>
        </pc:spChg>
        <pc:spChg chg="mod">
          <ac:chgData name="Morgan, Robb" userId="6e49e175-ae62-4b25-a9b8-980198524bb0" providerId="ADAL" clId="{815032F7-E4C2-5F74-92C0-8B55A1DE40FC}" dt="2026-06-08T18:08:00.970" v="174" actId="113"/>
          <ac:spMkLst>
            <pc:docMk/>
            <pc:sldMk cId="500213301" sldId="1579"/>
            <ac:spMk id="14" creationId="{880534B0-37A8-612F-D308-9F8D37B5B6F6}"/>
          </ac:spMkLst>
        </pc:spChg>
      </pc:sldChg>
    </pc:docChg>
  </pc:docChgLst>
  <pc:docChgLst>
    <pc:chgData name="Hayes, Travis" userId="S::tahz@pge.com::4b9ddd45-6601-4923-a76c-85a08246e8f6" providerId="AD" clId="Web-{121215A5-E84B-6533-00E7-C3A7218C8746}"/>
    <pc:docChg chg="addSld modSld">
      <pc:chgData name="Hayes, Travis" userId="S::tahz@pge.com::4b9ddd45-6601-4923-a76c-85a08246e8f6" providerId="AD" clId="Web-{121215A5-E84B-6533-00E7-C3A7218C8746}" dt="2026-06-08T17:34:00.339" v="2"/>
      <pc:docMkLst>
        <pc:docMk/>
      </pc:docMkLst>
      <pc:sldChg chg="delSp add">
        <pc:chgData name="Hayes, Travis" userId="S::tahz@pge.com::4b9ddd45-6601-4923-a76c-85a08246e8f6" providerId="AD" clId="Web-{121215A5-E84B-6533-00E7-C3A7218C8746}" dt="2026-06-08T17:33:12.261" v="1"/>
        <pc:sldMkLst>
          <pc:docMk/>
          <pc:sldMk cId="2597882783" sldId="271"/>
        </pc:sldMkLst>
        <pc:spChg chg="del">
          <ac:chgData name="Hayes, Travis" userId="S::tahz@pge.com::4b9ddd45-6601-4923-a76c-85a08246e8f6" providerId="AD" clId="Web-{121215A5-E84B-6533-00E7-C3A7218C8746}" dt="2026-06-08T17:33:12.261" v="1"/>
          <ac:spMkLst>
            <pc:docMk/>
            <pc:sldMk cId="2597882783" sldId="271"/>
            <ac:spMk id="6" creationId="{214C2BE7-D030-908A-FB14-B868990EDBB4}"/>
          </ac:spMkLst>
        </pc:spChg>
      </pc:sldChg>
      <pc:sldChg chg="add">
        <pc:chgData name="Hayes, Travis" userId="S::tahz@pge.com::4b9ddd45-6601-4923-a76c-85a08246e8f6" providerId="AD" clId="Web-{121215A5-E84B-6533-00E7-C3A7218C8746}" dt="2026-06-08T17:34:00.339" v="2"/>
        <pc:sldMkLst>
          <pc:docMk/>
          <pc:sldMk cId="349043267" sldId="272"/>
        </pc:sldMkLst>
      </pc:sldChg>
      <pc:sldMasterChg chg="addSldLayout">
        <pc:chgData name="Hayes, Travis" userId="S::tahz@pge.com::4b9ddd45-6601-4923-a76c-85a08246e8f6" providerId="AD" clId="Web-{121215A5-E84B-6533-00E7-C3A7218C8746}" dt="2026-06-08T17:33:04.918" v="0"/>
        <pc:sldMasterMkLst>
          <pc:docMk/>
          <pc:sldMasterMk cId="3475336881" sldId="2147483688"/>
        </pc:sldMasterMkLst>
        <pc:sldLayoutChg chg="add">
          <pc:chgData name="Hayes, Travis" userId="S::tahz@pge.com::4b9ddd45-6601-4923-a76c-85a08246e8f6" providerId="AD" clId="Web-{121215A5-E84B-6533-00E7-C3A7218C8746}" dt="2026-06-08T17:33:04.918" v="0"/>
          <pc:sldLayoutMkLst>
            <pc:docMk/>
            <pc:sldMasterMk cId="3475336881" sldId="2147483688"/>
            <pc:sldLayoutMk cId="2827021540" sldId="214748369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E65AE-465E-7344-85CA-905F2682E015}" type="datetimeFigureOut">
              <a:rPr lang="en-US" smtClean="0"/>
              <a:t>6/8/26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AC5356-2AAE-774D-8859-E539A09455A7}" type="slidenum">
              <a:rPr lang="en-US" smtClean="0"/>
              <a:t>‹#›</a:t>
            </a:fld>
            <a:endParaRPr lang="en-US"/>
          </a:p>
        </p:txBody>
      </p:sp>
    </p:spTree>
    <p:extLst>
      <p:ext uri="{BB962C8B-B14F-4D97-AF65-F5344CB8AC3E}">
        <p14:creationId xmlns:p14="http://schemas.microsoft.com/office/powerpoint/2010/main" val="3984934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8B6C2-F0A5-0CEE-7898-EE8D6FB0C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A5C29-56A8-220B-2FC2-B4F3D7CA2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C84C7-3755-5024-6955-E7C0908E9572}"/>
              </a:ext>
            </a:extLst>
          </p:cNvPr>
          <p:cNvSpPr>
            <a:spLocks noGrp="1"/>
          </p:cNvSpPr>
          <p:nvPr>
            <p:ph type="body" idx="1"/>
          </p:nvPr>
        </p:nvSpPr>
        <p:spPr/>
        <p:txBody>
          <a:bodyPr/>
          <a:lstStyle/>
          <a:p>
            <a:r>
              <a:rPr lang="en-US"/>
              <a:t>Make it more friendly sounding – sharing more than review – Architecture Peer Presentation – Can we make it less scary</a:t>
            </a:r>
          </a:p>
          <a:p>
            <a:endParaRPr lang="en-US"/>
          </a:p>
        </p:txBody>
      </p:sp>
      <p:sp>
        <p:nvSpPr>
          <p:cNvPr id="4" name="Slide Number Placeholder 3">
            <a:extLst>
              <a:ext uri="{FF2B5EF4-FFF2-40B4-BE49-F238E27FC236}">
                <a16:creationId xmlns:a16="http://schemas.microsoft.com/office/drawing/2014/main" id="{95810EC9-A44D-A4A1-D3EB-D52BDBE273A1}"/>
              </a:ext>
            </a:extLst>
          </p:cNvPr>
          <p:cNvSpPr>
            <a:spLocks noGrp="1"/>
          </p:cNvSpPr>
          <p:nvPr>
            <p:ph type="sldNum" sz="quarter" idx="5"/>
          </p:nvPr>
        </p:nvSpPr>
        <p:spPr/>
        <p:txBody>
          <a:bodyPr/>
          <a:lstStyle/>
          <a:p>
            <a:fld id="{7DAC5356-2AAE-774D-8859-E539A09455A7}" type="slidenum">
              <a:rPr lang="en-US" smtClean="0"/>
              <a:t>1</a:t>
            </a:fld>
            <a:endParaRPr lang="en-US"/>
          </a:p>
        </p:txBody>
      </p:sp>
    </p:spTree>
    <p:extLst>
      <p:ext uri="{BB962C8B-B14F-4D97-AF65-F5344CB8AC3E}">
        <p14:creationId xmlns:p14="http://schemas.microsoft.com/office/powerpoint/2010/main" val="1135776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4757AD-F488-4A0B-A7F6-7673FC99D35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1509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Safety and </a:t>
            </a:r>
            <a:r>
              <a:rPr lang="en-US" err="1"/>
              <a:t>groundrules</a:t>
            </a:r>
            <a:endParaRPr lang="en-US"/>
          </a:p>
        </p:txBody>
      </p:sp>
      <p:sp>
        <p:nvSpPr>
          <p:cNvPr id="4" name="Slide Number Placeholder 3"/>
          <p:cNvSpPr>
            <a:spLocks noGrp="1"/>
          </p:cNvSpPr>
          <p:nvPr>
            <p:ph type="sldNum" sz="quarter" idx="5"/>
          </p:nvPr>
        </p:nvSpPr>
        <p:spPr/>
        <p:txBody>
          <a:bodyPr/>
          <a:lstStyle/>
          <a:p>
            <a:fld id="{7DAC5356-2AAE-774D-8859-E539A09455A7}" type="slidenum">
              <a:rPr lang="en-US" smtClean="0"/>
              <a:t>3</a:t>
            </a:fld>
            <a:endParaRPr lang="en-US"/>
          </a:p>
        </p:txBody>
      </p:sp>
    </p:spTree>
    <p:extLst>
      <p:ext uri="{BB962C8B-B14F-4D97-AF65-F5344CB8AC3E}">
        <p14:creationId xmlns:p14="http://schemas.microsoft.com/office/powerpoint/2010/main" val="2268689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 approve.  There no board</a:t>
            </a:r>
          </a:p>
        </p:txBody>
      </p:sp>
      <p:sp>
        <p:nvSpPr>
          <p:cNvPr id="4" name="Slide Number Placeholder 3"/>
          <p:cNvSpPr>
            <a:spLocks noGrp="1"/>
          </p:cNvSpPr>
          <p:nvPr>
            <p:ph type="sldNum" sz="quarter" idx="5"/>
          </p:nvPr>
        </p:nvSpPr>
        <p:spPr/>
        <p:txBody>
          <a:bodyPr/>
          <a:lstStyle/>
          <a:p>
            <a:fld id="{7DAC5356-2AAE-774D-8859-E539A09455A7}" type="slidenum">
              <a:rPr lang="en-US" smtClean="0"/>
              <a:t>4</a:t>
            </a:fld>
            <a:endParaRPr lang="en-US"/>
          </a:p>
        </p:txBody>
      </p:sp>
    </p:spTree>
    <p:extLst>
      <p:ext uri="{BB962C8B-B14F-4D97-AF65-F5344CB8AC3E}">
        <p14:creationId xmlns:p14="http://schemas.microsoft.com/office/powerpoint/2010/main" val="1112948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5F1699-B22F-1243-B09C-F4D75C12AAA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4762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AC5356-2AAE-774D-8859-E539A09455A7}" type="slidenum">
              <a:rPr lang="en-US" smtClean="0"/>
              <a:t>6</a:t>
            </a:fld>
            <a:endParaRPr lang="en-US"/>
          </a:p>
        </p:txBody>
      </p:sp>
    </p:spTree>
    <p:extLst>
      <p:ext uri="{BB962C8B-B14F-4D97-AF65-F5344CB8AC3E}">
        <p14:creationId xmlns:p14="http://schemas.microsoft.com/office/powerpoint/2010/main" val="2347605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Pre-read</a:t>
            </a:r>
          </a:p>
        </p:txBody>
      </p:sp>
      <p:sp>
        <p:nvSpPr>
          <p:cNvPr id="4" name="Slide Number Placeholder 3"/>
          <p:cNvSpPr>
            <a:spLocks noGrp="1"/>
          </p:cNvSpPr>
          <p:nvPr>
            <p:ph type="sldNum" sz="quarter" idx="5"/>
          </p:nvPr>
        </p:nvSpPr>
        <p:spPr/>
        <p:txBody>
          <a:bodyPr/>
          <a:lstStyle/>
          <a:p>
            <a:fld id="{7DAC5356-2AAE-774D-8859-E539A09455A7}" type="slidenum">
              <a:rPr lang="en-US" smtClean="0"/>
              <a:t>8</a:t>
            </a:fld>
            <a:endParaRPr lang="en-US"/>
          </a:p>
        </p:txBody>
      </p:sp>
    </p:spTree>
    <p:extLst>
      <p:ext uri="{BB962C8B-B14F-4D97-AF65-F5344CB8AC3E}">
        <p14:creationId xmlns:p14="http://schemas.microsoft.com/office/powerpoint/2010/main" val="1493738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AC5356-2AAE-774D-8859-E539A09455A7}" type="slidenum">
              <a:rPr lang="en-US" smtClean="0"/>
              <a:t>10</a:t>
            </a:fld>
            <a:endParaRPr lang="en-US"/>
          </a:p>
        </p:txBody>
      </p:sp>
    </p:spTree>
    <p:extLst>
      <p:ext uri="{BB962C8B-B14F-4D97-AF65-F5344CB8AC3E}">
        <p14:creationId xmlns:p14="http://schemas.microsoft.com/office/powerpoint/2010/main" val="2412675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192B0-6504-A0F1-75B4-18001783994C}"/>
              </a:ext>
            </a:extLst>
          </p:cNvPr>
          <p:cNvSpPr>
            <a:spLocks noGrp="1"/>
          </p:cNvSpPr>
          <p:nvPr>
            <p:ph type="ctrTitle"/>
          </p:nvPr>
        </p:nvSpPr>
        <p:spPr>
          <a:xfrm>
            <a:off x="2103118" y="1122363"/>
            <a:ext cx="8564880" cy="2387600"/>
          </a:xfrm>
        </p:spPr>
        <p:txBody>
          <a:bodyPr anchor="b">
            <a:normAutofit/>
          </a:bodyPr>
          <a:lstStyle>
            <a:lvl1pPr algn="l">
              <a:defRPr sz="5400">
                <a:solidFill>
                  <a:srgbClr val="777777"/>
                </a:solidFill>
                <a:latin typeface="+mn-lt"/>
                <a:cs typeface="Segoe UI" panose="020B05020402040202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F9C72F3F-EDED-00DA-3DF4-F58E87F1788D}"/>
              </a:ext>
            </a:extLst>
          </p:cNvPr>
          <p:cNvSpPr>
            <a:spLocks noGrp="1"/>
          </p:cNvSpPr>
          <p:nvPr>
            <p:ph type="subTitle" idx="1"/>
          </p:nvPr>
        </p:nvSpPr>
        <p:spPr>
          <a:xfrm>
            <a:off x="2103118" y="3602038"/>
            <a:ext cx="8564881" cy="1655762"/>
          </a:xfrm>
        </p:spPr>
        <p:txBody>
          <a:bodyPr>
            <a:normAutofit/>
          </a:bodyPr>
          <a:lstStyle>
            <a:lvl1pPr marL="0" indent="0" algn="l">
              <a:buNone/>
              <a:defRPr sz="3200">
                <a:solidFill>
                  <a:srgbClr val="FFA100"/>
                </a:solidFill>
                <a:latin typeface="+mn-lt"/>
                <a:cs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a:extLst>
              <a:ext uri="{FF2B5EF4-FFF2-40B4-BE49-F238E27FC236}">
                <a16:creationId xmlns:a16="http://schemas.microsoft.com/office/drawing/2014/main" id="{0BDA1010-BACE-9D67-303C-32835F1821BA}"/>
              </a:ext>
            </a:extLst>
          </p:cNvPr>
          <p:cNvSpPr/>
          <p:nvPr/>
        </p:nvSpPr>
        <p:spPr>
          <a:xfrm>
            <a:off x="0" y="0"/>
            <a:ext cx="1685925" cy="6811246"/>
          </a:xfrm>
          <a:prstGeom prst="rect">
            <a:avLst/>
          </a:prstGeom>
          <a:solidFill>
            <a:srgbClr val="2FA3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777777"/>
                </a:solidFill>
              </a:ln>
              <a:solidFill>
                <a:srgbClr val="777777"/>
              </a:solidFill>
            </a:endParaRPr>
          </a:p>
        </p:txBody>
      </p:sp>
      <p:grpSp>
        <p:nvGrpSpPr>
          <p:cNvPr id="8" name="Group 7">
            <a:extLst>
              <a:ext uri="{FF2B5EF4-FFF2-40B4-BE49-F238E27FC236}">
                <a16:creationId xmlns:a16="http://schemas.microsoft.com/office/drawing/2014/main" id="{D8996C2E-4746-EC27-16F5-B3F8680C4B56}"/>
              </a:ext>
            </a:extLst>
          </p:cNvPr>
          <p:cNvGrpSpPr/>
          <p:nvPr/>
        </p:nvGrpSpPr>
        <p:grpSpPr>
          <a:xfrm>
            <a:off x="379046" y="5505938"/>
            <a:ext cx="843817" cy="940973"/>
            <a:chOff x="4873625" y="2130425"/>
            <a:chExt cx="1971675" cy="2251075"/>
          </a:xfrm>
        </p:grpSpPr>
        <p:sp>
          <p:nvSpPr>
            <p:cNvPr id="9" name="Rectangle 8">
              <a:extLst>
                <a:ext uri="{FF2B5EF4-FFF2-40B4-BE49-F238E27FC236}">
                  <a16:creationId xmlns:a16="http://schemas.microsoft.com/office/drawing/2014/main" id="{7FBD475B-F50F-7607-16C6-832E8F199F98}"/>
                </a:ext>
              </a:extLst>
            </p:cNvPr>
            <p:cNvSpPr/>
            <p:nvPr/>
          </p:nvSpPr>
          <p:spPr>
            <a:xfrm>
              <a:off x="4873625" y="2130425"/>
              <a:ext cx="1971675" cy="2251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525EA1A-78D7-D9DB-BD71-55737112F5BF}"/>
                </a:ext>
              </a:extLst>
            </p:cNvPr>
            <p:cNvPicPr>
              <a:picLocks noChangeAspect="1"/>
            </p:cNvPicPr>
            <p:nvPr/>
          </p:nvPicPr>
          <p:blipFill>
            <a:blip r:embed="rId2"/>
            <a:srcRect l="8289" t="7763" r="14342" b="7475"/>
            <a:stretch/>
          </p:blipFill>
          <p:spPr>
            <a:xfrm>
              <a:off x="4924425" y="2184400"/>
              <a:ext cx="1866900" cy="2149476"/>
            </a:xfrm>
            <a:prstGeom prst="rect">
              <a:avLst/>
            </a:prstGeom>
          </p:spPr>
        </p:pic>
      </p:grpSp>
      <p:pic>
        <p:nvPicPr>
          <p:cNvPr id="14" name="Picture 13" descr="A person in a hard hat writing on a clipboard&#10;&#10;AI-generated content may be incorrect.">
            <a:extLst>
              <a:ext uri="{FF2B5EF4-FFF2-40B4-BE49-F238E27FC236}">
                <a16:creationId xmlns:a16="http://schemas.microsoft.com/office/drawing/2014/main" id="{567A33EC-A78C-2702-DF60-7F9140E99FD6}"/>
              </a:ext>
            </a:extLst>
          </p:cNvPr>
          <p:cNvPicPr>
            <a:picLocks noChangeAspect="1"/>
          </p:cNvPicPr>
          <p:nvPr/>
        </p:nvPicPr>
        <p:blipFill>
          <a:blip r:embed="rId3"/>
          <a:stretch>
            <a:fillRect/>
          </a:stretch>
        </p:blipFill>
        <p:spPr>
          <a:xfrm>
            <a:off x="10936320" y="57926"/>
            <a:ext cx="1158063" cy="1448145"/>
          </a:xfrm>
          <a:prstGeom prst="rect">
            <a:avLst/>
          </a:prstGeom>
        </p:spPr>
      </p:pic>
      <p:sp>
        <p:nvSpPr>
          <p:cNvPr id="20" name="Text Placeholder 19">
            <a:extLst>
              <a:ext uri="{FF2B5EF4-FFF2-40B4-BE49-F238E27FC236}">
                <a16:creationId xmlns:a16="http://schemas.microsoft.com/office/drawing/2014/main" id="{1536F932-E33D-76D4-417E-D040E6DFB733}"/>
              </a:ext>
            </a:extLst>
          </p:cNvPr>
          <p:cNvSpPr>
            <a:spLocks noGrp="1"/>
          </p:cNvSpPr>
          <p:nvPr>
            <p:ph type="body" sz="quarter" idx="11" hasCustomPrompt="1"/>
          </p:nvPr>
        </p:nvSpPr>
        <p:spPr>
          <a:xfrm>
            <a:off x="2084256" y="5486616"/>
            <a:ext cx="5148566" cy="378725"/>
          </a:xfrm>
        </p:spPr>
        <p:txBody>
          <a:bodyPr>
            <a:normAutofit/>
          </a:bodyPr>
          <a:lstStyle>
            <a:lvl1pPr marL="0" indent="0">
              <a:buNone/>
              <a:defRPr sz="2000" b="0">
                <a:latin typeface="+mn-lt"/>
                <a:cs typeface="Segoe UI" panose="020B0502040204020203" pitchFamily="34" charset="0"/>
              </a:defRPr>
            </a:lvl1pPr>
          </a:lstStyle>
          <a:p>
            <a:pPr lvl="0"/>
            <a:r>
              <a:rPr lang="en-US"/>
              <a:t>Click to edit Presenter Name</a:t>
            </a:r>
          </a:p>
        </p:txBody>
      </p:sp>
      <p:sp>
        <p:nvSpPr>
          <p:cNvPr id="23" name="Text Placeholder 22">
            <a:extLst>
              <a:ext uri="{FF2B5EF4-FFF2-40B4-BE49-F238E27FC236}">
                <a16:creationId xmlns:a16="http://schemas.microsoft.com/office/drawing/2014/main" id="{7A9E5D09-D598-8421-EC83-815E5248F373}"/>
              </a:ext>
            </a:extLst>
          </p:cNvPr>
          <p:cNvSpPr>
            <a:spLocks noGrp="1"/>
          </p:cNvSpPr>
          <p:nvPr>
            <p:ph type="body" sz="quarter" idx="12" hasCustomPrompt="1"/>
          </p:nvPr>
        </p:nvSpPr>
        <p:spPr>
          <a:xfrm>
            <a:off x="2084257" y="5815913"/>
            <a:ext cx="5148566" cy="378725"/>
          </a:xfrm>
        </p:spPr>
        <p:txBody>
          <a:bodyPr>
            <a:normAutofit/>
          </a:bodyPr>
          <a:lstStyle>
            <a:lvl1pPr marL="0" indent="0">
              <a:buNone/>
              <a:defRPr sz="1600">
                <a:solidFill>
                  <a:srgbClr val="777777"/>
                </a:solidFill>
                <a:latin typeface="Segoe UI" panose="020B0502040204020203" pitchFamily="34" charset="0"/>
                <a:cs typeface="Segoe UI" panose="020B0502040204020203" pitchFamily="34" charset="0"/>
              </a:defRPr>
            </a:lvl1pPr>
          </a:lstStyle>
          <a:p>
            <a:pPr lvl="0"/>
            <a:r>
              <a:rPr lang="en-US"/>
              <a:t>Click to edit Presenter Title</a:t>
            </a:r>
          </a:p>
        </p:txBody>
      </p:sp>
      <p:sp>
        <p:nvSpPr>
          <p:cNvPr id="24" name="Text Placeholder 22">
            <a:extLst>
              <a:ext uri="{FF2B5EF4-FFF2-40B4-BE49-F238E27FC236}">
                <a16:creationId xmlns:a16="http://schemas.microsoft.com/office/drawing/2014/main" id="{20749831-56E7-1B7B-094B-0F5626C89C9D}"/>
              </a:ext>
            </a:extLst>
          </p:cNvPr>
          <p:cNvSpPr>
            <a:spLocks noGrp="1"/>
          </p:cNvSpPr>
          <p:nvPr>
            <p:ph type="body" sz="quarter" idx="13" hasCustomPrompt="1"/>
          </p:nvPr>
        </p:nvSpPr>
        <p:spPr>
          <a:xfrm>
            <a:off x="2086642" y="6125740"/>
            <a:ext cx="5148566" cy="378725"/>
          </a:xfrm>
        </p:spPr>
        <p:txBody>
          <a:bodyPr>
            <a:normAutofit/>
          </a:bodyPr>
          <a:lstStyle>
            <a:lvl1pPr marL="0" indent="0">
              <a:buNone/>
              <a:defRPr sz="1600">
                <a:solidFill>
                  <a:srgbClr val="777777"/>
                </a:solidFill>
                <a:latin typeface="+mn-lt"/>
                <a:cs typeface="Segoe UI" panose="020B0502040204020203" pitchFamily="34" charset="0"/>
              </a:defRPr>
            </a:lvl1pPr>
          </a:lstStyle>
          <a:p>
            <a:pPr lvl="0"/>
            <a:r>
              <a:rPr lang="en-US"/>
              <a:t>Click to edit Presenter Department</a:t>
            </a:r>
          </a:p>
        </p:txBody>
      </p:sp>
      <p:sp>
        <p:nvSpPr>
          <p:cNvPr id="28" name="Rectangle 27">
            <a:extLst>
              <a:ext uri="{FF2B5EF4-FFF2-40B4-BE49-F238E27FC236}">
                <a16:creationId xmlns:a16="http://schemas.microsoft.com/office/drawing/2014/main" id="{47354700-D41F-AD95-0B12-FEE3458A0AAF}"/>
              </a:ext>
            </a:extLst>
          </p:cNvPr>
          <p:cNvSpPr/>
          <p:nvPr/>
        </p:nvSpPr>
        <p:spPr>
          <a:xfrm>
            <a:off x="4994564" y="6523935"/>
            <a:ext cx="1856509" cy="3202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717B84-1EE1-658D-44BA-174F14BD76AC}"/>
              </a:ext>
            </a:extLst>
          </p:cNvPr>
          <p:cNvSpPr/>
          <p:nvPr/>
        </p:nvSpPr>
        <p:spPr>
          <a:xfrm>
            <a:off x="0" y="6675120"/>
            <a:ext cx="12192000" cy="182880"/>
          </a:xfrm>
          <a:prstGeom prst="rect">
            <a:avLst/>
          </a:prstGeom>
          <a:solidFill>
            <a:srgbClr val="FFA100"/>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27432" tIns="27432" rIns="27432" bIns="27432" rtlCol="0" anchor="ctr"/>
          <a:lstStyle/>
          <a:p>
            <a:pPr algn="ctr"/>
            <a:r>
              <a:rPr lang="en-US" sz="900" b="1">
                <a:solidFill>
                  <a:schemeClr val="bg1"/>
                </a:solidFill>
              </a:rPr>
              <a:t>Trustworthy      </a:t>
            </a:r>
            <a:r>
              <a:rPr lang="en-US" sz="900" b="1">
                <a:solidFill>
                  <a:schemeClr val="bg1"/>
                </a:solidFill>
                <a:sym typeface="Wingdings" panose="05000000000000000000" pitchFamily="2" charset="2"/>
              </a:rPr>
              <a:t>      </a:t>
            </a:r>
            <a:r>
              <a:rPr lang="en-US" sz="900" b="1">
                <a:solidFill>
                  <a:schemeClr val="bg1"/>
                </a:solidFill>
              </a:rPr>
              <a:t>Empathetic      </a:t>
            </a:r>
            <a:r>
              <a:rPr lang="en-US" sz="900" b="1">
                <a:solidFill>
                  <a:schemeClr val="bg1"/>
                </a:solidFill>
                <a:sym typeface="Wingdings" panose="05000000000000000000" pitchFamily="2" charset="2"/>
              </a:rPr>
              <a:t>      </a:t>
            </a:r>
            <a:r>
              <a:rPr lang="en-US" sz="900" b="1">
                <a:solidFill>
                  <a:schemeClr val="tx1"/>
                </a:solidFill>
              </a:rPr>
              <a:t>Curious</a:t>
            </a:r>
            <a:r>
              <a:rPr lang="en-US" sz="900" b="1">
                <a:solidFill>
                  <a:schemeClr val="bg1"/>
                </a:solidFill>
              </a:rPr>
              <a:t>      </a:t>
            </a:r>
            <a:r>
              <a:rPr lang="en-US" sz="900" b="1">
                <a:solidFill>
                  <a:schemeClr val="bg1"/>
                </a:solidFill>
                <a:sym typeface="Wingdings" panose="05000000000000000000" pitchFamily="2" charset="2"/>
              </a:rPr>
              <a:t>      </a:t>
            </a:r>
            <a:r>
              <a:rPr lang="en-US" sz="900" b="1">
                <a:solidFill>
                  <a:schemeClr val="bg1"/>
                </a:solidFill>
              </a:rPr>
              <a:t>Tenacious      </a:t>
            </a:r>
            <a:r>
              <a:rPr lang="en-US" sz="900" b="1">
                <a:solidFill>
                  <a:schemeClr val="bg1"/>
                </a:solidFill>
                <a:sym typeface="Wingdings" panose="05000000000000000000" pitchFamily="2" charset="2"/>
              </a:rPr>
              <a:t>      </a:t>
            </a:r>
            <a:r>
              <a:rPr lang="en-US" sz="900" b="1">
                <a:solidFill>
                  <a:schemeClr val="bg1"/>
                </a:solidFill>
              </a:rPr>
              <a:t>Nimble      </a:t>
            </a:r>
            <a:r>
              <a:rPr lang="en-US" sz="900" b="1">
                <a:solidFill>
                  <a:schemeClr val="bg1"/>
                </a:solidFill>
                <a:sym typeface="Wingdings" panose="05000000000000000000" pitchFamily="2" charset="2"/>
              </a:rPr>
              <a:t>      </a:t>
            </a:r>
            <a:r>
              <a:rPr lang="en-US" sz="900" b="1">
                <a:solidFill>
                  <a:schemeClr val="bg1"/>
                </a:solidFill>
              </a:rPr>
              <a:t>Owners</a:t>
            </a:r>
          </a:p>
        </p:txBody>
      </p:sp>
    </p:spTree>
    <p:extLst>
      <p:ext uri="{BB962C8B-B14F-4D97-AF65-F5344CB8AC3E}">
        <p14:creationId xmlns:p14="http://schemas.microsoft.com/office/powerpoint/2010/main" val="1467231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272013-7EB1-008A-268B-D4585CEC0C4F}"/>
              </a:ext>
            </a:extLst>
          </p:cNvPr>
          <p:cNvSpPr>
            <a:spLocks noGrp="1"/>
          </p:cNvSpPr>
          <p:nvPr>
            <p:ph type="sldNum" sz="quarter" idx="12"/>
          </p:nvPr>
        </p:nvSpPr>
        <p:spPr>
          <a:xfrm>
            <a:off x="11557686" y="6490093"/>
            <a:ext cx="593124" cy="182880"/>
          </a:xfrm>
        </p:spPr>
        <p:txBody>
          <a:bodyPr lIns="0" tIns="0" rIns="0" bIns="0"/>
          <a:lstStyle/>
          <a:p>
            <a:fld id="{80653811-760D-B54D-B525-4EB884B3F649}" type="slidenum">
              <a:rPr lang="en-US" smtClean="0"/>
              <a:t>‹#›</a:t>
            </a:fld>
            <a:endParaRPr lang="en-US"/>
          </a:p>
        </p:txBody>
      </p:sp>
      <p:sp>
        <p:nvSpPr>
          <p:cNvPr id="7" name="Rectangle 6">
            <a:extLst>
              <a:ext uri="{FF2B5EF4-FFF2-40B4-BE49-F238E27FC236}">
                <a16:creationId xmlns:a16="http://schemas.microsoft.com/office/drawing/2014/main" id="{6E154715-E284-9B52-0A59-28839E0E6056}"/>
              </a:ext>
            </a:extLst>
          </p:cNvPr>
          <p:cNvSpPr/>
          <p:nvPr/>
        </p:nvSpPr>
        <p:spPr>
          <a:xfrm>
            <a:off x="0" y="0"/>
            <a:ext cx="12192000" cy="678287"/>
          </a:xfrm>
          <a:prstGeom prst="rect">
            <a:avLst/>
          </a:prstGeom>
          <a:solidFill>
            <a:srgbClr val="2FA3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777777"/>
                </a:solidFill>
              </a:ln>
              <a:solidFill>
                <a:srgbClr val="777777"/>
              </a:solidFill>
            </a:endParaRPr>
          </a:p>
        </p:txBody>
      </p:sp>
      <p:grpSp>
        <p:nvGrpSpPr>
          <p:cNvPr id="8" name="Group 7">
            <a:extLst>
              <a:ext uri="{FF2B5EF4-FFF2-40B4-BE49-F238E27FC236}">
                <a16:creationId xmlns:a16="http://schemas.microsoft.com/office/drawing/2014/main" id="{4C02B8D5-7656-1202-FB8C-5D806A7A1BAD}"/>
              </a:ext>
            </a:extLst>
          </p:cNvPr>
          <p:cNvGrpSpPr/>
          <p:nvPr/>
        </p:nvGrpSpPr>
        <p:grpSpPr>
          <a:xfrm>
            <a:off x="177801" y="123243"/>
            <a:ext cx="400050" cy="431799"/>
            <a:chOff x="4873625" y="2130425"/>
            <a:chExt cx="1971675" cy="2251075"/>
          </a:xfrm>
        </p:grpSpPr>
        <p:sp>
          <p:nvSpPr>
            <p:cNvPr id="9" name="Rectangle 8">
              <a:extLst>
                <a:ext uri="{FF2B5EF4-FFF2-40B4-BE49-F238E27FC236}">
                  <a16:creationId xmlns:a16="http://schemas.microsoft.com/office/drawing/2014/main" id="{2268AE90-F8BE-2CA1-2395-7DF88721C23F}"/>
                </a:ext>
              </a:extLst>
            </p:cNvPr>
            <p:cNvSpPr/>
            <p:nvPr/>
          </p:nvSpPr>
          <p:spPr>
            <a:xfrm>
              <a:off x="4873625" y="2130425"/>
              <a:ext cx="1971675" cy="2251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4461267-B666-1A58-E8D6-7D1B58F592D1}"/>
                </a:ext>
              </a:extLst>
            </p:cNvPr>
            <p:cNvPicPr>
              <a:picLocks noChangeAspect="1"/>
            </p:cNvPicPr>
            <p:nvPr/>
          </p:nvPicPr>
          <p:blipFill>
            <a:blip r:embed="rId2"/>
            <a:srcRect l="8289" t="7763" r="14342" b="7475"/>
            <a:stretch/>
          </p:blipFill>
          <p:spPr>
            <a:xfrm>
              <a:off x="4924425" y="2184400"/>
              <a:ext cx="1866900" cy="2149476"/>
            </a:xfrm>
            <a:prstGeom prst="rect">
              <a:avLst/>
            </a:prstGeom>
          </p:spPr>
        </p:pic>
      </p:grpSp>
      <p:sp>
        <p:nvSpPr>
          <p:cNvPr id="13" name="Rectangle 12">
            <a:extLst>
              <a:ext uri="{FF2B5EF4-FFF2-40B4-BE49-F238E27FC236}">
                <a16:creationId xmlns:a16="http://schemas.microsoft.com/office/drawing/2014/main" id="{9DB01395-CEA9-1E67-1ECE-6DD648A37E3C}"/>
              </a:ext>
            </a:extLst>
          </p:cNvPr>
          <p:cNvSpPr/>
          <p:nvPr/>
        </p:nvSpPr>
        <p:spPr>
          <a:xfrm>
            <a:off x="4994564" y="6510080"/>
            <a:ext cx="1856509" cy="3340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6567A1C-16DA-C9B5-666C-0F30C8BF3F26}"/>
              </a:ext>
            </a:extLst>
          </p:cNvPr>
          <p:cNvSpPr/>
          <p:nvPr/>
        </p:nvSpPr>
        <p:spPr>
          <a:xfrm>
            <a:off x="0" y="6675120"/>
            <a:ext cx="12192000" cy="182880"/>
          </a:xfrm>
          <a:prstGeom prst="rect">
            <a:avLst/>
          </a:prstGeom>
          <a:solidFill>
            <a:srgbClr val="FFA100"/>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27432" tIns="27432" rIns="27432" bIns="27432" rtlCol="0" anchor="ctr"/>
          <a:lstStyle/>
          <a:p>
            <a:pPr algn="ctr"/>
            <a:r>
              <a:rPr lang="en-US" sz="900" b="1">
                <a:solidFill>
                  <a:schemeClr val="bg1"/>
                </a:solidFill>
              </a:rPr>
              <a:t>Trustworthy      </a:t>
            </a:r>
            <a:r>
              <a:rPr lang="en-US" sz="900" b="1">
                <a:solidFill>
                  <a:schemeClr val="bg1"/>
                </a:solidFill>
                <a:sym typeface="Wingdings" panose="05000000000000000000" pitchFamily="2" charset="2"/>
              </a:rPr>
              <a:t>      </a:t>
            </a:r>
            <a:r>
              <a:rPr lang="en-US" sz="900" b="1">
                <a:solidFill>
                  <a:schemeClr val="bg1"/>
                </a:solidFill>
              </a:rPr>
              <a:t>Empathetic      </a:t>
            </a:r>
            <a:r>
              <a:rPr lang="en-US" sz="900" b="1">
                <a:solidFill>
                  <a:schemeClr val="bg1"/>
                </a:solidFill>
                <a:sym typeface="Wingdings" panose="05000000000000000000" pitchFamily="2" charset="2"/>
              </a:rPr>
              <a:t>      </a:t>
            </a:r>
            <a:r>
              <a:rPr lang="en-US" sz="900" b="1">
                <a:solidFill>
                  <a:schemeClr val="tx1"/>
                </a:solidFill>
              </a:rPr>
              <a:t>Curious</a:t>
            </a:r>
            <a:r>
              <a:rPr lang="en-US" sz="900" b="1">
                <a:solidFill>
                  <a:schemeClr val="bg1"/>
                </a:solidFill>
              </a:rPr>
              <a:t>      </a:t>
            </a:r>
            <a:r>
              <a:rPr lang="en-US" sz="900" b="1">
                <a:solidFill>
                  <a:schemeClr val="bg1"/>
                </a:solidFill>
                <a:sym typeface="Wingdings" panose="05000000000000000000" pitchFamily="2" charset="2"/>
              </a:rPr>
              <a:t>      </a:t>
            </a:r>
            <a:r>
              <a:rPr lang="en-US" sz="900" b="1">
                <a:solidFill>
                  <a:schemeClr val="bg1"/>
                </a:solidFill>
              </a:rPr>
              <a:t>Tenacious      </a:t>
            </a:r>
            <a:r>
              <a:rPr lang="en-US" sz="900" b="1">
                <a:solidFill>
                  <a:schemeClr val="bg1"/>
                </a:solidFill>
                <a:sym typeface="Wingdings" panose="05000000000000000000" pitchFamily="2" charset="2"/>
              </a:rPr>
              <a:t>      </a:t>
            </a:r>
            <a:r>
              <a:rPr lang="en-US" sz="900" b="1">
                <a:solidFill>
                  <a:schemeClr val="bg1"/>
                </a:solidFill>
              </a:rPr>
              <a:t>Nimble      </a:t>
            </a:r>
            <a:r>
              <a:rPr lang="en-US" sz="900" b="1">
                <a:solidFill>
                  <a:schemeClr val="bg1"/>
                </a:solidFill>
                <a:sym typeface="Wingdings" panose="05000000000000000000" pitchFamily="2" charset="2"/>
              </a:rPr>
              <a:t>      </a:t>
            </a:r>
            <a:r>
              <a:rPr lang="en-US" sz="900" b="1">
                <a:solidFill>
                  <a:schemeClr val="bg1"/>
                </a:solidFill>
              </a:rPr>
              <a:t>Owners</a:t>
            </a:r>
          </a:p>
        </p:txBody>
      </p:sp>
      <p:sp>
        <p:nvSpPr>
          <p:cNvPr id="15" name="Text Placeholder 14">
            <a:extLst>
              <a:ext uri="{FF2B5EF4-FFF2-40B4-BE49-F238E27FC236}">
                <a16:creationId xmlns:a16="http://schemas.microsoft.com/office/drawing/2014/main" id="{54621DFE-18E9-DDF0-F47B-C271DB77CE9D}"/>
              </a:ext>
            </a:extLst>
          </p:cNvPr>
          <p:cNvSpPr>
            <a:spLocks noGrp="1"/>
          </p:cNvSpPr>
          <p:nvPr>
            <p:ph type="body" sz="quarter" idx="13" hasCustomPrompt="1"/>
          </p:nvPr>
        </p:nvSpPr>
        <p:spPr>
          <a:xfrm>
            <a:off x="577206" y="84950"/>
            <a:ext cx="7981908" cy="216094"/>
          </a:xfrm>
        </p:spPr>
        <p:txBody>
          <a:bodyPr>
            <a:noAutofit/>
          </a:bodyPr>
          <a:lstStyle>
            <a:lvl1pPr marL="0" indent="0">
              <a:buNone/>
              <a:defRPr sz="1100" b="1">
                <a:solidFill>
                  <a:srgbClr val="FFA100"/>
                </a:solidFill>
              </a:defRPr>
            </a:lvl1pPr>
          </a:lstStyle>
          <a:p>
            <a:pPr lvl="0"/>
            <a:r>
              <a:rPr lang="en-US"/>
              <a:t>Click to edit Presentation Section Name</a:t>
            </a:r>
          </a:p>
        </p:txBody>
      </p:sp>
      <p:sp>
        <p:nvSpPr>
          <p:cNvPr id="17" name="Text Placeholder 16">
            <a:extLst>
              <a:ext uri="{FF2B5EF4-FFF2-40B4-BE49-F238E27FC236}">
                <a16:creationId xmlns:a16="http://schemas.microsoft.com/office/drawing/2014/main" id="{874EFA17-79D0-D346-DBBC-25C03CA7101E}"/>
              </a:ext>
            </a:extLst>
          </p:cNvPr>
          <p:cNvSpPr>
            <a:spLocks noGrp="1"/>
          </p:cNvSpPr>
          <p:nvPr>
            <p:ph type="body" sz="quarter" idx="14" hasCustomPrompt="1"/>
          </p:nvPr>
        </p:nvSpPr>
        <p:spPr>
          <a:xfrm>
            <a:off x="577206" y="263541"/>
            <a:ext cx="10177880" cy="373485"/>
          </a:xfrm>
        </p:spPr>
        <p:txBody>
          <a:bodyPr wrap="none">
            <a:noAutofit/>
          </a:bodyPr>
          <a:lstStyle>
            <a:lvl1pPr marL="0" indent="0">
              <a:buNone/>
              <a:defRPr sz="2400" b="1">
                <a:solidFill>
                  <a:schemeClr val="bg1"/>
                </a:solidFill>
              </a:defRPr>
            </a:lvl1pPr>
          </a:lstStyle>
          <a:p>
            <a:pPr lvl="0"/>
            <a:r>
              <a:rPr lang="en-US"/>
              <a:t>Click to edit Slide Title</a:t>
            </a:r>
          </a:p>
        </p:txBody>
      </p:sp>
    </p:spTree>
    <p:extLst>
      <p:ext uri="{BB962C8B-B14F-4D97-AF65-F5344CB8AC3E}">
        <p14:creationId xmlns:p14="http://schemas.microsoft.com/office/powerpoint/2010/main" val="1626224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Date Placeholder 2"/>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FB33BCC6-0696-814A-9A6C-717F247124BB}" type="datetimeFigureOut">
              <a:rPr lang="en-US" smtClean="0"/>
              <a:t>6/8/26</a:t>
            </a:fld>
            <a:endParaRPr lang="en-US"/>
          </a:p>
        </p:txBody>
      </p:sp>
      <p:sp>
        <p:nvSpPr>
          <p:cNvPr id="4" name="Footer Placeholder 3"/>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80653811-760D-B54D-B525-4EB884B3F649}" type="slidenum">
              <a:rPr lang="en-US" smtClean="0"/>
              <a:t>‹#›</a:t>
            </a:fld>
            <a:endParaRPr lang="en-US"/>
          </a:p>
        </p:txBody>
      </p:sp>
    </p:spTree>
    <p:extLst>
      <p:ext uri="{BB962C8B-B14F-4D97-AF65-F5344CB8AC3E}">
        <p14:creationId xmlns:p14="http://schemas.microsoft.com/office/powerpoint/2010/main" val="3908372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9075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Slide w/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272013-7EB1-008A-268B-D4585CEC0C4F}"/>
              </a:ext>
            </a:extLst>
          </p:cNvPr>
          <p:cNvSpPr>
            <a:spLocks noGrp="1"/>
          </p:cNvSpPr>
          <p:nvPr>
            <p:ph type="sldNum" sz="quarter" idx="12"/>
          </p:nvPr>
        </p:nvSpPr>
        <p:spPr>
          <a:xfrm>
            <a:off x="11557686" y="6490093"/>
            <a:ext cx="593124" cy="182880"/>
          </a:xfrm>
        </p:spPr>
        <p:txBody>
          <a:bodyPr lIns="0" tIns="0" rIns="0" bIns="0"/>
          <a:lstStyle/>
          <a:p>
            <a:fld id="{D78E88EE-01C5-764F-B042-1B3677ADBDFB}" type="slidenum">
              <a:rPr lang="en-US" smtClean="0"/>
              <a:t>‹#›</a:t>
            </a:fld>
            <a:endParaRPr lang="en-US"/>
          </a:p>
        </p:txBody>
      </p:sp>
      <p:sp>
        <p:nvSpPr>
          <p:cNvPr id="7" name="Rectangle 6">
            <a:extLst>
              <a:ext uri="{FF2B5EF4-FFF2-40B4-BE49-F238E27FC236}">
                <a16:creationId xmlns:a16="http://schemas.microsoft.com/office/drawing/2014/main" id="{6E154715-E284-9B52-0A59-28839E0E6056}"/>
              </a:ext>
            </a:extLst>
          </p:cNvPr>
          <p:cNvSpPr/>
          <p:nvPr userDrawn="1"/>
        </p:nvSpPr>
        <p:spPr>
          <a:xfrm>
            <a:off x="0" y="0"/>
            <a:ext cx="12192000" cy="678287"/>
          </a:xfrm>
          <a:prstGeom prst="rect">
            <a:avLst/>
          </a:prstGeom>
          <a:solidFill>
            <a:srgbClr val="2FA3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777777"/>
                </a:solidFill>
              </a:ln>
              <a:solidFill>
                <a:srgbClr val="777777"/>
              </a:solidFill>
            </a:endParaRPr>
          </a:p>
        </p:txBody>
      </p:sp>
      <p:grpSp>
        <p:nvGrpSpPr>
          <p:cNvPr id="8" name="Group 7">
            <a:extLst>
              <a:ext uri="{FF2B5EF4-FFF2-40B4-BE49-F238E27FC236}">
                <a16:creationId xmlns:a16="http://schemas.microsoft.com/office/drawing/2014/main" id="{4C02B8D5-7656-1202-FB8C-5D806A7A1BAD}"/>
              </a:ext>
            </a:extLst>
          </p:cNvPr>
          <p:cNvGrpSpPr/>
          <p:nvPr userDrawn="1"/>
        </p:nvGrpSpPr>
        <p:grpSpPr>
          <a:xfrm>
            <a:off x="177801" y="123243"/>
            <a:ext cx="400050" cy="431799"/>
            <a:chOff x="4873625" y="2130425"/>
            <a:chExt cx="1971675" cy="2251075"/>
          </a:xfrm>
        </p:grpSpPr>
        <p:sp>
          <p:nvSpPr>
            <p:cNvPr id="9" name="Rectangle 8">
              <a:extLst>
                <a:ext uri="{FF2B5EF4-FFF2-40B4-BE49-F238E27FC236}">
                  <a16:creationId xmlns:a16="http://schemas.microsoft.com/office/drawing/2014/main" id="{2268AE90-F8BE-2CA1-2395-7DF88721C23F}"/>
                </a:ext>
              </a:extLst>
            </p:cNvPr>
            <p:cNvSpPr/>
            <p:nvPr/>
          </p:nvSpPr>
          <p:spPr>
            <a:xfrm>
              <a:off x="4873625" y="2130425"/>
              <a:ext cx="1971675" cy="2251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4461267-B666-1A58-E8D6-7D1B58F592D1}"/>
                </a:ext>
              </a:extLst>
            </p:cNvPr>
            <p:cNvPicPr>
              <a:picLocks noChangeAspect="1"/>
            </p:cNvPicPr>
            <p:nvPr/>
          </p:nvPicPr>
          <p:blipFill>
            <a:blip r:embed="rId2"/>
            <a:srcRect l="8289" t="7763" r="14342" b="7475"/>
            <a:stretch/>
          </p:blipFill>
          <p:spPr>
            <a:xfrm>
              <a:off x="4924425" y="2184400"/>
              <a:ext cx="1866900" cy="2149476"/>
            </a:xfrm>
            <a:prstGeom prst="rect">
              <a:avLst/>
            </a:prstGeom>
          </p:spPr>
        </p:pic>
      </p:grpSp>
      <p:sp>
        <p:nvSpPr>
          <p:cNvPr id="13" name="Rectangle 12">
            <a:extLst>
              <a:ext uri="{FF2B5EF4-FFF2-40B4-BE49-F238E27FC236}">
                <a16:creationId xmlns:a16="http://schemas.microsoft.com/office/drawing/2014/main" id="{9DB01395-CEA9-1E67-1ECE-6DD648A37E3C}"/>
              </a:ext>
            </a:extLst>
          </p:cNvPr>
          <p:cNvSpPr/>
          <p:nvPr userDrawn="1"/>
        </p:nvSpPr>
        <p:spPr>
          <a:xfrm>
            <a:off x="4994564" y="6510080"/>
            <a:ext cx="1856509" cy="3340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6567A1C-16DA-C9B5-666C-0F30C8BF3F26}"/>
              </a:ext>
            </a:extLst>
          </p:cNvPr>
          <p:cNvSpPr/>
          <p:nvPr userDrawn="1"/>
        </p:nvSpPr>
        <p:spPr>
          <a:xfrm>
            <a:off x="0" y="6675120"/>
            <a:ext cx="12192000" cy="182880"/>
          </a:xfrm>
          <a:prstGeom prst="rect">
            <a:avLst/>
          </a:prstGeom>
          <a:solidFill>
            <a:srgbClr val="FFA100"/>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27432" tIns="27432" rIns="27432" bIns="27432" rtlCol="0" anchor="ctr"/>
          <a:lstStyle/>
          <a:p>
            <a:pPr algn="ctr"/>
            <a:r>
              <a:rPr lang="en-US" sz="900" b="1">
                <a:solidFill>
                  <a:schemeClr val="bg1"/>
                </a:solidFill>
              </a:rPr>
              <a:t>Trustworthy      </a:t>
            </a:r>
            <a:r>
              <a:rPr lang="en-US" sz="900" b="1">
                <a:solidFill>
                  <a:schemeClr val="bg1"/>
                </a:solidFill>
                <a:sym typeface="Wingdings" panose="05000000000000000000" pitchFamily="2" charset="2"/>
              </a:rPr>
              <a:t>      </a:t>
            </a:r>
            <a:r>
              <a:rPr lang="en-US" sz="900" b="1">
                <a:solidFill>
                  <a:schemeClr val="tx1"/>
                </a:solidFill>
              </a:rPr>
              <a:t>Empathetic</a:t>
            </a:r>
            <a:r>
              <a:rPr lang="en-US" sz="900" b="1">
                <a:solidFill>
                  <a:schemeClr val="bg1"/>
                </a:solidFill>
              </a:rPr>
              <a:t>      </a:t>
            </a:r>
            <a:r>
              <a:rPr lang="en-US" sz="900" b="1">
                <a:solidFill>
                  <a:schemeClr val="bg1"/>
                </a:solidFill>
                <a:sym typeface="Wingdings" panose="05000000000000000000" pitchFamily="2" charset="2"/>
              </a:rPr>
              <a:t>      </a:t>
            </a:r>
            <a:r>
              <a:rPr lang="en-US" sz="900" b="1">
                <a:solidFill>
                  <a:schemeClr val="bg1"/>
                </a:solidFill>
              </a:rPr>
              <a:t>Curious      </a:t>
            </a:r>
            <a:r>
              <a:rPr lang="en-US" sz="900" b="1">
                <a:solidFill>
                  <a:schemeClr val="bg1"/>
                </a:solidFill>
                <a:sym typeface="Wingdings" panose="05000000000000000000" pitchFamily="2" charset="2"/>
              </a:rPr>
              <a:t>      </a:t>
            </a:r>
            <a:r>
              <a:rPr lang="en-US" sz="900" b="1">
                <a:solidFill>
                  <a:schemeClr val="bg1"/>
                </a:solidFill>
              </a:rPr>
              <a:t>Tenacious      </a:t>
            </a:r>
            <a:r>
              <a:rPr lang="en-US" sz="900" b="1">
                <a:solidFill>
                  <a:schemeClr val="bg1"/>
                </a:solidFill>
                <a:sym typeface="Wingdings" panose="05000000000000000000" pitchFamily="2" charset="2"/>
              </a:rPr>
              <a:t>      </a:t>
            </a:r>
            <a:r>
              <a:rPr lang="en-US" sz="900" b="1">
                <a:solidFill>
                  <a:schemeClr val="bg1"/>
                </a:solidFill>
              </a:rPr>
              <a:t>Nimble      </a:t>
            </a:r>
            <a:r>
              <a:rPr lang="en-US" sz="900" b="1">
                <a:solidFill>
                  <a:schemeClr val="bg1"/>
                </a:solidFill>
                <a:sym typeface="Wingdings" panose="05000000000000000000" pitchFamily="2" charset="2"/>
              </a:rPr>
              <a:t>      </a:t>
            </a:r>
            <a:r>
              <a:rPr lang="en-US" sz="900" b="1">
                <a:solidFill>
                  <a:schemeClr val="bg1"/>
                </a:solidFill>
              </a:rPr>
              <a:t>Owners</a:t>
            </a:r>
          </a:p>
        </p:txBody>
      </p:sp>
      <p:sp>
        <p:nvSpPr>
          <p:cNvPr id="15" name="Text Placeholder 14">
            <a:extLst>
              <a:ext uri="{FF2B5EF4-FFF2-40B4-BE49-F238E27FC236}">
                <a16:creationId xmlns:a16="http://schemas.microsoft.com/office/drawing/2014/main" id="{54621DFE-18E9-DDF0-F47B-C271DB77CE9D}"/>
              </a:ext>
            </a:extLst>
          </p:cNvPr>
          <p:cNvSpPr>
            <a:spLocks noGrp="1"/>
          </p:cNvSpPr>
          <p:nvPr>
            <p:ph type="body" sz="quarter" idx="13" hasCustomPrompt="1"/>
          </p:nvPr>
        </p:nvSpPr>
        <p:spPr>
          <a:xfrm>
            <a:off x="577206" y="84950"/>
            <a:ext cx="7981908" cy="216094"/>
          </a:xfrm>
        </p:spPr>
        <p:txBody>
          <a:bodyPr>
            <a:noAutofit/>
          </a:bodyPr>
          <a:lstStyle>
            <a:lvl1pPr marL="0" indent="0">
              <a:buNone/>
              <a:defRPr sz="1100" b="1">
                <a:solidFill>
                  <a:srgbClr val="FFA100"/>
                </a:solidFill>
              </a:defRPr>
            </a:lvl1pPr>
          </a:lstStyle>
          <a:p>
            <a:pPr lvl="0"/>
            <a:r>
              <a:rPr lang="en-US"/>
              <a:t>Click to edit Presentation Section Name</a:t>
            </a:r>
          </a:p>
        </p:txBody>
      </p:sp>
      <p:sp>
        <p:nvSpPr>
          <p:cNvPr id="17" name="Text Placeholder 16">
            <a:extLst>
              <a:ext uri="{FF2B5EF4-FFF2-40B4-BE49-F238E27FC236}">
                <a16:creationId xmlns:a16="http://schemas.microsoft.com/office/drawing/2014/main" id="{874EFA17-79D0-D346-DBBC-25C03CA7101E}"/>
              </a:ext>
            </a:extLst>
          </p:cNvPr>
          <p:cNvSpPr>
            <a:spLocks noGrp="1"/>
          </p:cNvSpPr>
          <p:nvPr>
            <p:ph type="body" sz="quarter" idx="14" hasCustomPrompt="1"/>
          </p:nvPr>
        </p:nvSpPr>
        <p:spPr>
          <a:xfrm>
            <a:off x="577206" y="263541"/>
            <a:ext cx="10177880" cy="373485"/>
          </a:xfrm>
        </p:spPr>
        <p:txBody>
          <a:bodyPr wrap="none">
            <a:noAutofit/>
          </a:bodyPr>
          <a:lstStyle>
            <a:lvl1pPr marL="0" indent="0">
              <a:buNone/>
              <a:defRPr sz="2400" b="1">
                <a:solidFill>
                  <a:schemeClr val="bg1"/>
                </a:solidFill>
              </a:defRPr>
            </a:lvl1pPr>
          </a:lstStyle>
          <a:p>
            <a:pPr lvl="0"/>
            <a:r>
              <a:rPr lang="en-US"/>
              <a:t>Click to edit Slide Title</a:t>
            </a:r>
          </a:p>
        </p:txBody>
      </p:sp>
    </p:spTree>
    <p:extLst>
      <p:ext uri="{BB962C8B-B14F-4D97-AF65-F5344CB8AC3E}">
        <p14:creationId xmlns:p14="http://schemas.microsoft.com/office/powerpoint/2010/main" val="28270215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810543-A692-116D-4413-E8E8FBA497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95143E-8221-ADA2-2472-8E5FF1970B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09669D-514E-F0A8-D84A-3187B7AE6F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ptos" panose="020B0004020202020204" pitchFamily="34" charset="0"/>
              </a:defRPr>
            </a:lvl1pPr>
          </a:lstStyle>
          <a:p>
            <a:fld id="{FB33BCC6-0696-814A-9A6C-717F247124BB}" type="datetimeFigureOut">
              <a:rPr lang="en-US" smtClean="0"/>
              <a:t>6/8/26</a:t>
            </a:fld>
            <a:endParaRPr lang="en-US"/>
          </a:p>
        </p:txBody>
      </p:sp>
      <p:sp>
        <p:nvSpPr>
          <p:cNvPr id="5" name="Footer Placeholder 4">
            <a:extLst>
              <a:ext uri="{FF2B5EF4-FFF2-40B4-BE49-F238E27FC236}">
                <a16:creationId xmlns:a16="http://schemas.microsoft.com/office/drawing/2014/main" id="{873FBA39-6134-2F8A-DC1A-BD9AE402CE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ptos" panose="020B0004020202020204" pitchFamily="34" charset="0"/>
              </a:defRPr>
            </a:lvl1pPr>
          </a:lstStyle>
          <a:p>
            <a:endParaRPr lang="en-US"/>
          </a:p>
        </p:txBody>
      </p:sp>
      <p:sp>
        <p:nvSpPr>
          <p:cNvPr id="6" name="Slide Number Placeholder 5">
            <a:extLst>
              <a:ext uri="{FF2B5EF4-FFF2-40B4-BE49-F238E27FC236}">
                <a16:creationId xmlns:a16="http://schemas.microsoft.com/office/drawing/2014/main" id="{987918B1-A714-6900-9A91-A9DCFC3465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ptos" panose="020B0004020202020204" pitchFamily="34" charset="0"/>
              </a:defRPr>
            </a:lvl1pPr>
          </a:lstStyle>
          <a:p>
            <a:fld id="{80653811-760D-B54D-B525-4EB884B3F649}" type="slidenum">
              <a:rPr lang="en-US" smtClean="0"/>
              <a:t>‹#›</a:t>
            </a:fld>
            <a:endParaRPr lang="en-US"/>
          </a:p>
        </p:txBody>
      </p:sp>
    </p:spTree>
    <p:extLst>
      <p:ext uri="{BB962C8B-B14F-4D97-AF65-F5344CB8AC3E}">
        <p14:creationId xmlns:p14="http://schemas.microsoft.com/office/powerpoint/2010/main" val="347533688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Lst>
  <p:txStyles>
    <p:titleStyle>
      <a:lvl1pPr algn="l" defTabSz="914400" rtl="0" eaLnBrk="1" latinLnBrk="0" hangingPunct="1">
        <a:lnSpc>
          <a:spcPct val="90000"/>
        </a:lnSpc>
        <a:spcBef>
          <a:spcPct val="0"/>
        </a:spcBef>
        <a:buNone/>
        <a:defRPr sz="4400" b="0" i="0" kern="1200">
          <a:solidFill>
            <a:schemeClr val="tx1"/>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3.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microsoft.com/office/2007/relationships/hdphoto" Target="../media/hdphoto1.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sv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6.svg"/><Relationship Id="rId1" Type="http://schemas.openxmlformats.org/officeDocument/2006/relationships/slideLayout" Target="../slideLayouts/slideLayout5.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sv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github.com/pgetech/epic-pipeline" TargetMode="External"/><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189CA-9013-36DD-969D-A106FC563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3270A-B063-586C-E705-5F0E65338C34}"/>
              </a:ext>
            </a:extLst>
          </p:cNvPr>
          <p:cNvSpPr>
            <a:spLocks noGrp="1"/>
          </p:cNvSpPr>
          <p:nvPr>
            <p:ph type="ctrTitle"/>
          </p:nvPr>
        </p:nvSpPr>
        <p:spPr/>
        <p:txBody>
          <a:bodyPr anchor="b">
            <a:normAutofit/>
          </a:bodyPr>
          <a:lstStyle/>
          <a:p>
            <a:pPr marL="3175" indent="-3175"/>
            <a:r>
              <a:rPr lang="en-US"/>
              <a:t>High-Level Architecture</a:t>
            </a:r>
            <a:br>
              <a:rPr lang="en-US"/>
            </a:br>
            <a:r>
              <a:rPr lang="en-US"/>
              <a:t>Review Session</a:t>
            </a:r>
          </a:p>
        </p:txBody>
      </p:sp>
      <p:sp>
        <p:nvSpPr>
          <p:cNvPr id="10" name="Text Placeholder 9">
            <a:extLst>
              <a:ext uri="{FF2B5EF4-FFF2-40B4-BE49-F238E27FC236}">
                <a16:creationId xmlns:a16="http://schemas.microsoft.com/office/drawing/2014/main" id="{CE3AFF28-F957-4403-77AD-ED0D2D2469C5}"/>
              </a:ext>
            </a:extLst>
          </p:cNvPr>
          <p:cNvSpPr>
            <a:spLocks noGrp="1"/>
          </p:cNvSpPr>
          <p:nvPr>
            <p:ph type="body" sz="quarter" idx="11"/>
          </p:nvPr>
        </p:nvSpPr>
        <p:spPr/>
        <p:txBody>
          <a:bodyPr>
            <a:noAutofit/>
          </a:bodyPr>
          <a:lstStyle/>
          <a:p>
            <a:r>
              <a:rPr lang="en-US" sz="2400" dirty="0"/>
              <a:t>Travis Hayes / Robb Morgan</a:t>
            </a:r>
          </a:p>
        </p:txBody>
      </p:sp>
      <p:sp>
        <p:nvSpPr>
          <p:cNvPr id="11" name="Text Placeholder 10">
            <a:extLst>
              <a:ext uri="{FF2B5EF4-FFF2-40B4-BE49-F238E27FC236}">
                <a16:creationId xmlns:a16="http://schemas.microsoft.com/office/drawing/2014/main" id="{508156BA-5B71-4823-B470-934D62A4E5F3}"/>
              </a:ext>
            </a:extLst>
          </p:cNvPr>
          <p:cNvSpPr>
            <a:spLocks noGrp="1"/>
          </p:cNvSpPr>
          <p:nvPr>
            <p:ph type="body" sz="quarter" idx="12"/>
          </p:nvPr>
        </p:nvSpPr>
        <p:spPr>
          <a:xfrm>
            <a:off x="2084257" y="5829021"/>
            <a:ext cx="5148566" cy="378725"/>
          </a:xfrm>
        </p:spPr>
        <p:txBody>
          <a:bodyPr/>
          <a:lstStyle/>
          <a:p>
            <a:r>
              <a:rPr lang="en-US" dirty="0"/>
              <a:t>Senior Manager, IT Architecture / IT Solutions Engineer</a:t>
            </a:r>
          </a:p>
        </p:txBody>
      </p:sp>
      <p:sp>
        <p:nvSpPr>
          <p:cNvPr id="6" name="TextBox 5">
            <a:extLst>
              <a:ext uri="{FF2B5EF4-FFF2-40B4-BE49-F238E27FC236}">
                <a16:creationId xmlns:a16="http://schemas.microsoft.com/office/drawing/2014/main" id="{6DCDAF5C-64F1-2085-5847-CEE3CAA05A7F}"/>
              </a:ext>
            </a:extLst>
          </p:cNvPr>
          <p:cNvSpPr txBox="1"/>
          <p:nvPr/>
        </p:nvSpPr>
        <p:spPr>
          <a:xfrm>
            <a:off x="5976108" y="6340883"/>
            <a:ext cx="6096698" cy="369332"/>
          </a:xfrm>
          <a:prstGeom prst="rect">
            <a:avLst/>
          </a:prstGeom>
          <a:noFill/>
        </p:spPr>
        <p:txBody>
          <a:bodyPr wrap="square">
            <a:spAutoFit/>
          </a:bodyPr>
          <a:lstStyle/>
          <a:p>
            <a:pPr algn="r"/>
            <a:r>
              <a:rPr lang="en-US" sz="1400">
                <a:solidFill>
                  <a:schemeClr val="bg1">
                    <a:lumMod val="50000"/>
                  </a:schemeClr>
                </a:solidFill>
              </a:rPr>
              <a:t>Architectural Peer Review performed: </a:t>
            </a:r>
            <a:r>
              <a:rPr lang="en-US">
                <a:solidFill>
                  <a:srgbClr val="ED9A2D"/>
                </a:solidFill>
              </a:rPr>
              <a:t>06/</a:t>
            </a:r>
            <a:r>
              <a:rPr lang="en-US" sz="1800">
                <a:solidFill>
                  <a:srgbClr val="ED9A2D"/>
                </a:solidFill>
              </a:rPr>
              <a:t>08/2026</a:t>
            </a:r>
          </a:p>
        </p:txBody>
      </p:sp>
      <p:sp>
        <p:nvSpPr>
          <p:cNvPr id="14" name="Subtitle 13">
            <a:extLst>
              <a:ext uri="{FF2B5EF4-FFF2-40B4-BE49-F238E27FC236}">
                <a16:creationId xmlns:a16="http://schemas.microsoft.com/office/drawing/2014/main" id="{880534B0-37A8-612F-D308-9F8D37B5B6F6}"/>
              </a:ext>
            </a:extLst>
          </p:cNvPr>
          <p:cNvSpPr>
            <a:spLocks noGrp="1"/>
          </p:cNvSpPr>
          <p:nvPr>
            <p:ph type="subTitle" idx="1"/>
          </p:nvPr>
        </p:nvSpPr>
        <p:spPr>
          <a:xfrm>
            <a:off x="2161027" y="3429000"/>
            <a:ext cx="8564881" cy="1655762"/>
          </a:xfrm>
        </p:spPr>
        <p:txBody>
          <a:bodyPr/>
          <a:lstStyle/>
          <a:p>
            <a:r>
              <a:rPr lang="en-US" dirty="0"/>
              <a:t>EPIC</a:t>
            </a:r>
          </a:p>
          <a:p>
            <a:r>
              <a:rPr lang="en-US" sz="2400" b="1" dirty="0"/>
              <a:t>E</a:t>
            </a:r>
            <a:r>
              <a:rPr lang="en-US" sz="2400" dirty="0"/>
              <a:t>nterprise </a:t>
            </a:r>
            <a:r>
              <a:rPr lang="en-US" sz="2400" b="1" dirty="0"/>
              <a:t>P</a:t>
            </a:r>
            <a:r>
              <a:rPr lang="en-US" sz="2400" dirty="0"/>
              <a:t>ipeline for </a:t>
            </a:r>
            <a:r>
              <a:rPr lang="en-US" sz="2400" b="1" dirty="0"/>
              <a:t>I</a:t>
            </a:r>
            <a:r>
              <a:rPr lang="en-US" sz="2400" dirty="0"/>
              <a:t>nfrastructure and </a:t>
            </a:r>
            <a:r>
              <a:rPr lang="en-US" sz="2400" b="1" dirty="0"/>
              <a:t>C</a:t>
            </a:r>
            <a:r>
              <a:rPr lang="en-US" sz="2400" dirty="0"/>
              <a:t>loud</a:t>
            </a:r>
          </a:p>
        </p:txBody>
      </p:sp>
    </p:spTree>
    <p:extLst>
      <p:ext uri="{BB962C8B-B14F-4D97-AF65-F5344CB8AC3E}">
        <p14:creationId xmlns:p14="http://schemas.microsoft.com/office/powerpoint/2010/main" val="500213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BFFED971-8249-4CF7-A003-BF379497A380}"/>
              </a:ext>
            </a:extLst>
          </p:cNvPr>
          <p:cNvSpPr txBox="1"/>
          <p:nvPr/>
        </p:nvSpPr>
        <p:spPr>
          <a:xfrm>
            <a:off x="2708276" y="5782068"/>
            <a:ext cx="6784975" cy="338138"/>
          </a:xfrm>
          <a:prstGeom prst="rect">
            <a:avLst/>
          </a:prstGeom>
          <a:noFill/>
          <a:ln w="57150">
            <a:solidFill>
              <a:srgbClr val="0089C4"/>
            </a:solidFill>
          </a:ln>
        </p:spPr>
        <p:txBody>
          <a:bodyPr lIns="91348" tIns="45674" rIns="91348" bIns="45674">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0089C4"/>
                </a:solidFill>
                <a:effectLst/>
                <a:uLnTx/>
                <a:uFillTx/>
                <a:latin typeface="Arial"/>
                <a:ea typeface="ＭＳ Ｐゴシック"/>
                <a:cs typeface="+mn-cs"/>
              </a:rPr>
              <a:t>Call the Nurse Care Line for any discomfort at 1-888-449-7787</a:t>
            </a:r>
          </a:p>
        </p:txBody>
      </p:sp>
      <p:sp>
        <p:nvSpPr>
          <p:cNvPr id="18" name="TextBox 17">
            <a:extLst>
              <a:ext uri="{FF2B5EF4-FFF2-40B4-BE49-F238E27FC236}">
                <a16:creationId xmlns:a16="http://schemas.microsoft.com/office/drawing/2014/main" id="{27A4DF61-3E5A-470B-81B6-35012F11FEB8}"/>
              </a:ext>
            </a:extLst>
          </p:cNvPr>
          <p:cNvSpPr txBox="1"/>
          <p:nvPr/>
        </p:nvSpPr>
        <p:spPr>
          <a:xfrm>
            <a:off x="1354306" y="6170235"/>
            <a:ext cx="9575479" cy="336687"/>
          </a:xfrm>
          <a:prstGeom prst="rect">
            <a:avLst/>
          </a:prstGeom>
          <a:solidFill>
            <a:sysClr val="window" lastClr="FFFFFF"/>
          </a:solidFill>
          <a:ln w="57150">
            <a:solidFill>
              <a:srgbClr val="FFBF4B"/>
            </a:solidFill>
          </a:ln>
        </p:spPr>
        <p:txBody>
          <a:bodyPr wrap="square" lIns="91348" tIns="45674" rIns="91348" bIns="45674">
            <a:spAutoFit/>
          </a:bodyPr>
          <a:lstStyle/>
          <a:p>
            <a:pPr marL="0" marR="0" lvl="0" indent="0" algn="l" defTabSz="91423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89C4"/>
                </a:solidFill>
                <a:effectLst/>
                <a:uLnTx/>
                <a:uFillTx/>
                <a:latin typeface="Arial"/>
                <a:ea typeface="굴림"/>
                <a:cs typeface="+mn-cs"/>
              </a:rPr>
              <a:t>See Something / Say Something: Leader, HR or Compliance and Ethics Hotline 1-888-231-2310</a:t>
            </a:r>
          </a:p>
        </p:txBody>
      </p:sp>
      <p:sp>
        <p:nvSpPr>
          <p:cNvPr id="20" name="AutoShape 26">
            <a:extLst>
              <a:ext uri="{FF2B5EF4-FFF2-40B4-BE49-F238E27FC236}">
                <a16:creationId xmlns:a16="http://schemas.microsoft.com/office/drawing/2014/main" id="{FCF48DC4-1FE8-450D-9192-B2FA24F77665}"/>
              </a:ext>
            </a:extLst>
          </p:cNvPr>
          <p:cNvSpPr>
            <a:spLocks noChangeArrowheads="1"/>
          </p:cNvSpPr>
          <p:nvPr/>
        </p:nvSpPr>
        <p:spPr bwMode="auto">
          <a:xfrm>
            <a:off x="2133609" y="1503976"/>
            <a:ext cx="8016875" cy="2012950"/>
          </a:xfrm>
          <a:prstGeom prst="roundRect">
            <a:avLst>
              <a:gd name="adj" fmla="val 871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48290" tIns="48290" rIns="48290" bIns="48290"/>
          <a:lstStyle>
            <a:lvl1pPr marL="285750" indent="-285750"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defRPr>
            </a:lvl9pPr>
          </a:lstStyle>
          <a:p>
            <a:pPr marL="285750" marR="0" lvl="0" indent="-285750" algn="l" defTabSz="914400" rtl="0" eaLnBrk="1" fontAlgn="base" latinLnBrk="0" hangingPunct="1">
              <a:lnSpc>
                <a:spcPct val="90000"/>
              </a:lnSpc>
              <a:spcBef>
                <a:spcPts val="1200"/>
              </a:spcBef>
              <a:spcAft>
                <a:spcPct val="0"/>
              </a:spcAft>
              <a:buClrTx/>
              <a:buSzTx/>
              <a:buFont typeface="Arial" pitchFamily="34" charset="0"/>
              <a:buChar char="•"/>
              <a:tabLst/>
              <a:defRPr/>
            </a:pPr>
            <a:endParaRPr kumimoji="0" lang="en-US" altLang="en-US" sz="2200" b="0" i="1" u="none" strike="noStrike" kern="0" cap="none" spc="0" normalizeH="0" baseline="0" noProof="0">
              <a:ln>
                <a:noFill/>
              </a:ln>
              <a:solidFill>
                <a:srgbClr val="0082AA"/>
              </a:solidFill>
              <a:effectLst/>
              <a:uLnTx/>
              <a:uFillTx/>
              <a:latin typeface="Calibri"/>
              <a:ea typeface="MS PGothic" pitchFamily="34" charset="-128"/>
              <a:cs typeface="Arial" pitchFamily="34" charset="0"/>
            </a:endParaRPr>
          </a:p>
        </p:txBody>
      </p:sp>
      <p:sp>
        <p:nvSpPr>
          <p:cNvPr id="21" name="Rectangle 20">
            <a:extLst>
              <a:ext uri="{FF2B5EF4-FFF2-40B4-BE49-F238E27FC236}">
                <a16:creationId xmlns:a16="http://schemas.microsoft.com/office/drawing/2014/main" id="{28C71075-6326-4492-9BB5-03A598E24583}"/>
              </a:ext>
            </a:extLst>
          </p:cNvPr>
          <p:cNvSpPr>
            <a:spLocks/>
          </p:cNvSpPr>
          <p:nvPr/>
        </p:nvSpPr>
        <p:spPr>
          <a:xfrm>
            <a:off x="1763715" y="2283288"/>
            <a:ext cx="8661400" cy="100012"/>
          </a:xfrm>
          <a:prstGeom prst="rect">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22" name="Rectangle 21">
            <a:extLst>
              <a:ext uri="{FF2B5EF4-FFF2-40B4-BE49-F238E27FC236}">
                <a16:creationId xmlns:a16="http://schemas.microsoft.com/office/drawing/2014/main" id="{C0B8E54E-C724-4C59-B4AF-EFCF519DF012}"/>
              </a:ext>
            </a:extLst>
          </p:cNvPr>
          <p:cNvSpPr>
            <a:spLocks/>
          </p:cNvSpPr>
          <p:nvPr/>
        </p:nvSpPr>
        <p:spPr>
          <a:xfrm>
            <a:off x="1724026" y="4637750"/>
            <a:ext cx="8661400" cy="98425"/>
          </a:xfrm>
          <a:prstGeom prst="rect">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8" name="Oval 127">
            <a:extLst>
              <a:ext uri="{FF2B5EF4-FFF2-40B4-BE49-F238E27FC236}">
                <a16:creationId xmlns:a16="http://schemas.microsoft.com/office/drawing/2014/main" id="{518A9E7C-1653-4FA3-9A64-41759C769DFE}"/>
              </a:ext>
            </a:extLst>
          </p:cNvPr>
          <p:cNvSpPr/>
          <p:nvPr/>
        </p:nvSpPr>
        <p:spPr>
          <a:xfrm>
            <a:off x="2191914"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9" name="Rectangle 34">
            <a:extLst>
              <a:ext uri="{FF2B5EF4-FFF2-40B4-BE49-F238E27FC236}">
                <a16:creationId xmlns:a16="http://schemas.microsoft.com/office/drawing/2014/main" id="{76A41587-7AB4-4193-AAF4-93BA6DF799FC}"/>
              </a:ext>
            </a:extLst>
          </p:cNvPr>
          <p:cNvSpPr txBox="1">
            <a:spLocks/>
          </p:cNvSpPr>
          <p:nvPr/>
        </p:nvSpPr>
        <p:spPr bwMode="auto">
          <a:xfrm>
            <a:off x="1593725" y="2543431"/>
            <a:ext cx="1548206"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ct val="60000"/>
              </a:spcBef>
              <a:spcAft>
                <a:spcPct val="0"/>
              </a:spcAft>
              <a:buClr>
                <a:srgbClr val="0089C4"/>
              </a:buClr>
              <a:buSzTx/>
              <a:buFontTx/>
              <a:buNone/>
              <a:tabLst/>
              <a:defRPr/>
            </a:pPr>
            <a:r>
              <a:rPr kumimoji="0" lang="en-US" sz="1600" b="1" i="1" u="none" strike="noStrike" kern="0" cap="none" spc="0" normalizeH="0" baseline="0" noProof="0">
                <a:ln>
                  <a:noFill/>
                </a:ln>
                <a:solidFill>
                  <a:srgbClr val="0089C4"/>
                </a:solidFill>
                <a:effectLst/>
                <a:uLnTx/>
                <a:uFillTx/>
                <a:latin typeface="Calibri"/>
                <a:ea typeface="MS PGothic" pitchFamily="34" charset="-128"/>
                <a:cs typeface="+mn-cs"/>
              </a:rPr>
              <a:t>Know Your</a:t>
            </a:r>
            <a:br>
              <a:rPr kumimoji="0" lang="en-US" sz="1600" b="1" i="1" u="none" strike="noStrike" kern="0" cap="none" spc="0" normalizeH="0" baseline="0" noProof="0">
                <a:ln>
                  <a:noFill/>
                </a:ln>
                <a:solidFill>
                  <a:srgbClr val="0089C4"/>
                </a:solidFill>
                <a:effectLst/>
                <a:uLnTx/>
                <a:uFillTx/>
                <a:latin typeface="Calibri"/>
                <a:ea typeface="MS PGothic" pitchFamily="34" charset="-128"/>
                <a:cs typeface="+mn-cs"/>
              </a:rPr>
            </a:br>
            <a:r>
              <a:rPr kumimoji="0" lang="en-US" sz="1600" b="1" i="1" u="none" strike="noStrike" kern="0" cap="none" spc="0" normalizeH="0" baseline="0" noProof="0">
                <a:ln>
                  <a:noFill/>
                </a:ln>
                <a:solidFill>
                  <a:srgbClr val="0089C4"/>
                </a:solidFill>
                <a:effectLst/>
                <a:uLnTx/>
                <a:uFillTx/>
                <a:latin typeface="Calibri"/>
                <a:ea typeface="MS PGothic" pitchFamily="34" charset="-128"/>
                <a:cs typeface="+mn-cs"/>
              </a:rPr>
              <a:t>Safety Protocols </a:t>
            </a:r>
            <a:endPar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endParaRPr>
          </a:p>
        </p:txBody>
      </p:sp>
      <p:sp>
        <p:nvSpPr>
          <p:cNvPr id="126" name="Oval 125">
            <a:extLst>
              <a:ext uri="{FF2B5EF4-FFF2-40B4-BE49-F238E27FC236}">
                <a16:creationId xmlns:a16="http://schemas.microsoft.com/office/drawing/2014/main" id="{3F98CC4F-541E-44DF-B7C3-A273EA12EAB7}"/>
              </a:ext>
            </a:extLst>
          </p:cNvPr>
          <p:cNvSpPr/>
          <p:nvPr/>
        </p:nvSpPr>
        <p:spPr>
          <a:xfrm>
            <a:off x="7797057"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4" name="Oval 123">
            <a:extLst>
              <a:ext uri="{FF2B5EF4-FFF2-40B4-BE49-F238E27FC236}">
                <a16:creationId xmlns:a16="http://schemas.microsoft.com/office/drawing/2014/main" id="{B6850168-5CEF-486C-8BEA-3B9B2DF3B07D}"/>
              </a:ext>
            </a:extLst>
          </p:cNvPr>
          <p:cNvSpPr/>
          <p:nvPr/>
        </p:nvSpPr>
        <p:spPr>
          <a:xfrm>
            <a:off x="4060295"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26" name="Oval 25">
            <a:extLst>
              <a:ext uri="{FF2B5EF4-FFF2-40B4-BE49-F238E27FC236}">
                <a16:creationId xmlns:a16="http://schemas.microsoft.com/office/drawing/2014/main" id="{71F29230-E71B-4E26-8D55-9C66DE04B96E}"/>
              </a:ext>
            </a:extLst>
          </p:cNvPr>
          <p:cNvSpPr/>
          <p:nvPr/>
        </p:nvSpPr>
        <p:spPr>
          <a:xfrm>
            <a:off x="5928676"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2" name="Oval 121">
            <a:extLst>
              <a:ext uri="{FF2B5EF4-FFF2-40B4-BE49-F238E27FC236}">
                <a16:creationId xmlns:a16="http://schemas.microsoft.com/office/drawing/2014/main" id="{959119FE-96C4-4F83-9B2C-A2DE05187113}"/>
              </a:ext>
            </a:extLst>
          </p:cNvPr>
          <p:cNvSpPr/>
          <p:nvPr/>
        </p:nvSpPr>
        <p:spPr>
          <a:xfrm>
            <a:off x="9665438"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3" name="Rectangle 34">
            <a:extLst>
              <a:ext uri="{FF2B5EF4-FFF2-40B4-BE49-F238E27FC236}">
                <a16:creationId xmlns:a16="http://schemas.microsoft.com/office/drawing/2014/main" id="{5B30209B-BC24-476D-BDF8-BE14B4CF5CC2}"/>
              </a:ext>
            </a:extLst>
          </p:cNvPr>
          <p:cNvSpPr txBox="1">
            <a:spLocks/>
          </p:cNvSpPr>
          <p:nvPr/>
        </p:nvSpPr>
        <p:spPr bwMode="auto">
          <a:xfrm>
            <a:off x="9148843" y="2543431"/>
            <a:ext cx="1374775"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Know Your Evacuation Plan</a:t>
            </a:r>
          </a:p>
        </p:txBody>
      </p:sp>
      <p:grpSp>
        <p:nvGrpSpPr>
          <p:cNvPr id="29" name="Group 28">
            <a:extLst>
              <a:ext uri="{FF2B5EF4-FFF2-40B4-BE49-F238E27FC236}">
                <a16:creationId xmlns:a16="http://schemas.microsoft.com/office/drawing/2014/main" id="{DB6BDC26-7801-4534-95CE-20F78AC8B11E}"/>
              </a:ext>
            </a:extLst>
          </p:cNvPr>
          <p:cNvGrpSpPr/>
          <p:nvPr/>
        </p:nvGrpSpPr>
        <p:grpSpPr>
          <a:xfrm>
            <a:off x="1825184" y="907082"/>
            <a:ext cx="1087279" cy="1243012"/>
            <a:chOff x="850106" y="999071"/>
            <a:chExt cx="1268492" cy="1473199"/>
          </a:xfrm>
        </p:grpSpPr>
        <p:sp>
          <p:nvSpPr>
            <p:cNvPr id="117" name="Donut 7">
              <a:extLst>
                <a:ext uri="{FF2B5EF4-FFF2-40B4-BE49-F238E27FC236}">
                  <a16:creationId xmlns:a16="http://schemas.microsoft.com/office/drawing/2014/main" id="{F5B48D7E-5FD2-4BC7-8D8C-C75303B24117}"/>
                </a:ext>
              </a:extLst>
            </p:cNvPr>
            <p:cNvSpPr>
              <a:spLocks/>
            </p:cNvSpPr>
            <p:nvPr/>
          </p:nvSpPr>
          <p:spPr>
            <a:xfrm>
              <a:off x="850106" y="999071"/>
              <a:ext cx="1268492" cy="1288627"/>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18" name="Isosceles Triangle 117">
              <a:extLst>
                <a:ext uri="{FF2B5EF4-FFF2-40B4-BE49-F238E27FC236}">
                  <a16:creationId xmlns:a16="http://schemas.microsoft.com/office/drawing/2014/main" id="{2EFB76E3-CA30-498F-8A2A-B264F0662745}"/>
                </a:ext>
              </a:extLst>
            </p:cNvPr>
            <p:cNvSpPr/>
            <p:nvPr/>
          </p:nvSpPr>
          <p:spPr>
            <a:xfrm rot="10800000">
              <a:off x="1348503" y="2235203"/>
              <a:ext cx="271700"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nvGrpSpPr>
          <p:cNvPr id="30" name="Group 29">
            <a:extLst>
              <a:ext uri="{FF2B5EF4-FFF2-40B4-BE49-F238E27FC236}">
                <a16:creationId xmlns:a16="http://schemas.microsoft.com/office/drawing/2014/main" id="{1BEB9197-2DE5-4105-9A34-2D8C30B71ADC}"/>
              </a:ext>
            </a:extLst>
          </p:cNvPr>
          <p:cNvGrpSpPr/>
          <p:nvPr/>
        </p:nvGrpSpPr>
        <p:grpSpPr>
          <a:xfrm>
            <a:off x="7436731" y="905738"/>
            <a:ext cx="1087278" cy="1241586"/>
            <a:chOff x="7329257" y="970281"/>
            <a:chExt cx="1268491" cy="1471509"/>
          </a:xfrm>
        </p:grpSpPr>
        <p:sp>
          <p:nvSpPr>
            <p:cNvPr id="96" name="Donut 4">
              <a:extLst>
                <a:ext uri="{FF2B5EF4-FFF2-40B4-BE49-F238E27FC236}">
                  <a16:creationId xmlns:a16="http://schemas.microsoft.com/office/drawing/2014/main" id="{FF31237F-C3F0-4B9C-800C-B51F856721C7}"/>
                </a:ext>
              </a:extLst>
            </p:cNvPr>
            <p:cNvSpPr/>
            <p:nvPr/>
          </p:nvSpPr>
          <p:spPr>
            <a:xfrm>
              <a:off x="7329257" y="970281"/>
              <a:ext cx="1268491" cy="1288626"/>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97" name="Isosceles Triangle 96">
              <a:extLst>
                <a:ext uri="{FF2B5EF4-FFF2-40B4-BE49-F238E27FC236}">
                  <a16:creationId xmlns:a16="http://schemas.microsoft.com/office/drawing/2014/main" id="{779F314E-3DFF-4E90-857D-760FED165AD7}"/>
                </a:ext>
              </a:extLst>
            </p:cNvPr>
            <p:cNvSpPr/>
            <p:nvPr/>
          </p:nvSpPr>
          <p:spPr>
            <a:xfrm rot="10800000">
              <a:off x="7827652" y="2204723"/>
              <a:ext cx="271701"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nvGrpSpPr>
          <p:cNvPr id="32" name="Group 31">
            <a:extLst>
              <a:ext uri="{FF2B5EF4-FFF2-40B4-BE49-F238E27FC236}">
                <a16:creationId xmlns:a16="http://schemas.microsoft.com/office/drawing/2014/main" id="{DC6C2C33-D985-47C0-BB09-0DCD0386F856}"/>
              </a:ext>
            </a:extLst>
          </p:cNvPr>
          <p:cNvGrpSpPr/>
          <p:nvPr/>
        </p:nvGrpSpPr>
        <p:grpSpPr>
          <a:xfrm>
            <a:off x="5564512" y="904782"/>
            <a:ext cx="1087278" cy="1243012"/>
            <a:chOff x="5175654" y="999071"/>
            <a:chExt cx="1268491" cy="1473199"/>
          </a:xfrm>
        </p:grpSpPr>
        <p:sp>
          <p:nvSpPr>
            <p:cNvPr id="85" name="Donut 6">
              <a:extLst>
                <a:ext uri="{FF2B5EF4-FFF2-40B4-BE49-F238E27FC236}">
                  <a16:creationId xmlns:a16="http://schemas.microsoft.com/office/drawing/2014/main" id="{BCAA5D27-8D22-42D9-B8B4-FA1DCCCC42FA}"/>
                </a:ext>
              </a:extLst>
            </p:cNvPr>
            <p:cNvSpPr/>
            <p:nvPr/>
          </p:nvSpPr>
          <p:spPr>
            <a:xfrm>
              <a:off x="5175654" y="999071"/>
              <a:ext cx="1268491" cy="1288627"/>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86" name="Isosceles Triangle 85">
              <a:extLst>
                <a:ext uri="{FF2B5EF4-FFF2-40B4-BE49-F238E27FC236}">
                  <a16:creationId xmlns:a16="http://schemas.microsoft.com/office/drawing/2014/main" id="{EFEE0249-6321-473C-AACA-2AB86BE7F70F}"/>
                </a:ext>
              </a:extLst>
            </p:cNvPr>
            <p:cNvSpPr/>
            <p:nvPr/>
          </p:nvSpPr>
          <p:spPr>
            <a:xfrm rot="10800000">
              <a:off x="5674049" y="2235203"/>
              <a:ext cx="271701"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nvGrpSpPr>
          <p:cNvPr id="33" name="Group 32">
            <a:extLst>
              <a:ext uri="{FF2B5EF4-FFF2-40B4-BE49-F238E27FC236}">
                <a16:creationId xmlns:a16="http://schemas.microsoft.com/office/drawing/2014/main" id="{AB4AD787-38CA-495F-BA27-F937B0277686}"/>
              </a:ext>
            </a:extLst>
          </p:cNvPr>
          <p:cNvGrpSpPr/>
          <p:nvPr/>
        </p:nvGrpSpPr>
        <p:grpSpPr>
          <a:xfrm>
            <a:off x="2387465" y="3243469"/>
            <a:ext cx="1085849" cy="1267498"/>
            <a:chOff x="1701882" y="3250967"/>
            <a:chExt cx="1266825" cy="1502220"/>
          </a:xfrm>
        </p:grpSpPr>
        <p:grpSp>
          <p:nvGrpSpPr>
            <p:cNvPr id="81" name="Group 80">
              <a:extLst>
                <a:ext uri="{FF2B5EF4-FFF2-40B4-BE49-F238E27FC236}">
                  <a16:creationId xmlns:a16="http://schemas.microsoft.com/office/drawing/2014/main" id="{E29A3F02-C020-4AF3-AD47-60EA6E5F18DE}"/>
                </a:ext>
              </a:extLst>
            </p:cNvPr>
            <p:cNvGrpSpPr/>
            <p:nvPr/>
          </p:nvGrpSpPr>
          <p:grpSpPr>
            <a:xfrm>
              <a:off x="1701882" y="3250967"/>
              <a:ext cx="1266825" cy="1288626"/>
              <a:chOff x="1701882" y="3250967"/>
              <a:chExt cx="1266825" cy="1288626"/>
            </a:xfrm>
          </p:grpSpPr>
          <p:pic>
            <p:nvPicPr>
              <p:cNvPr id="83" name="Picture 5">
                <a:extLst>
                  <a:ext uri="{FF2B5EF4-FFF2-40B4-BE49-F238E27FC236}">
                    <a16:creationId xmlns:a16="http://schemas.microsoft.com/office/drawing/2014/main" id="{91966215-0CA6-437B-A245-7EBBE065E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3582" y="3562540"/>
                <a:ext cx="723424" cy="628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4" name="Donut 54">
                <a:extLst>
                  <a:ext uri="{FF2B5EF4-FFF2-40B4-BE49-F238E27FC236}">
                    <a16:creationId xmlns:a16="http://schemas.microsoft.com/office/drawing/2014/main" id="{E15D99ED-6189-452C-B2FE-248CB8549DDA}"/>
                  </a:ext>
                </a:extLst>
              </p:cNvPr>
              <p:cNvSpPr>
                <a:spLocks/>
              </p:cNvSpPr>
              <p:nvPr/>
            </p:nvSpPr>
            <p:spPr>
              <a:xfrm>
                <a:off x="1701882" y="3250967"/>
                <a:ext cx="1266825" cy="1288626"/>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sp>
          <p:nvSpPr>
            <p:cNvPr id="82" name="Isosceles Triangle 81">
              <a:extLst>
                <a:ext uri="{FF2B5EF4-FFF2-40B4-BE49-F238E27FC236}">
                  <a16:creationId xmlns:a16="http://schemas.microsoft.com/office/drawing/2014/main" id="{53C0B2A8-EE19-4637-A4C0-D0D07B22D4D5}"/>
                </a:ext>
              </a:extLst>
            </p:cNvPr>
            <p:cNvSpPr/>
            <p:nvPr/>
          </p:nvSpPr>
          <p:spPr>
            <a:xfrm rot="10800000">
              <a:off x="2198609" y="4516120"/>
              <a:ext cx="271700"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nvGrpSpPr>
          <p:cNvPr id="34" name="Group 33">
            <a:extLst>
              <a:ext uri="{FF2B5EF4-FFF2-40B4-BE49-F238E27FC236}">
                <a16:creationId xmlns:a16="http://schemas.microsoft.com/office/drawing/2014/main" id="{4485F571-274E-488D-BC6B-35FEE7DA9CC4}"/>
              </a:ext>
            </a:extLst>
          </p:cNvPr>
          <p:cNvGrpSpPr/>
          <p:nvPr/>
        </p:nvGrpSpPr>
        <p:grpSpPr>
          <a:xfrm>
            <a:off x="9268837" y="894534"/>
            <a:ext cx="1087278" cy="1256069"/>
            <a:chOff x="6219118" y="3257740"/>
            <a:chExt cx="1268491" cy="1488674"/>
          </a:xfrm>
        </p:grpSpPr>
        <p:sp>
          <p:nvSpPr>
            <p:cNvPr id="65" name="Isosceles Triangle 64">
              <a:extLst>
                <a:ext uri="{FF2B5EF4-FFF2-40B4-BE49-F238E27FC236}">
                  <a16:creationId xmlns:a16="http://schemas.microsoft.com/office/drawing/2014/main" id="{EF8A72CB-3492-4A14-ABF5-D770169B9E0E}"/>
                </a:ext>
              </a:extLst>
            </p:cNvPr>
            <p:cNvSpPr/>
            <p:nvPr/>
          </p:nvSpPr>
          <p:spPr>
            <a:xfrm rot="10800000">
              <a:off x="6755845" y="4507653"/>
              <a:ext cx="271700" cy="238761"/>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nvGrpSpPr>
            <p:cNvPr id="66" name="Group 65">
              <a:extLst>
                <a:ext uri="{FF2B5EF4-FFF2-40B4-BE49-F238E27FC236}">
                  <a16:creationId xmlns:a16="http://schemas.microsoft.com/office/drawing/2014/main" id="{3EEB2263-842D-4117-BBDC-82540BC732F9}"/>
                </a:ext>
              </a:extLst>
            </p:cNvPr>
            <p:cNvGrpSpPr/>
            <p:nvPr/>
          </p:nvGrpSpPr>
          <p:grpSpPr>
            <a:xfrm>
              <a:off x="6219118" y="3257740"/>
              <a:ext cx="1268491" cy="1288626"/>
              <a:chOff x="6219118" y="3257740"/>
              <a:chExt cx="1268491" cy="1288626"/>
            </a:xfrm>
          </p:grpSpPr>
          <p:sp>
            <p:nvSpPr>
              <p:cNvPr id="67" name="Donut 69">
                <a:extLst>
                  <a:ext uri="{FF2B5EF4-FFF2-40B4-BE49-F238E27FC236}">
                    <a16:creationId xmlns:a16="http://schemas.microsoft.com/office/drawing/2014/main" id="{D0040D64-5E8A-48DA-9DAE-14A7BCD454A7}"/>
                  </a:ext>
                </a:extLst>
              </p:cNvPr>
              <p:cNvSpPr/>
              <p:nvPr/>
            </p:nvSpPr>
            <p:spPr>
              <a:xfrm>
                <a:off x="6219118" y="3257740"/>
                <a:ext cx="1268491" cy="1288626"/>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nvGrpSpPr>
              <p:cNvPr id="68" name="Group 67">
                <a:extLst>
                  <a:ext uri="{FF2B5EF4-FFF2-40B4-BE49-F238E27FC236}">
                    <a16:creationId xmlns:a16="http://schemas.microsoft.com/office/drawing/2014/main" id="{91751466-87C7-42D3-AD76-C106AA7CCA96}"/>
                  </a:ext>
                </a:extLst>
              </p:cNvPr>
              <p:cNvGrpSpPr/>
              <p:nvPr/>
            </p:nvGrpSpPr>
            <p:grpSpPr>
              <a:xfrm>
                <a:off x="6461743" y="3566412"/>
                <a:ext cx="783241" cy="594570"/>
                <a:chOff x="4330700" y="4586288"/>
                <a:chExt cx="1155700" cy="863601"/>
              </a:xfrm>
              <a:solidFill>
                <a:srgbClr val="0089C4"/>
              </a:solidFill>
            </p:grpSpPr>
            <p:sp>
              <p:nvSpPr>
                <p:cNvPr id="69" name="Rectangle 45">
                  <a:extLst>
                    <a:ext uri="{FF2B5EF4-FFF2-40B4-BE49-F238E27FC236}">
                      <a16:creationId xmlns:a16="http://schemas.microsoft.com/office/drawing/2014/main" id="{16513EA9-05CA-4493-A8F4-EBA71028B8ED}"/>
                    </a:ext>
                  </a:extLst>
                </p:cNvPr>
                <p:cNvSpPr>
                  <a:spLocks noChangeArrowheads="1"/>
                </p:cNvSpPr>
                <p:nvPr/>
              </p:nvSpPr>
              <p:spPr bwMode="auto">
                <a:xfrm>
                  <a:off x="4556125" y="5427663"/>
                  <a:ext cx="93027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0" name="Freeform 46">
                  <a:extLst>
                    <a:ext uri="{FF2B5EF4-FFF2-40B4-BE49-F238E27FC236}">
                      <a16:creationId xmlns:a16="http://schemas.microsoft.com/office/drawing/2014/main" id="{C7802E72-E760-4D1B-A5FB-622DFE10980F}"/>
                    </a:ext>
                  </a:extLst>
                </p:cNvPr>
                <p:cNvSpPr>
                  <a:spLocks/>
                </p:cNvSpPr>
                <p:nvPr/>
              </p:nvSpPr>
              <p:spPr bwMode="auto">
                <a:xfrm>
                  <a:off x="4330700" y="4586288"/>
                  <a:ext cx="517525" cy="863600"/>
                </a:xfrm>
                <a:custGeom>
                  <a:avLst/>
                  <a:gdLst>
                    <a:gd name="T0" fmla="*/ 326 w 326"/>
                    <a:gd name="T1" fmla="*/ 537 h 544"/>
                    <a:gd name="T2" fmla="*/ 282 w 326"/>
                    <a:gd name="T3" fmla="*/ 371 h 544"/>
                    <a:gd name="T4" fmla="*/ 324 w 326"/>
                    <a:gd name="T5" fmla="*/ 284 h 544"/>
                    <a:gd name="T6" fmla="*/ 282 w 326"/>
                    <a:gd name="T7" fmla="*/ 175 h 544"/>
                    <a:gd name="T8" fmla="*/ 324 w 326"/>
                    <a:gd name="T9" fmla="*/ 116 h 544"/>
                    <a:gd name="T10" fmla="*/ 298 w 326"/>
                    <a:gd name="T11" fmla="*/ 0 h 544"/>
                    <a:gd name="T12" fmla="*/ 149 w 326"/>
                    <a:gd name="T13" fmla="*/ 40 h 544"/>
                    <a:gd name="T14" fmla="*/ 0 w 326"/>
                    <a:gd name="T15" fmla="*/ 544 h 544"/>
                    <a:gd name="T16" fmla="*/ 142 w 326"/>
                    <a:gd name="T17" fmla="*/ 544 h 544"/>
                    <a:gd name="T18" fmla="*/ 326 w 326"/>
                    <a:gd name="T19" fmla="*/ 537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544">
                      <a:moveTo>
                        <a:pt x="326" y="537"/>
                      </a:moveTo>
                      <a:lnTo>
                        <a:pt x="282" y="371"/>
                      </a:lnTo>
                      <a:lnTo>
                        <a:pt x="324" y="284"/>
                      </a:lnTo>
                      <a:lnTo>
                        <a:pt x="282" y="175"/>
                      </a:lnTo>
                      <a:lnTo>
                        <a:pt x="324" y="116"/>
                      </a:lnTo>
                      <a:lnTo>
                        <a:pt x="298" y="0"/>
                      </a:lnTo>
                      <a:lnTo>
                        <a:pt x="149" y="40"/>
                      </a:lnTo>
                      <a:lnTo>
                        <a:pt x="0" y="544"/>
                      </a:lnTo>
                      <a:lnTo>
                        <a:pt x="142" y="544"/>
                      </a:lnTo>
                      <a:lnTo>
                        <a:pt x="326" y="5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1" name="Freeform 47">
                  <a:extLst>
                    <a:ext uri="{FF2B5EF4-FFF2-40B4-BE49-F238E27FC236}">
                      <a16:creationId xmlns:a16="http://schemas.microsoft.com/office/drawing/2014/main" id="{C11C9AAE-4479-46F5-A44C-B1986BF5922E}"/>
                    </a:ext>
                  </a:extLst>
                </p:cNvPr>
                <p:cNvSpPr>
                  <a:spLocks/>
                </p:cNvSpPr>
                <p:nvPr/>
              </p:nvSpPr>
              <p:spPr bwMode="auto">
                <a:xfrm>
                  <a:off x="4864100" y="4916488"/>
                  <a:ext cx="123825" cy="139700"/>
                </a:xfrm>
                <a:custGeom>
                  <a:avLst/>
                  <a:gdLst>
                    <a:gd name="T0" fmla="*/ 38 w 78"/>
                    <a:gd name="T1" fmla="*/ 0 h 88"/>
                    <a:gd name="T2" fmla="*/ 0 w 78"/>
                    <a:gd name="T3" fmla="*/ 17 h 88"/>
                    <a:gd name="T4" fmla="*/ 19 w 78"/>
                    <a:gd name="T5" fmla="*/ 43 h 88"/>
                    <a:gd name="T6" fmla="*/ 19 w 78"/>
                    <a:gd name="T7" fmla="*/ 73 h 88"/>
                    <a:gd name="T8" fmla="*/ 59 w 78"/>
                    <a:gd name="T9" fmla="*/ 88 h 88"/>
                    <a:gd name="T10" fmla="*/ 78 w 78"/>
                    <a:gd name="T11" fmla="*/ 52 h 88"/>
                    <a:gd name="T12" fmla="*/ 38 w 78"/>
                    <a:gd name="T13" fmla="*/ 0 h 88"/>
                  </a:gdLst>
                  <a:ahLst/>
                  <a:cxnLst>
                    <a:cxn ang="0">
                      <a:pos x="T0" y="T1"/>
                    </a:cxn>
                    <a:cxn ang="0">
                      <a:pos x="T2" y="T3"/>
                    </a:cxn>
                    <a:cxn ang="0">
                      <a:pos x="T4" y="T5"/>
                    </a:cxn>
                    <a:cxn ang="0">
                      <a:pos x="T6" y="T7"/>
                    </a:cxn>
                    <a:cxn ang="0">
                      <a:pos x="T8" y="T9"/>
                    </a:cxn>
                    <a:cxn ang="0">
                      <a:pos x="T10" y="T11"/>
                    </a:cxn>
                    <a:cxn ang="0">
                      <a:pos x="T12" y="T13"/>
                    </a:cxn>
                  </a:cxnLst>
                  <a:rect l="0" t="0" r="r" b="b"/>
                  <a:pathLst>
                    <a:path w="78" h="88">
                      <a:moveTo>
                        <a:pt x="38" y="0"/>
                      </a:moveTo>
                      <a:lnTo>
                        <a:pt x="0" y="17"/>
                      </a:lnTo>
                      <a:lnTo>
                        <a:pt x="19" y="43"/>
                      </a:lnTo>
                      <a:lnTo>
                        <a:pt x="19" y="73"/>
                      </a:lnTo>
                      <a:lnTo>
                        <a:pt x="59" y="88"/>
                      </a:lnTo>
                      <a:lnTo>
                        <a:pt x="78" y="52"/>
                      </a:lnTo>
                      <a:lnTo>
                        <a:pt x="3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2" name="Freeform 48">
                  <a:extLst>
                    <a:ext uri="{FF2B5EF4-FFF2-40B4-BE49-F238E27FC236}">
                      <a16:creationId xmlns:a16="http://schemas.microsoft.com/office/drawing/2014/main" id="{1336AFEA-779D-414C-93AE-113F2B01102C}"/>
                    </a:ext>
                  </a:extLst>
                </p:cNvPr>
                <p:cNvSpPr>
                  <a:spLocks/>
                </p:cNvSpPr>
                <p:nvPr/>
              </p:nvSpPr>
              <p:spPr bwMode="auto">
                <a:xfrm>
                  <a:off x="4864100" y="4830763"/>
                  <a:ext cx="25400" cy="30163"/>
                </a:xfrm>
                <a:custGeom>
                  <a:avLst/>
                  <a:gdLst>
                    <a:gd name="T0" fmla="*/ 16 w 16"/>
                    <a:gd name="T1" fmla="*/ 7 h 19"/>
                    <a:gd name="T2" fmla="*/ 12 w 16"/>
                    <a:gd name="T3" fmla="*/ 19 h 19"/>
                    <a:gd name="T4" fmla="*/ 2 w 16"/>
                    <a:gd name="T5" fmla="*/ 19 h 19"/>
                    <a:gd name="T6" fmla="*/ 0 w 16"/>
                    <a:gd name="T7" fmla="*/ 9 h 19"/>
                    <a:gd name="T8" fmla="*/ 7 w 16"/>
                    <a:gd name="T9" fmla="*/ 0 h 19"/>
                    <a:gd name="T10" fmla="*/ 16 w 16"/>
                    <a:gd name="T11" fmla="*/ 7 h 19"/>
                  </a:gdLst>
                  <a:ahLst/>
                  <a:cxnLst>
                    <a:cxn ang="0">
                      <a:pos x="T0" y="T1"/>
                    </a:cxn>
                    <a:cxn ang="0">
                      <a:pos x="T2" y="T3"/>
                    </a:cxn>
                    <a:cxn ang="0">
                      <a:pos x="T4" y="T5"/>
                    </a:cxn>
                    <a:cxn ang="0">
                      <a:pos x="T6" y="T7"/>
                    </a:cxn>
                    <a:cxn ang="0">
                      <a:pos x="T8" y="T9"/>
                    </a:cxn>
                    <a:cxn ang="0">
                      <a:pos x="T10" y="T11"/>
                    </a:cxn>
                  </a:cxnLst>
                  <a:rect l="0" t="0" r="r" b="b"/>
                  <a:pathLst>
                    <a:path w="16" h="19">
                      <a:moveTo>
                        <a:pt x="16" y="7"/>
                      </a:moveTo>
                      <a:lnTo>
                        <a:pt x="12" y="19"/>
                      </a:lnTo>
                      <a:lnTo>
                        <a:pt x="2" y="19"/>
                      </a:lnTo>
                      <a:lnTo>
                        <a:pt x="0" y="9"/>
                      </a:lnTo>
                      <a:lnTo>
                        <a:pt x="7" y="0"/>
                      </a:lnTo>
                      <a:lnTo>
                        <a:pt x="16"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3" name="Freeform 49">
                  <a:extLst>
                    <a:ext uri="{FF2B5EF4-FFF2-40B4-BE49-F238E27FC236}">
                      <a16:creationId xmlns:a16="http://schemas.microsoft.com/office/drawing/2014/main" id="{9F985338-6E40-42FD-8003-192FBEB00E82}"/>
                    </a:ext>
                  </a:extLst>
                </p:cNvPr>
                <p:cNvSpPr>
                  <a:spLocks/>
                </p:cNvSpPr>
                <p:nvPr/>
              </p:nvSpPr>
              <p:spPr bwMode="auto">
                <a:xfrm>
                  <a:off x="4968875" y="4852988"/>
                  <a:ext cx="60325" cy="60325"/>
                </a:xfrm>
                <a:custGeom>
                  <a:avLst/>
                  <a:gdLst>
                    <a:gd name="T0" fmla="*/ 0 w 38"/>
                    <a:gd name="T1" fmla="*/ 0 h 38"/>
                    <a:gd name="T2" fmla="*/ 0 w 38"/>
                    <a:gd name="T3" fmla="*/ 33 h 38"/>
                    <a:gd name="T4" fmla="*/ 26 w 38"/>
                    <a:gd name="T5" fmla="*/ 38 h 38"/>
                    <a:gd name="T6" fmla="*/ 38 w 38"/>
                    <a:gd name="T7" fmla="*/ 19 h 38"/>
                    <a:gd name="T8" fmla="*/ 19 w 38"/>
                    <a:gd name="T9" fmla="*/ 5 h 38"/>
                    <a:gd name="T10" fmla="*/ 0 w 38"/>
                    <a:gd name="T11" fmla="*/ 0 h 38"/>
                  </a:gdLst>
                  <a:ahLst/>
                  <a:cxnLst>
                    <a:cxn ang="0">
                      <a:pos x="T0" y="T1"/>
                    </a:cxn>
                    <a:cxn ang="0">
                      <a:pos x="T2" y="T3"/>
                    </a:cxn>
                    <a:cxn ang="0">
                      <a:pos x="T4" y="T5"/>
                    </a:cxn>
                    <a:cxn ang="0">
                      <a:pos x="T6" y="T7"/>
                    </a:cxn>
                    <a:cxn ang="0">
                      <a:pos x="T8" y="T9"/>
                    </a:cxn>
                    <a:cxn ang="0">
                      <a:pos x="T10" y="T11"/>
                    </a:cxn>
                  </a:cxnLst>
                  <a:rect l="0" t="0" r="r" b="b"/>
                  <a:pathLst>
                    <a:path w="38" h="38">
                      <a:moveTo>
                        <a:pt x="0" y="0"/>
                      </a:moveTo>
                      <a:lnTo>
                        <a:pt x="0" y="33"/>
                      </a:lnTo>
                      <a:lnTo>
                        <a:pt x="26" y="38"/>
                      </a:lnTo>
                      <a:lnTo>
                        <a:pt x="38" y="19"/>
                      </a:lnTo>
                      <a:lnTo>
                        <a:pt x="19"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4" name="Freeform 50">
                  <a:extLst>
                    <a:ext uri="{FF2B5EF4-FFF2-40B4-BE49-F238E27FC236}">
                      <a16:creationId xmlns:a16="http://schemas.microsoft.com/office/drawing/2014/main" id="{A5D26E2C-63EE-4AD5-AE85-CE48FDD43909}"/>
                    </a:ext>
                  </a:extLst>
                </p:cNvPr>
                <p:cNvSpPr>
                  <a:spLocks/>
                </p:cNvSpPr>
                <p:nvPr/>
              </p:nvSpPr>
              <p:spPr bwMode="auto">
                <a:xfrm>
                  <a:off x="4916488" y="4751388"/>
                  <a:ext cx="41275" cy="57150"/>
                </a:xfrm>
                <a:custGeom>
                  <a:avLst/>
                  <a:gdLst>
                    <a:gd name="T0" fmla="*/ 26 w 26"/>
                    <a:gd name="T1" fmla="*/ 36 h 36"/>
                    <a:gd name="T2" fmla="*/ 7 w 26"/>
                    <a:gd name="T3" fmla="*/ 36 h 36"/>
                    <a:gd name="T4" fmla="*/ 0 w 26"/>
                    <a:gd name="T5" fmla="*/ 19 h 36"/>
                    <a:gd name="T6" fmla="*/ 26 w 26"/>
                    <a:gd name="T7" fmla="*/ 0 h 36"/>
                    <a:gd name="T8" fmla="*/ 26 w 26"/>
                    <a:gd name="T9" fmla="*/ 36 h 36"/>
                  </a:gdLst>
                  <a:ahLst/>
                  <a:cxnLst>
                    <a:cxn ang="0">
                      <a:pos x="T0" y="T1"/>
                    </a:cxn>
                    <a:cxn ang="0">
                      <a:pos x="T2" y="T3"/>
                    </a:cxn>
                    <a:cxn ang="0">
                      <a:pos x="T4" y="T5"/>
                    </a:cxn>
                    <a:cxn ang="0">
                      <a:pos x="T6" y="T7"/>
                    </a:cxn>
                    <a:cxn ang="0">
                      <a:pos x="T8" y="T9"/>
                    </a:cxn>
                  </a:cxnLst>
                  <a:rect l="0" t="0" r="r" b="b"/>
                  <a:pathLst>
                    <a:path w="26" h="36">
                      <a:moveTo>
                        <a:pt x="26" y="36"/>
                      </a:moveTo>
                      <a:lnTo>
                        <a:pt x="7" y="36"/>
                      </a:lnTo>
                      <a:lnTo>
                        <a:pt x="0" y="19"/>
                      </a:lnTo>
                      <a:lnTo>
                        <a:pt x="26" y="0"/>
                      </a:lnTo>
                      <a:lnTo>
                        <a:pt x="26"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5" name="Freeform 51">
                  <a:extLst>
                    <a:ext uri="{FF2B5EF4-FFF2-40B4-BE49-F238E27FC236}">
                      <a16:creationId xmlns:a16="http://schemas.microsoft.com/office/drawing/2014/main" id="{2F74EE05-F0FB-46F4-8C7B-33FC8A852C63}"/>
                    </a:ext>
                  </a:extLst>
                </p:cNvPr>
                <p:cNvSpPr>
                  <a:spLocks/>
                </p:cNvSpPr>
                <p:nvPr/>
              </p:nvSpPr>
              <p:spPr bwMode="auto">
                <a:xfrm>
                  <a:off x="4864100" y="4668838"/>
                  <a:ext cx="25400" cy="34925"/>
                </a:xfrm>
                <a:custGeom>
                  <a:avLst/>
                  <a:gdLst>
                    <a:gd name="T0" fmla="*/ 16 w 16"/>
                    <a:gd name="T1" fmla="*/ 17 h 22"/>
                    <a:gd name="T2" fmla="*/ 7 w 16"/>
                    <a:gd name="T3" fmla="*/ 22 h 22"/>
                    <a:gd name="T4" fmla="*/ 0 w 16"/>
                    <a:gd name="T5" fmla="*/ 14 h 22"/>
                    <a:gd name="T6" fmla="*/ 0 w 16"/>
                    <a:gd name="T7" fmla="*/ 7 h 22"/>
                    <a:gd name="T8" fmla="*/ 7 w 16"/>
                    <a:gd name="T9" fmla="*/ 0 h 22"/>
                    <a:gd name="T10" fmla="*/ 16 w 16"/>
                    <a:gd name="T11" fmla="*/ 17 h 22"/>
                  </a:gdLst>
                  <a:ahLst/>
                  <a:cxnLst>
                    <a:cxn ang="0">
                      <a:pos x="T0" y="T1"/>
                    </a:cxn>
                    <a:cxn ang="0">
                      <a:pos x="T2" y="T3"/>
                    </a:cxn>
                    <a:cxn ang="0">
                      <a:pos x="T4" y="T5"/>
                    </a:cxn>
                    <a:cxn ang="0">
                      <a:pos x="T6" y="T7"/>
                    </a:cxn>
                    <a:cxn ang="0">
                      <a:pos x="T8" y="T9"/>
                    </a:cxn>
                    <a:cxn ang="0">
                      <a:pos x="T10" y="T11"/>
                    </a:cxn>
                  </a:cxnLst>
                  <a:rect l="0" t="0" r="r" b="b"/>
                  <a:pathLst>
                    <a:path w="16" h="22">
                      <a:moveTo>
                        <a:pt x="16" y="17"/>
                      </a:moveTo>
                      <a:lnTo>
                        <a:pt x="7" y="22"/>
                      </a:lnTo>
                      <a:lnTo>
                        <a:pt x="0" y="14"/>
                      </a:lnTo>
                      <a:lnTo>
                        <a:pt x="0" y="7"/>
                      </a:lnTo>
                      <a:lnTo>
                        <a:pt x="7" y="0"/>
                      </a:lnTo>
                      <a:lnTo>
                        <a:pt x="16"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nvGrpSpPr>
                <p:cNvPr id="76" name="Group 75">
                  <a:extLst>
                    <a:ext uri="{FF2B5EF4-FFF2-40B4-BE49-F238E27FC236}">
                      <a16:creationId xmlns:a16="http://schemas.microsoft.com/office/drawing/2014/main" id="{25802A7A-4C84-42E4-89F1-773AF591E187}"/>
                    </a:ext>
                  </a:extLst>
                </p:cNvPr>
                <p:cNvGrpSpPr/>
                <p:nvPr/>
              </p:nvGrpSpPr>
              <p:grpSpPr>
                <a:xfrm>
                  <a:off x="4987925" y="4968876"/>
                  <a:ext cx="360362" cy="481013"/>
                  <a:chOff x="4987925" y="4968876"/>
                  <a:chExt cx="360362" cy="481013"/>
                </a:xfrm>
                <a:grpFill/>
              </p:grpSpPr>
              <p:sp>
                <p:nvSpPr>
                  <p:cNvPr id="77" name="Oval 52">
                    <a:extLst>
                      <a:ext uri="{FF2B5EF4-FFF2-40B4-BE49-F238E27FC236}">
                        <a16:creationId xmlns:a16="http://schemas.microsoft.com/office/drawing/2014/main" id="{A7706EE6-5F2E-4463-AACB-E13463799E71}"/>
                      </a:ext>
                    </a:extLst>
                  </p:cNvPr>
                  <p:cNvSpPr>
                    <a:spLocks noChangeArrowheads="1"/>
                  </p:cNvSpPr>
                  <p:nvPr/>
                </p:nvSpPr>
                <p:spPr bwMode="auto">
                  <a:xfrm>
                    <a:off x="5148263" y="4968876"/>
                    <a:ext cx="90487" cy="904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8" name="Freeform 53">
                    <a:extLst>
                      <a:ext uri="{FF2B5EF4-FFF2-40B4-BE49-F238E27FC236}">
                        <a16:creationId xmlns:a16="http://schemas.microsoft.com/office/drawing/2014/main" id="{2CD5D386-388B-40D9-AB5C-7B0B98E572FE}"/>
                      </a:ext>
                    </a:extLst>
                  </p:cNvPr>
                  <p:cNvSpPr>
                    <a:spLocks/>
                  </p:cNvSpPr>
                  <p:nvPr/>
                </p:nvSpPr>
                <p:spPr bwMode="auto">
                  <a:xfrm>
                    <a:off x="4987925" y="5051426"/>
                    <a:ext cx="360362" cy="398463"/>
                  </a:xfrm>
                  <a:custGeom>
                    <a:avLst/>
                    <a:gdLst>
                      <a:gd name="T0" fmla="*/ 118 w 227"/>
                      <a:gd name="T1" fmla="*/ 17 h 251"/>
                      <a:gd name="T2" fmla="*/ 92 w 227"/>
                      <a:gd name="T3" fmla="*/ 0 h 251"/>
                      <a:gd name="T4" fmla="*/ 59 w 227"/>
                      <a:gd name="T5" fmla="*/ 57 h 251"/>
                      <a:gd name="T6" fmla="*/ 61 w 227"/>
                      <a:gd name="T7" fmla="*/ 111 h 251"/>
                      <a:gd name="T8" fmla="*/ 73 w 227"/>
                      <a:gd name="T9" fmla="*/ 128 h 251"/>
                      <a:gd name="T10" fmla="*/ 49 w 227"/>
                      <a:gd name="T11" fmla="*/ 177 h 251"/>
                      <a:gd name="T12" fmla="*/ 0 w 227"/>
                      <a:gd name="T13" fmla="*/ 203 h 251"/>
                      <a:gd name="T14" fmla="*/ 7 w 227"/>
                      <a:gd name="T15" fmla="*/ 237 h 251"/>
                      <a:gd name="T16" fmla="*/ 26 w 227"/>
                      <a:gd name="T17" fmla="*/ 251 h 251"/>
                      <a:gd name="T18" fmla="*/ 33 w 227"/>
                      <a:gd name="T19" fmla="*/ 246 h 251"/>
                      <a:gd name="T20" fmla="*/ 21 w 227"/>
                      <a:gd name="T21" fmla="*/ 232 h 251"/>
                      <a:gd name="T22" fmla="*/ 21 w 227"/>
                      <a:gd name="T23" fmla="*/ 215 h 251"/>
                      <a:gd name="T24" fmla="*/ 64 w 227"/>
                      <a:gd name="T25" fmla="*/ 201 h 251"/>
                      <a:gd name="T26" fmla="*/ 99 w 227"/>
                      <a:gd name="T27" fmla="*/ 135 h 251"/>
                      <a:gd name="T28" fmla="*/ 142 w 227"/>
                      <a:gd name="T29" fmla="*/ 144 h 251"/>
                      <a:gd name="T30" fmla="*/ 170 w 227"/>
                      <a:gd name="T31" fmla="*/ 211 h 251"/>
                      <a:gd name="T32" fmla="*/ 189 w 227"/>
                      <a:gd name="T33" fmla="*/ 211 h 251"/>
                      <a:gd name="T34" fmla="*/ 222 w 227"/>
                      <a:gd name="T35" fmla="*/ 196 h 251"/>
                      <a:gd name="T36" fmla="*/ 227 w 227"/>
                      <a:gd name="T37" fmla="*/ 189 h 251"/>
                      <a:gd name="T38" fmla="*/ 187 w 227"/>
                      <a:gd name="T39" fmla="*/ 192 h 251"/>
                      <a:gd name="T40" fmla="*/ 170 w 227"/>
                      <a:gd name="T41" fmla="*/ 133 h 251"/>
                      <a:gd name="T42" fmla="*/ 158 w 227"/>
                      <a:gd name="T43" fmla="*/ 114 h 251"/>
                      <a:gd name="T44" fmla="*/ 118 w 227"/>
                      <a:gd name="T45" fmla="*/ 102 h 251"/>
                      <a:gd name="T46" fmla="*/ 113 w 227"/>
                      <a:gd name="T47" fmla="*/ 55 h 251"/>
                      <a:gd name="T48" fmla="*/ 118 w 227"/>
                      <a:gd name="T49" fmla="*/ 1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7" h="251">
                        <a:moveTo>
                          <a:pt x="118" y="17"/>
                        </a:moveTo>
                        <a:lnTo>
                          <a:pt x="92" y="0"/>
                        </a:lnTo>
                        <a:lnTo>
                          <a:pt x="59" y="57"/>
                        </a:lnTo>
                        <a:lnTo>
                          <a:pt x="61" y="111"/>
                        </a:lnTo>
                        <a:lnTo>
                          <a:pt x="73" y="128"/>
                        </a:lnTo>
                        <a:lnTo>
                          <a:pt x="49" y="177"/>
                        </a:lnTo>
                        <a:lnTo>
                          <a:pt x="0" y="203"/>
                        </a:lnTo>
                        <a:lnTo>
                          <a:pt x="7" y="237"/>
                        </a:lnTo>
                        <a:lnTo>
                          <a:pt x="26" y="251"/>
                        </a:lnTo>
                        <a:lnTo>
                          <a:pt x="33" y="246"/>
                        </a:lnTo>
                        <a:lnTo>
                          <a:pt x="21" y="232"/>
                        </a:lnTo>
                        <a:lnTo>
                          <a:pt x="21" y="215"/>
                        </a:lnTo>
                        <a:lnTo>
                          <a:pt x="64" y="201"/>
                        </a:lnTo>
                        <a:lnTo>
                          <a:pt x="99" y="135"/>
                        </a:lnTo>
                        <a:lnTo>
                          <a:pt x="142" y="144"/>
                        </a:lnTo>
                        <a:lnTo>
                          <a:pt x="170" y="211"/>
                        </a:lnTo>
                        <a:lnTo>
                          <a:pt x="189" y="211"/>
                        </a:lnTo>
                        <a:lnTo>
                          <a:pt x="222" y="196"/>
                        </a:lnTo>
                        <a:lnTo>
                          <a:pt x="227" y="189"/>
                        </a:lnTo>
                        <a:lnTo>
                          <a:pt x="187" y="192"/>
                        </a:lnTo>
                        <a:lnTo>
                          <a:pt x="170" y="133"/>
                        </a:lnTo>
                        <a:lnTo>
                          <a:pt x="158" y="114"/>
                        </a:lnTo>
                        <a:lnTo>
                          <a:pt x="118" y="102"/>
                        </a:lnTo>
                        <a:lnTo>
                          <a:pt x="113" y="55"/>
                        </a:lnTo>
                        <a:lnTo>
                          <a:pt x="11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9" name="Freeform 54">
                    <a:extLst>
                      <a:ext uri="{FF2B5EF4-FFF2-40B4-BE49-F238E27FC236}">
                        <a16:creationId xmlns:a16="http://schemas.microsoft.com/office/drawing/2014/main" id="{94FB6321-78FA-433D-B598-EF6FFD8171B9}"/>
                      </a:ext>
                    </a:extLst>
                  </p:cNvPr>
                  <p:cNvSpPr>
                    <a:spLocks/>
                  </p:cNvSpPr>
                  <p:nvPr/>
                </p:nvSpPr>
                <p:spPr bwMode="auto">
                  <a:xfrm>
                    <a:off x="5126038" y="5078413"/>
                    <a:ext cx="142875" cy="74613"/>
                  </a:xfrm>
                  <a:custGeom>
                    <a:avLst/>
                    <a:gdLst>
                      <a:gd name="T0" fmla="*/ 90 w 90"/>
                      <a:gd name="T1" fmla="*/ 23 h 47"/>
                      <a:gd name="T2" fmla="*/ 48 w 90"/>
                      <a:gd name="T3" fmla="*/ 47 h 47"/>
                      <a:gd name="T4" fmla="*/ 0 w 90"/>
                      <a:gd name="T5" fmla="*/ 23 h 47"/>
                      <a:gd name="T6" fmla="*/ 19 w 90"/>
                      <a:gd name="T7" fmla="*/ 0 h 47"/>
                      <a:gd name="T8" fmla="*/ 45 w 90"/>
                      <a:gd name="T9" fmla="*/ 26 h 47"/>
                      <a:gd name="T10" fmla="*/ 85 w 90"/>
                      <a:gd name="T11" fmla="*/ 7 h 47"/>
                      <a:gd name="T12" fmla="*/ 90 w 90"/>
                      <a:gd name="T13" fmla="*/ 23 h 47"/>
                    </a:gdLst>
                    <a:ahLst/>
                    <a:cxnLst>
                      <a:cxn ang="0">
                        <a:pos x="T0" y="T1"/>
                      </a:cxn>
                      <a:cxn ang="0">
                        <a:pos x="T2" y="T3"/>
                      </a:cxn>
                      <a:cxn ang="0">
                        <a:pos x="T4" y="T5"/>
                      </a:cxn>
                      <a:cxn ang="0">
                        <a:pos x="T6" y="T7"/>
                      </a:cxn>
                      <a:cxn ang="0">
                        <a:pos x="T8" y="T9"/>
                      </a:cxn>
                      <a:cxn ang="0">
                        <a:pos x="T10" y="T11"/>
                      </a:cxn>
                      <a:cxn ang="0">
                        <a:pos x="T12" y="T13"/>
                      </a:cxn>
                    </a:cxnLst>
                    <a:rect l="0" t="0" r="r" b="b"/>
                    <a:pathLst>
                      <a:path w="90" h="47">
                        <a:moveTo>
                          <a:pt x="90" y="23"/>
                        </a:moveTo>
                        <a:lnTo>
                          <a:pt x="48" y="47"/>
                        </a:lnTo>
                        <a:lnTo>
                          <a:pt x="0" y="23"/>
                        </a:lnTo>
                        <a:lnTo>
                          <a:pt x="19" y="0"/>
                        </a:lnTo>
                        <a:lnTo>
                          <a:pt x="45" y="26"/>
                        </a:lnTo>
                        <a:lnTo>
                          <a:pt x="85" y="7"/>
                        </a:lnTo>
                        <a:lnTo>
                          <a:pt x="9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80" name="Freeform 55">
                    <a:extLst>
                      <a:ext uri="{FF2B5EF4-FFF2-40B4-BE49-F238E27FC236}">
                        <a16:creationId xmlns:a16="http://schemas.microsoft.com/office/drawing/2014/main" id="{6819262B-23AA-4894-B325-B22C7C15BCDA}"/>
                      </a:ext>
                    </a:extLst>
                  </p:cNvPr>
                  <p:cNvSpPr>
                    <a:spLocks/>
                  </p:cNvSpPr>
                  <p:nvPr/>
                </p:nvSpPr>
                <p:spPr bwMode="auto">
                  <a:xfrm>
                    <a:off x="5010150" y="5067301"/>
                    <a:ext cx="120650" cy="96838"/>
                  </a:xfrm>
                  <a:custGeom>
                    <a:avLst/>
                    <a:gdLst>
                      <a:gd name="T0" fmla="*/ 76 w 76"/>
                      <a:gd name="T1" fmla="*/ 0 h 61"/>
                      <a:gd name="T2" fmla="*/ 14 w 76"/>
                      <a:gd name="T3" fmla="*/ 7 h 61"/>
                      <a:gd name="T4" fmla="*/ 0 w 76"/>
                      <a:gd name="T5" fmla="*/ 54 h 61"/>
                      <a:gd name="T6" fmla="*/ 17 w 76"/>
                      <a:gd name="T7" fmla="*/ 61 h 61"/>
                      <a:gd name="T8" fmla="*/ 31 w 76"/>
                      <a:gd name="T9" fmla="*/ 23 h 61"/>
                      <a:gd name="T10" fmla="*/ 69 w 76"/>
                      <a:gd name="T11" fmla="*/ 23 h 61"/>
                      <a:gd name="T12" fmla="*/ 76 w 76"/>
                      <a:gd name="T13" fmla="*/ 0 h 61"/>
                    </a:gdLst>
                    <a:ahLst/>
                    <a:cxnLst>
                      <a:cxn ang="0">
                        <a:pos x="T0" y="T1"/>
                      </a:cxn>
                      <a:cxn ang="0">
                        <a:pos x="T2" y="T3"/>
                      </a:cxn>
                      <a:cxn ang="0">
                        <a:pos x="T4" y="T5"/>
                      </a:cxn>
                      <a:cxn ang="0">
                        <a:pos x="T6" y="T7"/>
                      </a:cxn>
                      <a:cxn ang="0">
                        <a:pos x="T8" y="T9"/>
                      </a:cxn>
                      <a:cxn ang="0">
                        <a:pos x="T10" y="T11"/>
                      </a:cxn>
                      <a:cxn ang="0">
                        <a:pos x="T12" y="T13"/>
                      </a:cxn>
                    </a:cxnLst>
                    <a:rect l="0" t="0" r="r" b="b"/>
                    <a:pathLst>
                      <a:path w="76" h="61">
                        <a:moveTo>
                          <a:pt x="76" y="0"/>
                        </a:moveTo>
                        <a:lnTo>
                          <a:pt x="14" y="7"/>
                        </a:lnTo>
                        <a:lnTo>
                          <a:pt x="0" y="54"/>
                        </a:lnTo>
                        <a:lnTo>
                          <a:pt x="17" y="61"/>
                        </a:lnTo>
                        <a:lnTo>
                          <a:pt x="31" y="23"/>
                        </a:lnTo>
                        <a:lnTo>
                          <a:pt x="69" y="23"/>
                        </a:ln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grpSp>
      </p:grpSp>
      <p:grpSp>
        <p:nvGrpSpPr>
          <p:cNvPr id="35" name="Group 34">
            <a:extLst>
              <a:ext uri="{FF2B5EF4-FFF2-40B4-BE49-F238E27FC236}">
                <a16:creationId xmlns:a16="http://schemas.microsoft.com/office/drawing/2014/main" id="{8E662A8F-ECC9-43E5-8FA1-BBC413A51EE3}"/>
              </a:ext>
            </a:extLst>
          </p:cNvPr>
          <p:cNvGrpSpPr/>
          <p:nvPr/>
        </p:nvGrpSpPr>
        <p:grpSpPr>
          <a:xfrm>
            <a:off x="4609163" y="3239755"/>
            <a:ext cx="1087278" cy="1263214"/>
            <a:chOff x="4025511" y="3220487"/>
            <a:chExt cx="1268491" cy="1497143"/>
          </a:xfrm>
        </p:grpSpPr>
        <p:grpSp>
          <p:nvGrpSpPr>
            <p:cNvPr id="50" name="Group 49">
              <a:extLst>
                <a:ext uri="{FF2B5EF4-FFF2-40B4-BE49-F238E27FC236}">
                  <a16:creationId xmlns:a16="http://schemas.microsoft.com/office/drawing/2014/main" id="{CB8281A1-FDCD-4065-B47C-78A6B9389945}"/>
                </a:ext>
              </a:extLst>
            </p:cNvPr>
            <p:cNvGrpSpPr/>
            <p:nvPr/>
          </p:nvGrpSpPr>
          <p:grpSpPr>
            <a:xfrm>
              <a:off x="4025511" y="3220487"/>
              <a:ext cx="1268491" cy="1288626"/>
              <a:chOff x="4025511" y="3220487"/>
              <a:chExt cx="1268491" cy="1288626"/>
            </a:xfrm>
          </p:grpSpPr>
          <p:sp>
            <p:nvSpPr>
              <p:cNvPr id="52" name="Donut 56">
                <a:extLst>
                  <a:ext uri="{FF2B5EF4-FFF2-40B4-BE49-F238E27FC236}">
                    <a16:creationId xmlns:a16="http://schemas.microsoft.com/office/drawing/2014/main" id="{35058516-8B4D-434D-88DE-06FD1B2C5499}"/>
                  </a:ext>
                </a:extLst>
              </p:cNvPr>
              <p:cNvSpPr/>
              <p:nvPr/>
            </p:nvSpPr>
            <p:spPr>
              <a:xfrm>
                <a:off x="4025511" y="3220487"/>
                <a:ext cx="1268491" cy="1288626"/>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nvGrpSpPr>
              <p:cNvPr id="53" name="Group 52">
                <a:extLst>
                  <a:ext uri="{FF2B5EF4-FFF2-40B4-BE49-F238E27FC236}">
                    <a16:creationId xmlns:a16="http://schemas.microsoft.com/office/drawing/2014/main" id="{3AA5028D-8087-4C0B-91C4-8626B09E2142}"/>
                  </a:ext>
                </a:extLst>
              </p:cNvPr>
              <p:cNvGrpSpPr/>
              <p:nvPr/>
            </p:nvGrpSpPr>
            <p:grpSpPr>
              <a:xfrm>
                <a:off x="4291810" y="3489297"/>
                <a:ext cx="774326" cy="641952"/>
                <a:chOff x="5610225" y="4718051"/>
                <a:chExt cx="927100" cy="727075"/>
              </a:xfrm>
              <a:solidFill>
                <a:srgbClr val="0089C4"/>
              </a:solidFill>
            </p:grpSpPr>
            <p:sp>
              <p:nvSpPr>
                <p:cNvPr id="54" name="Freeform 79">
                  <a:extLst>
                    <a:ext uri="{FF2B5EF4-FFF2-40B4-BE49-F238E27FC236}">
                      <a16:creationId xmlns:a16="http://schemas.microsoft.com/office/drawing/2014/main" id="{78B28357-ABEA-4318-9DA7-D341403A3BBC}"/>
                    </a:ext>
                  </a:extLst>
                </p:cNvPr>
                <p:cNvSpPr>
                  <a:spLocks/>
                </p:cNvSpPr>
                <p:nvPr/>
              </p:nvSpPr>
              <p:spPr bwMode="auto">
                <a:xfrm>
                  <a:off x="5648325" y="5006976"/>
                  <a:ext cx="77787" cy="60325"/>
                </a:xfrm>
                <a:custGeom>
                  <a:avLst/>
                  <a:gdLst>
                    <a:gd name="T0" fmla="*/ 40 w 49"/>
                    <a:gd name="T1" fmla="*/ 0 h 38"/>
                    <a:gd name="T2" fmla="*/ 49 w 49"/>
                    <a:gd name="T3" fmla="*/ 21 h 38"/>
                    <a:gd name="T4" fmla="*/ 30 w 49"/>
                    <a:gd name="T5" fmla="*/ 26 h 38"/>
                    <a:gd name="T6" fmla="*/ 21 w 49"/>
                    <a:gd name="T7" fmla="*/ 38 h 38"/>
                    <a:gd name="T8" fmla="*/ 0 w 49"/>
                    <a:gd name="T9" fmla="*/ 28 h 38"/>
                    <a:gd name="T10" fmla="*/ 2 w 49"/>
                    <a:gd name="T11" fmla="*/ 7 h 38"/>
                    <a:gd name="T12" fmla="*/ 40 w 4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9" h="38">
                      <a:moveTo>
                        <a:pt x="40" y="0"/>
                      </a:moveTo>
                      <a:lnTo>
                        <a:pt x="49" y="21"/>
                      </a:lnTo>
                      <a:lnTo>
                        <a:pt x="30" y="26"/>
                      </a:lnTo>
                      <a:lnTo>
                        <a:pt x="21" y="38"/>
                      </a:lnTo>
                      <a:lnTo>
                        <a:pt x="0" y="28"/>
                      </a:lnTo>
                      <a:lnTo>
                        <a:pt x="2" y="7"/>
                      </a:lnTo>
                      <a:lnTo>
                        <a:pt x="4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5" name="Freeform 80">
                  <a:extLst>
                    <a:ext uri="{FF2B5EF4-FFF2-40B4-BE49-F238E27FC236}">
                      <a16:creationId xmlns:a16="http://schemas.microsoft.com/office/drawing/2014/main" id="{3F477C2B-1C9D-478F-8428-8B03790FF991}"/>
                    </a:ext>
                  </a:extLst>
                </p:cNvPr>
                <p:cNvSpPr>
                  <a:spLocks/>
                </p:cNvSpPr>
                <p:nvPr/>
              </p:nvSpPr>
              <p:spPr bwMode="auto">
                <a:xfrm>
                  <a:off x="5651500" y="4938713"/>
                  <a:ext cx="44450" cy="34925"/>
                </a:xfrm>
                <a:custGeom>
                  <a:avLst/>
                  <a:gdLst>
                    <a:gd name="T0" fmla="*/ 28 w 28"/>
                    <a:gd name="T1" fmla="*/ 7 h 22"/>
                    <a:gd name="T2" fmla="*/ 17 w 28"/>
                    <a:gd name="T3" fmla="*/ 22 h 22"/>
                    <a:gd name="T4" fmla="*/ 0 w 28"/>
                    <a:gd name="T5" fmla="*/ 12 h 22"/>
                    <a:gd name="T6" fmla="*/ 5 w 28"/>
                    <a:gd name="T7" fmla="*/ 0 h 22"/>
                    <a:gd name="T8" fmla="*/ 19 w 28"/>
                    <a:gd name="T9" fmla="*/ 0 h 22"/>
                    <a:gd name="T10" fmla="*/ 28 w 28"/>
                    <a:gd name="T11" fmla="*/ 7 h 22"/>
                  </a:gdLst>
                  <a:ahLst/>
                  <a:cxnLst>
                    <a:cxn ang="0">
                      <a:pos x="T0" y="T1"/>
                    </a:cxn>
                    <a:cxn ang="0">
                      <a:pos x="T2" y="T3"/>
                    </a:cxn>
                    <a:cxn ang="0">
                      <a:pos x="T4" y="T5"/>
                    </a:cxn>
                    <a:cxn ang="0">
                      <a:pos x="T6" y="T7"/>
                    </a:cxn>
                    <a:cxn ang="0">
                      <a:pos x="T8" y="T9"/>
                    </a:cxn>
                    <a:cxn ang="0">
                      <a:pos x="T10" y="T11"/>
                    </a:cxn>
                  </a:cxnLst>
                  <a:rect l="0" t="0" r="r" b="b"/>
                  <a:pathLst>
                    <a:path w="28" h="22">
                      <a:moveTo>
                        <a:pt x="28" y="7"/>
                      </a:moveTo>
                      <a:lnTo>
                        <a:pt x="17" y="22"/>
                      </a:lnTo>
                      <a:lnTo>
                        <a:pt x="0" y="12"/>
                      </a:lnTo>
                      <a:lnTo>
                        <a:pt x="5" y="0"/>
                      </a:lnTo>
                      <a:lnTo>
                        <a:pt x="19" y="0"/>
                      </a:lnTo>
                      <a:lnTo>
                        <a:pt x="2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6" name="Freeform 81">
                  <a:extLst>
                    <a:ext uri="{FF2B5EF4-FFF2-40B4-BE49-F238E27FC236}">
                      <a16:creationId xmlns:a16="http://schemas.microsoft.com/office/drawing/2014/main" id="{BDA78664-DBF1-4911-B7AE-E3E8F9C7B9F9}"/>
                    </a:ext>
                  </a:extLst>
                </p:cNvPr>
                <p:cNvSpPr>
                  <a:spLocks/>
                </p:cNvSpPr>
                <p:nvPr/>
              </p:nvSpPr>
              <p:spPr bwMode="auto">
                <a:xfrm>
                  <a:off x="5726113" y="4921251"/>
                  <a:ext cx="41275" cy="47625"/>
                </a:xfrm>
                <a:custGeom>
                  <a:avLst/>
                  <a:gdLst>
                    <a:gd name="T0" fmla="*/ 0 w 26"/>
                    <a:gd name="T1" fmla="*/ 21 h 30"/>
                    <a:gd name="T2" fmla="*/ 12 w 26"/>
                    <a:gd name="T3" fmla="*/ 30 h 30"/>
                    <a:gd name="T4" fmla="*/ 26 w 26"/>
                    <a:gd name="T5" fmla="*/ 23 h 30"/>
                    <a:gd name="T6" fmla="*/ 19 w 26"/>
                    <a:gd name="T7" fmla="*/ 0 h 30"/>
                    <a:gd name="T8" fmla="*/ 0 w 26"/>
                    <a:gd name="T9" fmla="*/ 21 h 30"/>
                  </a:gdLst>
                  <a:ahLst/>
                  <a:cxnLst>
                    <a:cxn ang="0">
                      <a:pos x="T0" y="T1"/>
                    </a:cxn>
                    <a:cxn ang="0">
                      <a:pos x="T2" y="T3"/>
                    </a:cxn>
                    <a:cxn ang="0">
                      <a:pos x="T4" y="T5"/>
                    </a:cxn>
                    <a:cxn ang="0">
                      <a:pos x="T6" y="T7"/>
                    </a:cxn>
                    <a:cxn ang="0">
                      <a:pos x="T8" y="T9"/>
                    </a:cxn>
                  </a:cxnLst>
                  <a:rect l="0" t="0" r="r" b="b"/>
                  <a:pathLst>
                    <a:path w="26" h="30">
                      <a:moveTo>
                        <a:pt x="0" y="21"/>
                      </a:moveTo>
                      <a:lnTo>
                        <a:pt x="12" y="30"/>
                      </a:lnTo>
                      <a:lnTo>
                        <a:pt x="26" y="23"/>
                      </a:lnTo>
                      <a:lnTo>
                        <a:pt x="19" y="0"/>
                      </a:lnTo>
                      <a:lnTo>
                        <a:pt x="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7" name="Freeform 82">
                  <a:extLst>
                    <a:ext uri="{FF2B5EF4-FFF2-40B4-BE49-F238E27FC236}">
                      <a16:creationId xmlns:a16="http://schemas.microsoft.com/office/drawing/2014/main" id="{4129F455-81CE-405C-AA2D-E25693691956}"/>
                    </a:ext>
                  </a:extLst>
                </p:cNvPr>
                <p:cNvSpPr>
                  <a:spLocks/>
                </p:cNvSpPr>
                <p:nvPr/>
              </p:nvSpPr>
              <p:spPr bwMode="auto">
                <a:xfrm>
                  <a:off x="6416675" y="5111751"/>
                  <a:ext cx="79375" cy="57150"/>
                </a:xfrm>
                <a:custGeom>
                  <a:avLst/>
                  <a:gdLst>
                    <a:gd name="T0" fmla="*/ 5 w 50"/>
                    <a:gd name="T1" fmla="*/ 36 h 36"/>
                    <a:gd name="T2" fmla="*/ 0 w 50"/>
                    <a:gd name="T3" fmla="*/ 12 h 36"/>
                    <a:gd name="T4" fmla="*/ 17 w 50"/>
                    <a:gd name="T5" fmla="*/ 12 h 36"/>
                    <a:gd name="T6" fmla="*/ 31 w 50"/>
                    <a:gd name="T7" fmla="*/ 0 h 36"/>
                    <a:gd name="T8" fmla="*/ 50 w 50"/>
                    <a:gd name="T9" fmla="*/ 12 h 36"/>
                    <a:gd name="T10" fmla="*/ 43 w 50"/>
                    <a:gd name="T11" fmla="*/ 33 h 36"/>
                    <a:gd name="T12" fmla="*/ 5 w 5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50" h="36">
                      <a:moveTo>
                        <a:pt x="5" y="36"/>
                      </a:moveTo>
                      <a:lnTo>
                        <a:pt x="0" y="12"/>
                      </a:lnTo>
                      <a:lnTo>
                        <a:pt x="17" y="12"/>
                      </a:lnTo>
                      <a:lnTo>
                        <a:pt x="31" y="0"/>
                      </a:lnTo>
                      <a:lnTo>
                        <a:pt x="50" y="12"/>
                      </a:lnTo>
                      <a:lnTo>
                        <a:pt x="43" y="33"/>
                      </a:lnTo>
                      <a:lnTo>
                        <a:pt x="5"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8" name="Freeform 83">
                  <a:extLst>
                    <a:ext uri="{FF2B5EF4-FFF2-40B4-BE49-F238E27FC236}">
                      <a16:creationId xmlns:a16="http://schemas.microsoft.com/office/drawing/2014/main" id="{77783021-B3E1-40A7-9881-DEA967E39D95}"/>
                    </a:ext>
                  </a:extLst>
                </p:cNvPr>
                <p:cNvSpPr>
                  <a:spLocks/>
                </p:cNvSpPr>
                <p:nvPr/>
              </p:nvSpPr>
              <p:spPr bwMode="auto">
                <a:xfrm>
                  <a:off x="6443663" y="5235576"/>
                  <a:ext cx="44450" cy="38100"/>
                </a:xfrm>
                <a:custGeom>
                  <a:avLst/>
                  <a:gdLst>
                    <a:gd name="T0" fmla="*/ 0 w 28"/>
                    <a:gd name="T1" fmla="*/ 14 h 24"/>
                    <a:gd name="T2" fmla="*/ 14 w 28"/>
                    <a:gd name="T3" fmla="*/ 0 h 24"/>
                    <a:gd name="T4" fmla="*/ 28 w 28"/>
                    <a:gd name="T5" fmla="*/ 12 h 24"/>
                    <a:gd name="T6" fmla="*/ 23 w 28"/>
                    <a:gd name="T7" fmla="*/ 24 h 24"/>
                    <a:gd name="T8" fmla="*/ 9 w 28"/>
                    <a:gd name="T9" fmla="*/ 21 h 24"/>
                    <a:gd name="T10" fmla="*/ 0 w 28"/>
                    <a:gd name="T11" fmla="*/ 14 h 24"/>
                  </a:gdLst>
                  <a:ahLst/>
                  <a:cxnLst>
                    <a:cxn ang="0">
                      <a:pos x="T0" y="T1"/>
                    </a:cxn>
                    <a:cxn ang="0">
                      <a:pos x="T2" y="T3"/>
                    </a:cxn>
                    <a:cxn ang="0">
                      <a:pos x="T4" y="T5"/>
                    </a:cxn>
                    <a:cxn ang="0">
                      <a:pos x="T6" y="T7"/>
                    </a:cxn>
                    <a:cxn ang="0">
                      <a:pos x="T8" y="T9"/>
                    </a:cxn>
                    <a:cxn ang="0">
                      <a:pos x="T10" y="T11"/>
                    </a:cxn>
                  </a:cxnLst>
                  <a:rect l="0" t="0" r="r" b="b"/>
                  <a:pathLst>
                    <a:path w="28" h="24">
                      <a:moveTo>
                        <a:pt x="0" y="14"/>
                      </a:moveTo>
                      <a:lnTo>
                        <a:pt x="14" y="0"/>
                      </a:lnTo>
                      <a:lnTo>
                        <a:pt x="28" y="12"/>
                      </a:lnTo>
                      <a:lnTo>
                        <a:pt x="23" y="24"/>
                      </a:lnTo>
                      <a:lnTo>
                        <a:pt x="9" y="21"/>
                      </a:lnTo>
                      <a:lnTo>
                        <a:pt x="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9" name="Freeform 84">
                  <a:extLst>
                    <a:ext uri="{FF2B5EF4-FFF2-40B4-BE49-F238E27FC236}">
                      <a16:creationId xmlns:a16="http://schemas.microsoft.com/office/drawing/2014/main" id="{CB721BD2-BA62-4E4E-8406-AEB578A80130}"/>
                    </a:ext>
                  </a:extLst>
                </p:cNvPr>
                <p:cNvSpPr>
                  <a:spLocks/>
                </p:cNvSpPr>
                <p:nvPr/>
              </p:nvSpPr>
              <p:spPr bwMode="auto">
                <a:xfrm>
                  <a:off x="6353175" y="5224463"/>
                  <a:ext cx="55562" cy="41275"/>
                </a:xfrm>
                <a:custGeom>
                  <a:avLst/>
                  <a:gdLst>
                    <a:gd name="T0" fmla="*/ 35 w 35"/>
                    <a:gd name="T1" fmla="*/ 12 h 26"/>
                    <a:gd name="T2" fmla="*/ 26 w 35"/>
                    <a:gd name="T3" fmla="*/ 0 h 26"/>
                    <a:gd name="T4" fmla="*/ 9 w 35"/>
                    <a:gd name="T5" fmla="*/ 5 h 26"/>
                    <a:gd name="T6" fmla="*/ 0 w 35"/>
                    <a:gd name="T7" fmla="*/ 26 h 26"/>
                    <a:gd name="T8" fmla="*/ 35 w 35"/>
                    <a:gd name="T9" fmla="*/ 12 h 26"/>
                  </a:gdLst>
                  <a:ahLst/>
                  <a:cxnLst>
                    <a:cxn ang="0">
                      <a:pos x="T0" y="T1"/>
                    </a:cxn>
                    <a:cxn ang="0">
                      <a:pos x="T2" y="T3"/>
                    </a:cxn>
                    <a:cxn ang="0">
                      <a:pos x="T4" y="T5"/>
                    </a:cxn>
                    <a:cxn ang="0">
                      <a:pos x="T6" y="T7"/>
                    </a:cxn>
                    <a:cxn ang="0">
                      <a:pos x="T8" y="T9"/>
                    </a:cxn>
                  </a:cxnLst>
                  <a:rect l="0" t="0" r="r" b="b"/>
                  <a:pathLst>
                    <a:path w="35" h="26">
                      <a:moveTo>
                        <a:pt x="35" y="12"/>
                      </a:moveTo>
                      <a:lnTo>
                        <a:pt x="26" y="0"/>
                      </a:lnTo>
                      <a:lnTo>
                        <a:pt x="9" y="5"/>
                      </a:lnTo>
                      <a:lnTo>
                        <a:pt x="0" y="26"/>
                      </a:lnTo>
                      <a:lnTo>
                        <a:pt x="3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0" name="Freeform 85">
                  <a:extLst>
                    <a:ext uri="{FF2B5EF4-FFF2-40B4-BE49-F238E27FC236}">
                      <a16:creationId xmlns:a16="http://schemas.microsoft.com/office/drawing/2014/main" id="{0420DBA4-2C5A-45A7-97D2-E02171E53DCF}"/>
                    </a:ext>
                  </a:extLst>
                </p:cNvPr>
                <p:cNvSpPr>
                  <a:spLocks/>
                </p:cNvSpPr>
                <p:nvPr/>
              </p:nvSpPr>
              <p:spPr bwMode="auto">
                <a:xfrm>
                  <a:off x="6292850" y="5287963"/>
                  <a:ext cx="30162" cy="19050"/>
                </a:xfrm>
                <a:custGeom>
                  <a:avLst/>
                  <a:gdLst>
                    <a:gd name="T0" fmla="*/ 19 w 19"/>
                    <a:gd name="T1" fmla="*/ 10 h 12"/>
                    <a:gd name="T2" fmla="*/ 17 w 19"/>
                    <a:gd name="T3" fmla="*/ 2 h 12"/>
                    <a:gd name="T4" fmla="*/ 7 w 19"/>
                    <a:gd name="T5" fmla="*/ 0 h 12"/>
                    <a:gd name="T6" fmla="*/ 2 w 19"/>
                    <a:gd name="T7" fmla="*/ 5 h 12"/>
                    <a:gd name="T8" fmla="*/ 0 w 19"/>
                    <a:gd name="T9" fmla="*/ 12 h 12"/>
                    <a:gd name="T10" fmla="*/ 19 w 19"/>
                    <a:gd name="T11" fmla="*/ 10 h 12"/>
                  </a:gdLst>
                  <a:ahLst/>
                  <a:cxnLst>
                    <a:cxn ang="0">
                      <a:pos x="T0" y="T1"/>
                    </a:cxn>
                    <a:cxn ang="0">
                      <a:pos x="T2" y="T3"/>
                    </a:cxn>
                    <a:cxn ang="0">
                      <a:pos x="T4" y="T5"/>
                    </a:cxn>
                    <a:cxn ang="0">
                      <a:pos x="T6" y="T7"/>
                    </a:cxn>
                    <a:cxn ang="0">
                      <a:pos x="T8" y="T9"/>
                    </a:cxn>
                    <a:cxn ang="0">
                      <a:pos x="T10" y="T11"/>
                    </a:cxn>
                  </a:cxnLst>
                  <a:rect l="0" t="0" r="r" b="b"/>
                  <a:pathLst>
                    <a:path w="19" h="12">
                      <a:moveTo>
                        <a:pt x="19" y="10"/>
                      </a:moveTo>
                      <a:lnTo>
                        <a:pt x="17" y="2"/>
                      </a:lnTo>
                      <a:lnTo>
                        <a:pt x="7" y="0"/>
                      </a:lnTo>
                      <a:lnTo>
                        <a:pt x="2" y="5"/>
                      </a:lnTo>
                      <a:lnTo>
                        <a:pt x="0" y="12"/>
                      </a:lnTo>
                      <a:lnTo>
                        <a:pt x="19"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1" name="Freeform 86">
                  <a:extLst>
                    <a:ext uri="{FF2B5EF4-FFF2-40B4-BE49-F238E27FC236}">
                      <a16:creationId xmlns:a16="http://schemas.microsoft.com/office/drawing/2014/main" id="{AA269E9F-0CDF-49E7-BE6B-79ECFEDD73E6}"/>
                    </a:ext>
                  </a:extLst>
                </p:cNvPr>
                <p:cNvSpPr>
                  <a:spLocks/>
                </p:cNvSpPr>
                <p:nvPr/>
              </p:nvSpPr>
              <p:spPr bwMode="auto">
                <a:xfrm>
                  <a:off x="5610225" y="5332413"/>
                  <a:ext cx="555625" cy="112713"/>
                </a:xfrm>
                <a:custGeom>
                  <a:avLst/>
                  <a:gdLst>
                    <a:gd name="T0" fmla="*/ 194 w 350"/>
                    <a:gd name="T1" fmla="*/ 67 h 71"/>
                    <a:gd name="T2" fmla="*/ 272 w 350"/>
                    <a:gd name="T3" fmla="*/ 55 h 71"/>
                    <a:gd name="T4" fmla="*/ 272 w 350"/>
                    <a:gd name="T5" fmla="*/ 34 h 71"/>
                    <a:gd name="T6" fmla="*/ 343 w 350"/>
                    <a:gd name="T7" fmla="*/ 19 h 71"/>
                    <a:gd name="T8" fmla="*/ 343 w 350"/>
                    <a:gd name="T9" fmla="*/ 8 h 71"/>
                    <a:gd name="T10" fmla="*/ 350 w 350"/>
                    <a:gd name="T11" fmla="*/ 3 h 71"/>
                    <a:gd name="T12" fmla="*/ 0 w 350"/>
                    <a:gd name="T13" fmla="*/ 0 h 71"/>
                    <a:gd name="T14" fmla="*/ 0 w 350"/>
                    <a:gd name="T15" fmla="*/ 71 h 71"/>
                    <a:gd name="T16" fmla="*/ 189 w 350"/>
                    <a:gd name="T17" fmla="*/ 71 h 71"/>
                    <a:gd name="T18" fmla="*/ 194 w 350"/>
                    <a:gd name="T19" fmla="*/ 6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71">
                      <a:moveTo>
                        <a:pt x="194" y="67"/>
                      </a:moveTo>
                      <a:lnTo>
                        <a:pt x="272" y="55"/>
                      </a:lnTo>
                      <a:lnTo>
                        <a:pt x="272" y="34"/>
                      </a:lnTo>
                      <a:lnTo>
                        <a:pt x="343" y="19"/>
                      </a:lnTo>
                      <a:lnTo>
                        <a:pt x="343" y="8"/>
                      </a:lnTo>
                      <a:lnTo>
                        <a:pt x="350" y="3"/>
                      </a:lnTo>
                      <a:lnTo>
                        <a:pt x="0" y="0"/>
                      </a:lnTo>
                      <a:lnTo>
                        <a:pt x="0" y="71"/>
                      </a:lnTo>
                      <a:lnTo>
                        <a:pt x="189" y="71"/>
                      </a:lnTo>
                      <a:lnTo>
                        <a:pt x="194"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2" name="Freeform 87">
                  <a:extLst>
                    <a:ext uri="{FF2B5EF4-FFF2-40B4-BE49-F238E27FC236}">
                      <a16:creationId xmlns:a16="http://schemas.microsoft.com/office/drawing/2014/main" id="{47614102-52FC-4FB7-9DA6-3C81DE3495DA}"/>
                    </a:ext>
                  </a:extLst>
                </p:cNvPr>
                <p:cNvSpPr>
                  <a:spLocks/>
                </p:cNvSpPr>
                <p:nvPr/>
              </p:nvSpPr>
              <p:spPr bwMode="auto">
                <a:xfrm>
                  <a:off x="6127750" y="5329238"/>
                  <a:ext cx="409575" cy="112713"/>
                </a:xfrm>
                <a:custGeom>
                  <a:avLst/>
                  <a:gdLst>
                    <a:gd name="T0" fmla="*/ 142 w 258"/>
                    <a:gd name="T1" fmla="*/ 0 h 71"/>
                    <a:gd name="T2" fmla="*/ 125 w 258"/>
                    <a:gd name="T3" fmla="*/ 12 h 71"/>
                    <a:gd name="T4" fmla="*/ 125 w 258"/>
                    <a:gd name="T5" fmla="*/ 28 h 71"/>
                    <a:gd name="T6" fmla="*/ 54 w 258"/>
                    <a:gd name="T7" fmla="*/ 43 h 71"/>
                    <a:gd name="T8" fmla="*/ 54 w 258"/>
                    <a:gd name="T9" fmla="*/ 52 h 71"/>
                    <a:gd name="T10" fmla="*/ 0 w 258"/>
                    <a:gd name="T11" fmla="*/ 71 h 71"/>
                    <a:gd name="T12" fmla="*/ 258 w 258"/>
                    <a:gd name="T13" fmla="*/ 71 h 71"/>
                    <a:gd name="T14" fmla="*/ 258 w 258"/>
                    <a:gd name="T15" fmla="*/ 0 h 71"/>
                    <a:gd name="T16" fmla="*/ 142 w 258"/>
                    <a:gd name="T1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8" h="71">
                      <a:moveTo>
                        <a:pt x="142" y="0"/>
                      </a:moveTo>
                      <a:lnTo>
                        <a:pt x="125" y="12"/>
                      </a:lnTo>
                      <a:lnTo>
                        <a:pt x="125" y="28"/>
                      </a:lnTo>
                      <a:lnTo>
                        <a:pt x="54" y="43"/>
                      </a:lnTo>
                      <a:lnTo>
                        <a:pt x="54" y="52"/>
                      </a:lnTo>
                      <a:lnTo>
                        <a:pt x="0" y="71"/>
                      </a:lnTo>
                      <a:lnTo>
                        <a:pt x="258" y="71"/>
                      </a:lnTo>
                      <a:lnTo>
                        <a:pt x="258" y="0"/>
                      </a:lnTo>
                      <a:lnTo>
                        <a:pt x="14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3" name="Freeform 88">
                  <a:extLst>
                    <a:ext uri="{FF2B5EF4-FFF2-40B4-BE49-F238E27FC236}">
                      <a16:creationId xmlns:a16="http://schemas.microsoft.com/office/drawing/2014/main" id="{DC6ECFAC-FD2A-4F43-914B-9CB22DD4D180}"/>
                    </a:ext>
                  </a:extLst>
                </p:cNvPr>
                <p:cNvSpPr>
                  <a:spLocks/>
                </p:cNvSpPr>
                <p:nvPr/>
              </p:nvSpPr>
              <p:spPr bwMode="auto">
                <a:xfrm>
                  <a:off x="5722948" y="4718051"/>
                  <a:ext cx="655638" cy="638175"/>
                </a:xfrm>
                <a:custGeom>
                  <a:avLst/>
                  <a:gdLst>
                    <a:gd name="T0" fmla="*/ 97 w 175"/>
                    <a:gd name="T1" fmla="*/ 3 h 170"/>
                    <a:gd name="T2" fmla="*/ 81 w 175"/>
                    <a:gd name="T3" fmla="*/ 18 h 170"/>
                    <a:gd name="T4" fmla="*/ 71 w 175"/>
                    <a:gd name="T5" fmla="*/ 14 h 170"/>
                    <a:gd name="T6" fmla="*/ 71 w 175"/>
                    <a:gd name="T7" fmla="*/ 13 h 170"/>
                    <a:gd name="T8" fmla="*/ 66 w 175"/>
                    <a:gd name="T9" fmla="*/ 7 h 170"/>
                    <a:gd name="T10" fmla="*/ 63 w 175"/>
                    <a:gd name="T11" fmla="*/ 7 h 170"/>
                    <a:gd name="T12" fmla="*/ 56 w 175"/>
                    <a:gd name="T13" fmla="*/ 12 h 170"/>
                    <a:gd name="T14" fmla="*/ 52 w 175"/>
                    <a:gd name="T15" fmla="*/ 46 h 170"/>
                    <a:gd name="T16" fmla="*/ 50 w 175"/>
                    <a:gd name="T17" fmla="*/ 49 h 170"/>
                    <a:gd name="T18" fmla="*/ 4 w 175"/>
                    <a:gd name="T19" fmla="*/ 96 h 170"/>
                    <a:gd name="T20" fmla="*/ 7 w 175"/>
                    <a:gd name="T21" fmla="*/ 106 h 170"/>
                    <a:gd name="T22" fmla="*/ 24 w 175"/>
                    <a:gd name="T23" fmla="*/ 108 h 170"/>
                    <a:gd name="T24" fmla="*/ 29 w 175"/>
                    <a:gd name="T25" fmla="*/ 114 h 170"/>
                    <a:gd name="T26" fmla="*/ 25 w 175"/>
                    <a:gd name="T27" fmla="*/ 150 h 170"/>
                    <a:gd name="T28" fmla="*/ 30 w 175"/>
                    <a:gd name="T29" fmla="*/ 156 h 170"/>
                    <a:gd name="T30" fmla="*/ 64 w 175"/>
                    <a:gd name="T31" fmla="*/ 161 h 170"/>
                    <a:gd name="T32" fmla="*/ 70 w 175"/>
                    <a:gd name="T33" fmla="*/ 156 h 170"/>
                    <a:gd name="T34" fmla="*/ 74 w 175"/>
                    <a:gd name="T35" fmla="*/ 122 h 170"/>
                    <a:gd name="T36" fmla="*/ 81 w 175"/>
                    <a:gd name="T37" fmla="*/ 117 h 170"/>
                    <a:gd name="T38" fmla="*/ 86 w 175"/>
                    <a:gd name="T39" fmla="*/ 118 h 170"/>
                    <a:gd name="T40" fmla="*/ 92 w 175"/>
                    <a:gd name="T41" fmla="*/ 119 h 170"/>
                    <a:gd name="T42" fmla="*/ 97 w 175"/>
                    <a:gd name="T43" fmla="*/ 125 h 170"/>
                    <a:gd name="T44" fmla="*/ 93 w 175"/>
                    <a:gd name="T45" fmla="*/ 159 h 170"/>
                    <a:gd name="T46" fmla="*/ 98 w 175"/>
                    <a:gd name="T47" fmla="*/ 165 h 170"/>
                    <a:gd name="T48" fmla="*/ 132 w 175"/>
                    <a:gd name="T49" fmla="*/ 169 h 170"/>
                    <a:gd name="T50" fmla="*/ 138 w 175"/>
                    <a:gd name="T51" fmla="*/ 164 h 170"/>
                    <a:gd name="T52" fmla="*/ 143 w 175"/>
                    <a:gd name="T53" fmla="*/ 129 h 170"/>
                    <a:gd name="T54" fmla="*/ 149 w 175"/>
                    <a:gd name="T55" fmla="*/ 124 h 170"/>
                    <a:gd name="T56" fmla="*/ 167 w 175"/>
                    <a:gd name="T57" fmla="*/ 126 h 170"/>
                    <a:gd name="T58" fmla="*/ 172 w 175"/>
                    <a:gd name="T59" fmla="*/ 118 h 170"/>
                    <a:gd name="T60" fmla="*/ 106 w 175"/>
                    <a:gd name="T61" fmla="*/ 4 h 170"/>
                    <a:gd name="T62" fmla="*/ 97 w 175"/>
                    <a:gd name="T63" fmla="*/ 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5" h="170">
                      <a:moveTo>
                        <a:pt x="97" y="3"/>
                      </a:moveTo>
                      <a:cubicBezTo>
                        <a:pt x="81" y="18"/>
                        <a:pt x="81" y="18"/>
                        <a:pt x="81" y="18"/>
                      </a:cubicBezTo>
                      <a:cubicBezTo>
                        <a:pt x="77" y="22"/>
                        <a:pt x="71" y="19"/>
                        <a:pt x="71" y="14"/>
                      </a:cubicBezTo>
                      <a:cubicBezTo>
                        <a:pt x="71" y="13"/>
                        <a:pt x="71" y="13"/>
                        <a:pt x="71" y="13"/>
                      </a:cubicBezTo>
                      <a:cubicBezTo>
                        <a:pt x="72" y="10"/>
                        <a:pt x="69" y="7"/>
                        <a:pt x="66" y="7"/>
                      </a:cubicBezTo>
                      <a:cubicBezTo>
                        <a:pt x="63" y="7"/>
                        <a:pt x="63" y="7"/>
                        <a:pt x="63" y="7"/>
                      </a:cubicBezTo>
                      <a:cubicBezTo>
                        <a:pt x="59" y="6"/>
                        <a:pt x="57" y="8"/>
                        <a:pt x="56" y="12"/>
                      </a:cubicBezTo>
                      <a:cubicBezTo>
                        <a:pt x="52" y="46"/>
                        <a:pt x="52" y="46"/>
                        <a:pt x="52" y="46"/>
                      </a:cubicBezTo>
                      <a:cubicBezTo>
                        <a:pt x="52" y="47"/>
                        <a:pt x="51" y="48"/>
                        <a:pt x="50" y="49"/>
                      </a:cubicBezTo>
                      <a:cubicBezTo>
                        <a:pt x="4" y="96"/>
                        <a:pt x="4" y="96"/>
                        <a:pt x="4" y="96"/>
                      </a:cubicBezTo>
                      <a:cubicBezTo>
                        <a:pt x="0" y="99"/>
                        <a:pt x="2" y="105"/>
                        <a:pt x="7" y="106"/>
                      </a:cubicBezTo>
                      <a:cubicBezTo>
                        <a:pt x="24" y="108"/>
                        <a:pt x="24" y="108"/>
                        <a:pt x="24" y="108"/>
                      </a:cubicBezTo>
                      <a:cubicBezTo>
                        <a:pt x="27" y="108"/>
                        <a:pt x="30" y="111"/>
                        <a:pt x="29" y="114"/>
                      </a:cubicBezTo>
                      <a:cubicBezTo>
                        <a:pt x="25" y="150"/>
                        <a:pt x="25" y="150"/>
                        <a:pt x="25" y="150"/>
                      </a:cubicBezTo>
                      <a:cubicBezTo>
                        <a:pt x="24" y="153"/>
                        <a:pt x="27" y="156"/>
                        <a:pt x="30" y="156"/>
                      </a:cubicBezTo>
                      <a:cubicBezTo>
                        <a:pt x="64" y="161"/>
                        <a:pt x="64" y="161"/>
                        <a:pt x="64" y="161"/>
                      </a:cubicBezTo>
                      <a:cubicBezTo>
                        <a:pt x="67" y="161"/>
                        <a:pt x="70" y="159"/>
                        <a:pt x="70" y="156"/>
                      </a:cubicBezTo>
                      <a:cubicBezTo>
                        <a:pt x="74" y="122"/>
                        <a:pt x="74" y="122"/>
                        <a:pt x="74" y="122"/>
                      </a:cubicBezTo>
                      <a:cubicBezTo>
                        <a:pt x="75" y="119"/>
                        <a:pt x="78" y="117"/>
                        <a:pt x="81" y="117"/>
                      </a:cubicBezTo>
                      <a:cubicBezTo>
                        <a:pt x="86" y="118"/>
                        <a:pt x="86" y="118"/>
                        <a:pt x="86" y="118"/>
                      </a:cubicBezTo>
                      <a:cubicBezTo>
                        <a:pt x="92" y="119"/>
                        <a:pt x="92" y="119"/>
                        <a:pt x="92" y="119"/>
                      </a:cubicBezTo>
                      <a:cubicBezTo>
                        <a:pt x="95" y="119"/>
                        <a:pt x="97" y="122"/>
                        <a:pt x="97" y="125"/>
                      </a:cubicBezTo>
                      <a:cubicBezTo>
                        <a:pt x="93" y="159"/>
                        <a:pt x="93" y="159"/>
                        <a:pt x="93" y="159"/>
                      </a:cubicBezTo>
                      <a:cubicBezTo>
                        <a:pt x="92" y="162"/>
                        <a:pt x="95" y="165"/>
                        <a:pt x="98" y="165"/>
                      </a:cubicBezTo>
                      <a:cubicBezTo>
                        <a:pt x="132" y="169"/>
                        <a:pt x="132" y="169"/>
                        <a:pt x="132" y="169"/>
                      </a:cubicBezTo>
                      <a:cubicBezTo>
                        <a:pt x="135" y="170"/>
                        <a:pt x="138" y="167"/>
                        <a:pt x="138" y="164"/>
                      </a:cubicBezTo>
                      <a:cubicBezTo>
                        <a:pt x="143" y="129"/>
                        <a:pt x="143" y="129"/>
                        <a:pt x="143" y="129"/>
                      </a:cubicBezTo>
                      <a:cubicBezTo>
                        <a:pt x="143" y="126"/>
                        <a:pt x="146" y="123"/>
                        <a:pt x="149" y="124"/>
                      </a:cubicBezTo>
                      <a:cubicBezTo>
                        <a:pt x="167" y="126"/>
                        <a:pt x="167" y="126"/>
                        <a:pt x="167" y="126"/>
                      </a:cubicBezTo>
                      <a:cubicBezTo>
                        <a:pt x="171" y="127"/>
                        <a:pt x="175" y="122"/>
                        <a:pt x="172" y="118"/>
                      </a:cubicBezTo>
                      <a:cubicBezTo>
                        <a:pt x="106" y="4"/>
                        <a:pt x="106" y="4"/>
                        <a:pt x="106" y="4"/>
                      </a:cubicBezTo>
                      <a:cubicBezTo>
                        <a:pt x="104" y="0"/>
                        <a:pt x="99" y="0"/>
                        <a:pt x="97" y="3"/>
                      </a:cubicBezTo>
                      <a:close/>
                    </a:path>
                  </a:pathLst>
                </a:custGeom>
                <a:grpFill/>
                <a:ln w="10" cap="flat">
                  <a:solidFill>
                    <a:srgbClr val="FFFFFF"/>
                  </a:solidFill>
                  <a:prstDash val="solid"/>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4" name="Freeform 89">
                  <a:extLst>
                    <a:ext uri="{FF2B5EF4-FFF2-40B4-BE49-F238E27FC236}">
                      <a16:creationId xmlns:a16="http://schemas.microsoft.com/office/drawing/2014/main" id="{7D319152-6E77-4E17-9BA7-5DFC1FDEA360}"/>
                    </a:ext>
                  </a:extLst>
                </p:cNvPr>
                <p:cNvSpPr>
                  <a:spLocks/>
                </p:cNvSpPr>
                <p:nvPr/>
              </p:nvSpPr>
              <p:spPr bwMode="auto">
                <a:xfrm>
                  <a:off x="5813425" y="4938713"/>
                  <a:ext cx="187325" cy="217488"/>
                </a:xfrm>
                <a:custGeom>
                  <a:avLst/>
                  <a:gdLst>
                    <a:gd name="T0" fmla="*/ 118 w 118"/>
                    <a:gd name="T1" fmla="*/ 137 h 137"/>
                    <a:gd name="T2" fmla="*/ 96 w 118"/>
                    <a:gd name="T3" fmla="*/ 67 h 137"/>
                    <a:gd name="T4" fmla="*/ 52 w 118"/>
                    <a:gd name="T5" fmla="*/ 57 h 137"/>
                    <a:gd name="T6" fmla="*/ 26 w 118"/>
                    <a:gd name="T7" fmla="*/ 0 h 137"/>
                    <a:gd name="T8" fmla="*/ 0 w 118"/>
                    <a:gd name="T9" fmla="*/ 26 h 137"/>
                    <a:gd name="T10" fmla="*/ 33 w 118"/>
                    <a:gd name="T11" fmla="*/ 78 h 137"/>
                    <a:gd name="T12" fmla="*/ 82 w 118"/>
                    <a:gd name="T13" fmla="*/ 85 h 137"/>
                    <a:gd name="T14" fmla="*/ 118 w 118"/>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37">
                      <a:moveTo>
                        <a:pt x="118" y="137"/>
                      </a:moveTo>
                      <a:lnTo>
                        <a:pt x="96" y="67"/>
                      </a:lnTo>
                      <a:lnTo>
                        <a:pt x="52" y="57"/>
                      </a:lnTo>
                      <a:lnTo>
                        <a:pt x="26" y="0"/>
                      </a:lnTo>
                      <a:lnTo>
                        <a:pt x="0" y="26"/>
                      </a:lnTo>
                      <a:lnTo>
                        <a:pt x="33" y="78"/>
                      </a:lnTo>
                      <a:lnTo>
                        <a:pt x="82" y="85"/>
                      </a:lnTo>
                      <a:lnTo>
                        <a:pt x="118" y="1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sp>
          <p:nvSpPr>
            <p:cNvPr id="51" name="Isosceles Triangle 50">
              <a:extLst>
                <a:ext uri="{FF2B5EF4-FFF2-40B4-BE49-F238E27FC236}">
                  <a16:creationId xmlns:a16="http://schemas.microsoft.com/office/drawing/2014/main" id="{6A94F435-C620-47E0-A16C-BF5DAFD76C49}"/>
                </a:ext>
              </a:extLst>
            </p:cNvPr>
            <p:cNvSpPr/>
            <p:nvPr/>
          </p:nvSpPr>
          <p:spPr>
            <a:xfrm rot="10800000">
              <a:off x="4523906" y="4480563"/>
              <a:ext cx="271701"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sp>
        <p:nvSpPr>
          <p:cNvPr id="48" name="Oval 47">
            <a:extLst>
              <a:ext uri="{FF2B5EF4-FFF2-40B4-BE49-F238E27FC236}">
                <a16:creationId xmlns:a16="http://schemas.microsoft.com/office/drawing/2014/main" id="{258F4F0C-0C5C-4795-8B2A-E2836EAC95C6}"/>
              </a:ext>
            </a:extLst>
          </p:cNvPr>
          <p:cNvSpPr/>
          <p:nvPr/>
        </p:nvSpPr>
        <p:spPr>
          <a:xfrm>
            <a:off x="4972698" y="450624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49" name="Rectangle 34">
            <a:extLst>
              <a:ext uri="{FF2B5EF4-FFF2-40B4-BE49-F238E27FC236}">
                <a16:creationId xmlns:a16="http://schemas.microsoft.com/office/drawing/2014/main" id="{5398AD5A-7CE8-4920-B8E1-EDDE6872FD31}"/>
              </a:ext>
            </a:extLst>
          </p:cNvPr>
          <p:cNvSpPr txBox="1">
            <a:spLocks/>
          </p:cNvSpPr>
          <p:nvPr/>
        </p:nvSpPr>
        <p:spPr bwMode="auto">
          <a:xfrm>
            <a:off x="4313015" y="4882226"/>
            <a:ext cx="1679575" cy="545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114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pitchFamily="34" charset="0"/>
                <a:ea typeface="MS PGothic" pitchFamily="34" charset="-128"/>
                <a:cs typeface="+mn-cs"/>
              </a:rPr>
              <a:t>Earthquake</a:t>
            </a:r>
          </a:p>
          <a:p>
            <a:pPr marL="0" marR="0" lvl="0" indent="0" algn="ctr" defTabSz="912813" rtl="0" eaLnBrk="1" fontAlgn="base" latinLnBrk="0" hangingPunct="1">
              <a:lnSpc>
                <a:spcPct val="114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pitchFamily="34" charset="0"/>
                <a:ea typeface="MS PGothic" pitchFamily="34" charset="-128"/>
                <a:cs typeface="+mn-cs"/>
              </a:rPr>
              <a:t>“Drop/Cover/Hold”</a:t>
            </a:r>
          </a:p>
        </p:txBody>
      </p:sp>
      <p:sp>
        <p:nvSpPr>
          <p:cNvPr id="46" name="Rectangle 34">
            <a:extLst>
              <a:ext uri="{FF2B5EF4-FFF2-40B4-BE49-F238E27FC236}">
                <a16:creationId xmlns:a16="http://schemas.microsoft.com/office/drawing/2014/main" id="{C49F15F5-1828-4CC2-AAFC-1E6EDAED9E00}"/>
              </a:ext>
            </a:extLst>
          </p:cNvPr>
          <p:cNvSpPr txBox="1">
            <a:spLocks/>
          </p:cNvSpPr>
          <p:nvPr/>
        </p:nvSpPr>
        <p:spPr bwMode="auto">
          <a:xfrm>
            <a:off x="1946032" y="4896512"/>
            <a:ext cx="198146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100000"/>
              </a:lnSpc>
              <a:spcBef>
                <a:spcPct val="6000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Active Shooter</a:t>
            </a:r>
            <a:b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b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“Get Out/ Hide Out/Take Out”</a:t>
            </a:r>
          </a:p>
        </p:txBody>
      </p:sp>
      <p:sp>
        <p:nvSpPr>
          <p:cNvPr id="47" name="Oval 46">
            <a:extLst>
              <a:ext uri="{FF2B5EF4-FFF2-40B4-BE49-F238E27FC236}">
                <a16:creationId xmlns:a16="http://schemas.microsoft.com/office/drawing/2014/main" id="{AA74172A-69AC-429E-872C-A26D07165CBD}"/>
              </a:ext>
            </a:extLst>
          </p:cNvPr>
          <p:cNvSpPr/>
          <p:nvPr/>
        </p:nvSpPr>
        <p:spPr>
          <a:xfrm>
            <a:off x="2750199" y="450624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44" name="Oval 43">
            <a:extLst>
              <a:ext uri="{FF2B5EF4-FFF2-40B4-BE49-F238E27FC236}">
                <a16:creationId xmlns:a16="http://schemas.microsoft.com/office/drawing/2014/main" id="{F784F813-3713-45B6-A25E-36DC4770C218}"/>
              </a:ext>
            </a:extLst>
          </p:cNvPr>
          <p:cNvSpPr/>
          <p:nvPr/>
        </p:nvSpPr>
        <p:spPr>
          <a:xfrm>
            <a:off x="7115398" y="4506243"/>
            <a:ext cx="361950" cy="361950"/>
          </a:xfrm>
          <a:prstGeom prst="ellipse">
            <a:avLst/>
          </a:prstGeom>
          <a:solidFill>
            <a:srgbClr val="92D050"/>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45" name="Rectangle 34">
            <a:extLst>
              <a:ext uri="{FF2B5EF4-FFF2-40B4-BE49-F238E27FC236}">
                <a16:creationId xmlns:a16="http://schemas.microsoft.com/office/drawing/2014/main" id="{D23FC039-8FB1-46FF-974F-92C5A238C659}"/>
              </a:ext>
            </a:extLst>
          </p:cNvPr>
          <p:cNvSpPr txBox="1">
            <a:spLocks/>
          </p:cNvSpPr>
          <p:nvPr/>
        </p:nvSpPr>
        <p:spPr bwMode="auto">
          <a:xfrm>
            <a:off x="6712173" y="4911322"/>
            <a:ext cx="1219200" cy="490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100000"/>
              </a:lnSpc>
              <a:spcBef>
                <a:spcPct val="6000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B050"/>
                </a:solidFill>
                <a:effectLst/>
                <a:uLnTx/>
                <a:uFillTx/>
                <a:latin typeface="Calibri"/>
                <a:ea typeface="MS PGothic" pitchFamily="34" charset="-128"/>
                <a:cs typeface="+mn-cs"/>
              </a:rPr>
              <a:t>Psychological Safety</a:t>
            </a:r>
          </a:p>
        </p:txBody>
      </p:sp>
      <p:grpSp>
        <p:nvGrpSpPr>
          <p:cNvPr id="39" name="Group 38">
            <a:extLst>
              <a:ext uri="{FF2B5EF4-FFF2-40B4-BE49-F238E27FC236}">
                <a16:creationId xmlns:a16="http://schemas.microsoft.com/office/drawing/2014/main" id="{E444A132-4EB9-46BA-B9B8-E72649194E10}"/>
              </a:ext>
            </a:extLst>
          </p:cNvPr>
          <p:cNvGrpSpPr/>
          <p:nvPr/>
        </p:nvGrpSpPr>
        <p:grpSpPr>
          <a:xfrm>
            <a:off x="6715378" y="3249663"/>
            <a:ext cx="1087278" cy="1256069"/>
            <a:chOff x="7480778" y="3428990"/>
            <a:chExt cx="1268491" cy="1488674"/>
          </a:xfrm>
        </p:grpSpPr>
        <p:pic>
          <p:nvPicPr>
            <p:cNvPr id="41" name="Picture 40">
              <a:extLst>
                <a:ext uri="{FF2B5EF4-FFF2-40B4-BE49-F238E27FC236}">
                  <a16:creationId xmlns:a16="http://schemas.microsoft.com/office/drawing/2014/main" id="{D7BB9D75-E2FB-4C10-8179-BE2DFCC0F3C3}"/>
                </a:ext>
              </a:extLst>
            </p:cNvPr>
            <p:cNvPicPr>
              <a:picLocks noChangeAspect="1"/>
            </p:cNvPicPr>
            <p:nvPr/>
          </p:nvPicPr>
          <p:blipFill>
            <a:blip r:embed="rId4">
              <a:duotone>
                <a:prstClr val="black"/>
                <a:srgbClr val="92D050">
                  <a:tint val="45000"/>
                  <a:satMod val="400000"/>
                </a:srgbClr>
              </a:duotone>
              <a:extLst>
                <a:ext uri="{BEBA8EAE-BF5A-486C-A8C5-ECC9F3942E4B}">
                  <a14:imgProps xmlns:a14="http://schemas.microsoft.com/office/drawing/2010/main">
                    <a14:imgLayer r:embed="rId5">
                      <a14:imgEffect>
                        <a14:backgroundRemoval t="0" b="100000" l="0" r="100000">
                          <a14:foregroundMark x1="14754" y1="15084" x2="14754" y2="15084"/>
                          <a14:foregroundMark x1="8743" y1="25140" x2="8743" y2="25140"/>
                          <a14:foregroundMark x1="7104" y1="34078" x2="7104" y2="34078"/>
                          <a14:foregroundMark x1="28415" y1="16760" x2="28415" y2="16760"/>
                          <a14:foregroundMark x1="22951" y1="26257" x2="22951" y2="26257"/>
                          <a14:foregroundMark x1="16393" y1="25698" x2="16393" y2="25698"/>
                          <a14:foregroundMark x1="15301" y1="33520" x2="15301" y2="33520"/>
                          <a14:foregroundMark x1="33880" y1="9497" x2="33880" y2="9497"/>
                          <a14:foregroundMark x1="24590" y1="4469" x2="24590" y2="4469"/>
                          <a14:foregroundMark x1="38798" y1="14525" x2="38798" y2="14525"/>
                          <a14:foregroundMark x1="46448" y1="13966" x2="46448" y2="13966"/>
                          <a14:foregroundMark x1="49180" y1="3911" x2="49180" y2="3911"/>
                          <a14:foregroundMark x1="41530" y1="3352" x2="41530" y2="3352"/>
                          <a14:foregroundMark x1="42077" y1="18436" x2="42077" y2="18436"/>
                          <a14:foregroundMark x1="39344" y1="25698" x2="39344" y2="25698"/>
                          <a14:foregroundMark x1="42077" y1="26257" x2="42077" y2="26257"/>
                          <a14:foregroundMark x1="49180" y1="26257" x2="49180" y2="26257"/>
                          <a14:foregroundMark x1="38251" y1="33520" x2="38251" y2="33520"/>
                          <a14:foregroundMark x1="33333" y1="31285" x2="33333" y2="31285"/>
                          <a14:foregroundMark x1="27322" y1="35196" x2="27322" y2="35196"/>
                          <a14:foregroundMark x1="47541" y1="39106" x2="47541" y2="39106"/>
                          <a14:foregroundMark x1="53005" y1="40223" x2="53005" y2="40223"/>
                          <a14:foregroundMark x1="55738" y1="10056" x2="55738" y2="10056"/>
                          <a14:foregroundMark x1="62842" y1="4469" x2="62842" y2="4469"/>
                          <a14:foregroundMark x1="71585" y1="8380" x2="71585" y2="8380"/>
                          <a14:foregroundMark x1="76503" y1="8939" x2="76503" y2="8939"/>
                          <a14:foregroundMark x1="80328" y1="15642" x2="80328" y2="15642"/>
                          <a14:foregroundMark x1="84699" y1="24022" x2="84699" y2="24022"/>
                          <a14:foregroundMark x1="87432" y1="35196" x2="87432" y2="35196"/>
                          <a14:foregroundMark x1="83607" y1="36872" x2="83607" y2="36872"/>
                          <a14:foregroundMark x1="79235" y1="31844" x2="79235" y2="31844"/>
                          <a14:foregroundMark x1="68306" y1="31844" x2="68306" y2="31844"/>
                          <a14:foregroundMark x1="68306" y1="18436" x2="68306" y2="18436"/>
                          <a14:foregroundMark x1="65574" y1="15084" x2="65574" y2="15084"/>
                          <a14:foregroundMark x1="55738" y1="20670" x2="55738" y2="20670"/>
                          <a14:foregroundMark x1="56284" y1="29050" x2="56284" y2="29050"/>
                          <a14:foregroundMark x1="46448" y1="43575" x2="46448" y2="43575"/>
                          <a14:foregroundMark x1="27869" y1="8939" x2="27869" y2="8939"/>
                          <a14:foregroundMark x1="11475" y1="17877" x2="11475" y2="17877"/>
                          <a14:foregroundMark x1="69399" y1="3352" x2="69399" y2="3352"/>
                        </a14:backgroundRemoval>
                      </a14:imgEffect>
                    </a14:imgLayer>
                  </a14:imgProps>
                </a:ext>
                <a:ext uri="{28A0092B-C50C-407E-A947-70E740481C1C}">
                  <a14:useLocalDpi xmlns:a14="http://schemas.microsoft.com/office/drawing/2010/main" val="0"/>
                </a:ext>
              </a:extLst>
            </a:blip>
            <a:stretch>
              <a:fillRect/>
            </a:stretch>
          </p:blipFill>
          <p:spPr>
            <a:xfrm>
              <a:off x="7710694" y="3633987"/>
              <a:ext cx="868681" cy="849692"/>
            </a:xfrm>
            <a:prstGeom prst="rect">
              <a:avLst/>
            </a:prstGeom>
          </p:spPr>
        </p:pic>
        <p:sp>
          <p:nvSpPr>
            <p:cNvPr id="42" name="Isosceles Triangle 41">
              <a:extLst>
                <a:ext uri="{FF2B5EF4-FFF2-40B4-BE49-F238E27FC236}">
                  <a16:creationId xmlns:a16="http://schemas.microsoft.com/office/drawing/2014/main" id="{1B112B79-CC05-4AC8-8B84-77A4DBC5F720}"/>
                </a:ext>
              </a:extLst>
            </p:cNvPr>
            <p:cNvSpPr/>
            <p:nvPr/>
          </p:nvSpPr>
          <p:spPr>
            <a:xfrm rot="10800000">
              <a:off x="8017505" y="4678903"/>
              <a:ext cx="271700" cy="238761"/>
            </a:xfrm>
            <a:prstGeom prst="triangle">
              <a:avLst/>
            </a:prstGeom>
            <a:solidFill>
              <a:srgbClr val="00B050"/>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43" name="Donut 109">
              <a:extLst>
                <a:ext uri="{FF2B5EF4-FFF2-40B4-BE49-F238E27FC236}">
                  <a16:creationId xmlns:a16="http://schemas.microsoft.com/office/drawing/2014/main" id="{D5F2D4B2-D576-4AAF-90D5-554FB8AE7342}"/>
                </a:ext>
              </a:extLst>
            </p:cNvPr>
            <p:cNvSpPr/>
            <p:nvPr/>
          </p:nvSpPr>
          <p:spPr>
            <a:xfrm>
              <a:off x="7480778" y="3428990"/>
              <a:ext cx="1268491" cy="1288626"/>
            </a:xfrm>
            <a:prstGeom prst="donut">
              <a:avLst>
                <a:gd name="adj" fmla="val 8889"/>
              </a:avLst>
            </a:prstGeom>
            <a:solidFill>
              <a:srgbClr val="00B050"/>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sp>
        <p:nvSpPr>
          <p:cNvPr id="40" name="TextBox 39">
            <a:extLst>
              <a:ext uri="{FF2B5EF4-FFF2-40B4-BE49-F238E27FC236}">
                <a16:creationId xmlns:a16="http://schemas.microsoft.com/office/drawing/2014/main" id="{6E8898F5-6FCB-4F0B-B13C-BC26FF797749}"/>
              </a:ext>
            </a:extLst>
          </p:cNvPr>
          <p:cNvSpPr txBox="1"/>
          <p:nvPr/>
        </p:nvSpPr>
        <p:spPr>
          <a:xfrm>
            <a:off x="8127963" y="3354758"/>
            <a:ext cx="2458990" cy="2140066"/>
          </a:xfrm>
          <a:prstGeom prst="rect">
            <a:avLst/>
          </a:prstGeom>
          <a:solidFill>
            <a:srgbClr val="FFFFFF"/>
          </a:solidFill>
          <a:ln w="57150">
            <a:solidFill>
              <a:srgbClr val="00B050"/>
            </a:solidFill>
          </a:ln>
        </p:spPr>
        <p:txBody>
          <a:bodyPr wrap="square" lIns="96582" tIns="48290" rIns="96582" bIns="48290">
            <a:spAutoFit/>
          </a:bodyPr>
          <a:lstStyle/>
          <a:p>
            <a:pPr marL="270267" marR="0" lvl="0" indent="-270267" algn="l" defTabSz="914400" rtl="0" eaLnBrk="1" fontAlgn="base" latinLnBrk="0" hangingPunct="1">
              <a:lnSpc>
                <a:spcPct val="100000"/>
              </a:lnSpc>
              <a:spcBef>
                <a:spcPct val="0"/>
              </a:spcBef>
              <a:spcAft>
                <a:spcPts val="1135"/>
              </a:spcAft>
              <a:buClrTx/>
              <a:buSzTx/>
              <a:buFont typeface="Wingdings" panose="05000000000000000000" pitchFamily="2" charset="2"/>
              <a:buChar char="Ø"/>
              <a:tabLst/>
              <a:defRPr/>
            </a:pPr>
            <a:r>
              <a:rPr kumimoji="0" lang="en-US" sz="1500" b="0" i="0" u="none" strike="noStrike" kern="0" cap="none" spc="0" normalizeH="0" baseline="0" noProof="0">
                <a:ln>
                  <a:noFill/>
                </a:ln>
                <a:solidFill>
                  <a:srgbClr val="00B050"/>
                </a:solidFill>
                <a:effectLst/>
                <a:uLnTx/>
                <a:uFillTx/>
                <a:latin typeface="Arial"/>
                <a:ea typeface="ＭＳ Ｐゴシック"/>
                <a:cs typeface="+mn-cs"/>
              </a:rPr>
              <a:t>I’m cared for as a human being</a:t>
            </a:r>
          </a:p>
          <a:p>
            <a:pPr marL="270267" marR="0" lvl="0" indent="-270267" algn="l" defTabSz="914400" rtl="0" eaLnBrk="1" fontAlgn="base" latinLnBrk="0" hangingPunct="1">
              <a:lnSpc>
                <a:spcPct val="100000"/>
              </a:lnSpc>
              <a:spcBef>
                <a:spcPct val="0"/>
              </a:spcBef>
              <a:spcAft>
                <a:spcPts val="1135"/>
              </a:spcAft>
              <a:buClrTx/>
              <a:buSzTx/>
              <a:buFont typeface="Wingdings" panose="05000000000000000000" pitchFamily="2" charset="2"/>
              <a:buChar char="Ø"/>
              <a:tabLst/>
              <a:defRPr/>
            </a:pPr>
            <a:r>
              <a:rPr kumimoji="0" lang="en-US" sz="1500" b="0" i="0" u="none" strike="noStrike" kern="0" cap="none" spc="0" normalizeH="0" baseline="0" noProof="0">
                <a:ln>
                  <a:noFill/>
                </a:ln>
                <a:solidFill>
                  <a:srgbClr val="00B050"/>
                </a:solidFill>
                <a:effectLst/>
                <a:uLnTx/>
                <a:uFillTx/>
                <a:latin typeface="Arial"/>
                <a:ea typeface="ＭＳ Ｐゴシック"/>
                <a:cs typeface="+mn-cs"/>
              </a:rPr>
              <a:t>People have my back</a:t>
            </a:r>
          </a:p>
          <a:p>
            <a:pPr marL="270267" marR="0" lvl="0" indent="-270267" algn="l" defTabSz="914400" rtl="0" eaLnBrk="1" fontAlgn="base" latinLnBrk="0" hangingPunct="1">
              <a:lnSpc>
                <a:spcPct val="100000"/>
              </a:lnSpc>
              <a:spcBef>
                <a:spcPct val="0"/>
              </a:spcBef>
              <a:spcAft>
                <a:spcPts val="1135"/>
              </a:spcAft>
              <a:buClrTx/>
              <a:buSzTx/>
              <a:buFont typeface="Wingdings" panose="05000000000000000000" pitchFamily="2" charset="2"/>
              <a:buChar char="Ø"/>
              <a:tabLst/>
              <a:defRPr/>
            </a:pPr>
            <a:r>
              <a:rPr kumimoji="0" lang="en-US" sz="1500" b="0" i="0" u="none" strike="noStrike" kern="0" cap="none" spc="0" normalizeH="0" baseline="0" noProof="0">
                <a:ln>
                  <a:noFill/>
                </a:ln>
                <a:solidFill>
                  <a:srgbClr val="00B050"/>
                </a:solidFill>
                <a:effectLst/>
                <a:uLnTx/>
                <a:uFillTx/>
                <a:latin typeface="Arial"/>
                <a:ea typeface="ＭＳ Ｐゴシック"/>
                <a:cs typeface="+mn-cs"/>
              </a:rPr>
              <a:t>I know new ideas are safe to try</a:t>
            </a:r>
          </a:p>
          <a:p>
            <a:pPr marL="270267" marR="0" lvl="0" indent="-270267" algn="l" defTabSz="914400" rtl="0" eaLnBrk="1" fontAlgn="base" latinLnBrk="0" hangingPunct="1">
              <a:lnSpc>
                <a:spcPct val="100000"/>
              </a:lnSpc>
              <a:spcBef>
                <a:spcPct val="0"/>
              </a:spcBef>
              <a:spcAft>
                <a:spcPts val="1135"/>
              </a:spcAft>
              <a:buClrTx/>
              <a:buSzTx/>
              <a:buFont typeface="Wingdings" panose="05000000000000000000" pitchFamily="2" charset="2"/>
              <a:buChar char="Ø"/>
              <a:tabLst/>
              <a:defRPr/>
            </a:pPr>
            <a:r>
              <a:rPr kumimoji="0" lang="en-US" sz="1500" b="0" i="0" u="none" strike="noStrike" kern="0" cap="none" spc="0" normalizeH="0" baseline="0" noProof="0">
                <a:ln>
                  <a:noFill/>
                </a:ln>
                <a:solidFill>
                  <a:srgbClr val="00B050"/>
                </a:solidFill>
                <a:effectLst/>
                <a:uLnTx/>
                <a:uFillTx/>
                <a:latin typeface="Arial"/>
                <a:ea typeface="ＭＳ Ｐゴシック"/>
                <a:cs typeface="+mn-cs"/>
              </a:rPr>
              <a:t>I’m not attacked for my ideas</a:t>
            </a:r>
          </a:p>
        </p:txBody>
      </p:sp>
      <p:pic>
        <p:nvPicPr>
          <p:cNvPr id="3" name="Graphic 2" descr="Map with pin">
            <a:extLst>
              <a:ext uri="{FF2B5EF4-FFF2-40B4-BE49-F238E27FC236}">
                <a16:creationId xmlns:a16="http://schemas.microsoft.com/office/drawing/2014/main" id="{ED50AA15-3CE2-45A4-93BF-A6C5579842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36895" y="1000583"/>
            <a:ext cx="814689" cy="814689"/>
          </a:xfrm>
          <a:prstGeom prst="rect">
            <a:avLst/>
          </a:prstGeom>
        </p:spPr>
      </p:pic>
      <p:sp>
        <p:nvSpPr>
          <p:cNvPr id="130" name="Rectangle 34">
            <a:extLst>
              <a:ext uri="{FF2B5EF4-FFF2-40B4-BE49-F238E27FC236}">
                <a16:creationId xmlns:a16="http://schemas.microsoft.com/office/drawing/2014/main" id="{0763E79F-1BE5-479F-8901-4C4234BA04D1}"/>
              </a:ext>
            </a:extLst>
          </p:cNvPr>
          <p:cNvSpPr txBox="1">
            <a:spLocks/>
          </p:cNvSpPr>
          <p:nvPr/>
        </p:nvSpPr>
        <p:spPr bwMode="auto">
          <a:xfrm>
            <a:off x="3495380" y="2543431"/>
            <a:ext cx="1374775"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Share Your Location in Chat</a:t>
            </a:r>
          </a:p>
        </p:txBody>
      </p:sp>
      <p:pic>
        <p:nvPicPr>
          <p:cNvPr id="5" name="Graphic 4" descr="Confused person">
            <a:extLst>
              <a:ext uri="{FF2B5EF4-FFF2-40B4-BE49-F238E27FC236}">
                <a16:creationId xmlns:a16="http://schemas.microsoft.com/office/drawing/2014/main" id="{586179CB-8DDD-4AC4-9C7A-B9B2EBFF76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19537" y="1060395"/>
            <a:ext cx="744278" cy="744278"/>
          </a:xfrm>
          <a:prstGeom prst="rect">
            <a:avLst/>
          </a:prstGeom>
        </p:spPr>
      </p:pic>
      <p:sp>
        <p:nvSpPr>
          <p:cNvPr id="131" name="Rectangle 34">
            <a:extLst>
              <a:ext uri="{FF2B5EF4-FFF2-40B4-BE49-F238E27FC236}">
                <a16:creationId xmlns:a16="http://schemas.microsoft.com/office/drawing/2014/main" id="{A2D9447C-F51A-4C3F-BD10-D3CAD25AB6A5}"/>
              </a:ext>
            </a:extLst>
          </p:cNvPr>
          <p:cNvSpPr txBox="1">
            <a:spLocks/>
          </p:cNvSpPr>
          <p:nvPr/>
        </p:nvSpPr>
        <p:spPr bwMode="auto">
          <a:xfrm>
            <a:off x="5364039" y="2543431"/>
            <a:ext cx="1374775"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Assign a</a:t>
            </a:r>
            <a:b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b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30/30 Lead</a:t>
            </a:r>
          </a:p>
        </p:txBody>
      </p:sp>
      <p:sp>
        <p:nvSpPr>
          <p:cNvPr id="132" name="Rectangle 34">
            <a:extLst>
              <a:ext uri="{FF2B5EF4-FFF2-40B4-BE49-F238E27FC236}">
                <a16:creationId xmlns:a16="http://schemas.microsoft.com/office/drawing/2014/main" id="{5C7D6F09-04D4-4B16-AD3E-F8707967DBBE}"/>
              </a:ext>
            </a:extLst>
          </p:cNvPr>
          <p:cNvSpPr txBox="1">
            <a:spLocks/>
          </p:cNvSpPr>
          <p:nvPr/>
        </p:nvSpPr>
        <p:spPr bwMode="auto">
          <a:xfrm>
            <a:off x="7320776" y="2543431"/>
            <a:ext cx="1374775"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Ensure Proper Ergonomics</a:t>
            </a:r>
          </a:p>
        </p:txBody>
      </p:sp>
      <p:pic>
        <p:nvPicPr>
          <p:cNvPr id="9" name="Graphic 8" descr="Medical">
            <a:extLst>
              <a:ext uri="{FF2B5EF4-FFF2-40B4-BE49-F238E27FC236}">
                <a16:creationId xmlns:a16="http://schemas.microsoft.com/office/drawing/2014/main" id="{52E99E54-1793-430A-A7B3-5EDE6FB37A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13451" y="991934"/>
            <a:ext cx="914400" cy="914400"/>
          </a:xfrm>
          <a:prstGeom prst="rect">
            <a:avLst/>
          </a:prstGeom>
        </p:spPr>
      </p:pic>
      <p:grpSp>
        <p:nvGrpSpPr>
          <p:cNvPr id="10" name="Graphic 6" descr="Person eating">
            <a:extLst>
              <a:ext uri="{FF2B5EF4-FFF2-40B4-BE49-F238E27FC236}">
                <a16:creationId xmlns:a16="http://schemas.microsoft.com/office/drawing/2014/main" id="{04BBA7BA-075F-40CB-B611-D0FE3B05AC2C}"/>
              </a:ext>
            </a:extLst>
          </p:cNvPr>
          <p:cNvGrpSpPr/>
          <p:nvPr/>
        </p:nvGrpSpPr>
        <p:grpSpPr>
          <a:xfrm>
            <a:off x="7704985" y="1118507"/>
            <a:ext cx="606355" cy="586769"/>
            <a:chOff x="6148013" y="1196404"/>
            <a:chExt cx="723900" cy="695325"/>
          </a:xfrm>
        </p:grpSpPr>
        <p:sp>
          <p:nvSpPr>
            <p:cNvPr id="11" name="Freeform: Shape 10">
              <a:extLst>
                <a:ext uri="{FF2B5EF4-FFF2-40B4-BE49-F238E27FC236}">
                  <a16:creationId xmlns:a16="http://schemas.microsoft.com/office/drawing/2014/main" id="{785A1720-A98A-4FA4-A362-438C3889FE4E}"/>
                </a:ext>
              </a:extLst>
            </p:cNvPr>
            <p:cNvSpPr/>
            <p:nvPr/>
          </p:nvSpPr>
          <p:spPr>
            <a:xfrm>
              <a:off x="6395663" y="1520254"/>
              <a:ext cx="476250" cy="371475"/>
            </a:xfrm>
            <a:custGeom>
              <a:avLst/>
              <a:gdLst>
                <a:gd name="connsiteX0" fmla="*/ 447675 w 476250"/>
                <a:gd name="connsiteY0" fmla="*/ 0 h 371475"/>
                <a:gd name="connsiteX1" fmla="*/ 28575 w 476250"/>
                <a:gd name="connsiteY1" fmla="*/ 0 h 371475"/>
                <a:gd name="connsiteX2" fmla="*/ 0 w 476250"/>
                <a:gd name="connsiteY2" fmla="*/ 28575 h 371475"/>
                <a:gd name="connsiteX3" fmla="*/ 28575 w 476250"/>
                <a:gd name="connsiteY3" fmla="*/ 57150 h 371475"/>
                <a:gd name="connsiteX4" fmla="*/ 209550 w 476250"/>
                <a:gd name="connsiteY4" fmla="*/ 57150 h 371475"/>
                <a:gd name="connsiteX5" fmla="*/ 209550 w 476250"/>
                <a:gd name="connsiteY5" fmla="*/ 314325 h 371475"/>
                <a:gd name="connsiteX6" fmla="*/ 152400 w 476250"/>
                <a:gd name="connsiteY6" fmla="*/ 314325 h 371475"/>
                <a:gd name="connsiteX7" fmla="*/ 152400 w 476250"/>
                <a:gd name="connsiteY7" fmla="*/ 371475 h 371475"/>
                <a:gd name="connsiteX8" fmla="*/ 323850 w 476250"/>
                <a:gd name="connsiteY8" fmla="*/ 371475 h 371475"/>
                <a:gd name="connsiteX9" fmla="*/ 323850 w 476250"/>
                <a:gd name="connsiteY9" fmla="*/ 314325 h 371475"/>
                <a:gd name="connsiteX10" fmla="*/ 266700 w 476250"/>
                <a:gd name="connsiteY10" fmla="*/ 314325 h 371475"/>
                <a:gd name="connsiteX11" fmla="*/ 266700 w 476250"/>
                <a:gd name="connsiteY11" fmla="*/ 57150 h 371475"/>
                <a:gd name="connsiteX12" fmla="*/ 447675 w 476250"/>
                <a:gd name="connsiteY12" fmla="*/ 57150 h 371475"/>
                <a:gd name="connsiteX13" fmla="*/ 476250 w 476250"/>
                <a:gd name="connsiteY13" fmla="*/ 28575 h 371475"/>
                <a:gd name="connsiteX14" fmla="*/ 447675 w 476250"/>
                <a:gd name="connsiteY14" fmla="*/ 0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6250" h="371475">
                  <a:moveTo>
                    <a:pt x="447675" y="0"/>
                  </a:moveTo>
                  <a:lnTo>
                    <a:pt x="28575" y="0"/>
                  </a:lnTo>
                  <a:cubicBezTo>
                    <a:pt x="12793" y="0"/>
                    <a:pt x="0" y="12793"/>
                    <a:pt x="0" y="28575"/>
                  </a:cubicBezTo>
                  <a:cubicBezTo>
                    <a:pt x="0" y="44357"/>
                    <a:pt x="12793" y="57150"/>
                    <a:pt x="28575" y="57150"/>
                  </a:cubicBezTo>
                  <a:lnTo>
                    <a:pt x="209550" y="57150"/>
                  </a:lnTo>
                  <a:lnTo>
                    <a:pt x="209550" y="314325"/>
                  </a:lnTo>
                  <a:lnTo>
                    <a:pt x="152400" y="314325"/>
                  </a:lnTo>
                  <a:lnTo>
                    <a:pt x="152400" y="371475"/>
                  </a:lnTo>
                  <a:lnTo>
                    <a:pt x="323850" y="371475"/>
                  </a:lnTo>
                  <a:lnTo>
                    <a:pt x="323850" y="314325"/>
                  </a:lnTo>
                  <a:lnTo>
                    <a:pt x="266700" y="314325"/>
                  </a:lnTo>
                  <a:lnTo>
                    <a:pt x="266700" y="57150"/>
                  </a:lnTo>
                  <a:lnTo>
                    <a:pt x="447675" y="57150"/>
                  </a:lnTo>
                  <a:cubicBezTo>
                    <a:pt x="463457" y="57150"/>
                    <a:pt x="476250" y="44357"/>
                    <a:pt x="476250" y="28575"/>
                  </a:cubicBezTo>
                  <a:cubicBezTo>
                    <a:pt x="476250" y="12793"/>
                    <a:pt x="463457" y="0"/>
                    <a:pt x="447675" y="0"/>
                  </a:cubicBezTo>
                  <a:close/>
                </a:path>
              </a:pathLst>
            </a:custGeom>
            <a:solidFill>
              <a:srgbClr val="0089C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0E5C9D5C-E44E-443F-99C6-7A41E7080217}"/>
                </a:ext>
              </a:extLst>
            </p:cNvPr>
            <p:cNvSpPr/>
            <p:nvPr/>
          </p:nvSpPr>
          <p:spPr>
            <a:xfrm>
              <a:off x="6148013" y="1415479"/>
              <a:ext cx="266700" cy="476250"/>
            </a:xfrm>
            <a:custGeom>
              <a:avLst/>
              <a:gdLst>
                <a:gd name="connsiteX0" fmla="*/ 238125 w 266700"/>
                <a:gd name="connsiteY0" fmla="*/ 285750 h 476250"/>
                <a:gd name="connsiteX1" fmla="*/ 57150 w 266700"/>
                <a:gd name="connsiteY1" fmla="*/ 285750 h 476250"/>
                <a:gd name="connsiteX2" fmla="*/ 57150 w 266700"/>
                <a:gd name="connsiteY2" fmla="*/ 28575 h 476250"/>
                <a:gd name="connsiteX3" fmla="*/ 28575 w 266700"/>
                <a:gd name="connsiteY3" fmla="*/ 0 h 476250"/>
                <a:gd name="connsiteX4" fmla="*/ 0 w 266700"/>
                <a:gd name="connsiteY4" fmla="*/ 28575 h 476250"/>
                <a:gd name="connsiteX5" fmla="*/ 0 w 266700"/>
                <a:gd name="connsiteY5" fmla="*/ 314325 h 476250"/>
                <a:gd name="connsiteX6" fmla="*/ 28575 w 266700"/>
                <a:gd name="connsiteY6" fmla="*/ 342900 h 476250"/>
                <a:gd name="connsiteX7" fmla="*/ 104775 w 266700"/>
                <a:gd name="connsiteY7" fmla="*/ 342900 h 476250"/>
                <a:gd name="connsiteX8" fmla="*/ 104775 w 266700"/>
                <a:gd name="connsiteY8" fmla="*/ 419100 h 476250"/>
                <a:gd name="connsiteX9" fmla="*/ 47625 w 266700"/>
                <a:gd name="connsiteY9" fmla="*/ 419100 h 476250"/>
                <a:gd name="connsiteX10" fmla="*/ 47625 w 266700"/>
                <a:gd name="connsiteY10" fmla="*/ 476250 h 476250"/>
                <a:gd name="connsiteX11" fmla="*/ 219075 w 266700"/>
                <a:gd name="connsiteY11" fmla="*/ 476250 h 476250"/>
                <a:gd name="connsiteX12" fmla="*/ 219075 w 266700"/>
                <a:gd name="connsiteY12" fmla="*/ 419100 h 476250"/>
                <a:gd name="connsiteX13" fmla="*/ 161925 w 266700"/>
                <a:gd name="connsiteY13" fmla="*/ 419100 h 476250"/>
                <a:gd name="connsiteX14" fmla="*/ 161925 w 266700"/>
                <a:gd name="connsiteY14" fmla="*/ 342900 h 476250"/>
                <a:gd name="connsiteX15" fmla="*/ 238125 w 266700"/>
                <a:gd name="connsiteY15" fmla="*/ 342900 h 476250"/>
                <a:gd name="connsiteX16" fmla="*/ 266700 w 266700"/>
                <a:gd name="connsiteY16" fmla="*/ 314325 h 476250"/>
                <a:gd name="connsiteX17" fmla="*/ 238125 w 266700"/>
                <a:gd name="connsiteY17" fmla="*/ 285750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6700" h="476250">
                  <a:moveTo>
                    <a:pt x="238125" y="285750"/>
                  </a:moveTo>
                  <a:lnTo>
                    <a:pt x="57150" y="285750"/>
                  </a:lnTo>
                  <a:lnTo>
                    <a:pt x="57150" y="28575"/>
                  </a:lnTo>
                  <a:cubicBezTo>
                    <a:pt x="57150" y="12793"/>
                    <a:pt x="44357" y="0"/>
                    <a:pt x="28575" y="0"/>
                  </a:cubicBezTo>
                  <a:cubicBezTo>
                    <a:pt x="12793" y="0"/>
                    <a:pt x="0" y="12793"/>
                    <a:pt x="0" y="28575"/>
                  </a:cubicBezTo>
                  <a:lnTo>
                    <a:pt x="0" y="314325"/>
                  </a:lnTo>
                  <a:cubicBezTo>
                    <a:pt x="0" y="330107"/>
                    <a:pt x="12793" y="342900"/>
                    <a:pt x="28575" y="342900"/>
                  </a:cubicBezTo>
                  <a:lnTo>
                    <a:pt x="104775" y="342900"/>
                  </a:lnTo>
                  <a:lnTo>
                    <a:pt x="104775" y="419100"/>
                  </a:lnTo>
                  <a:lnTo>
                    <a:pt x="47625" y="419100"/>
                  </a:lnTo>
                  <a:lnTo>
                    <a:pt x="47625" y="476250"/>
                  </a:lnTo>
                  <a:lnTo>
                    <a:pt x="219075" y="476250"/>
                  </a:lnTo>
                  <a:lnTo>
                    <a:pt x="219075" y="419100"/>
                  </a:lnTo>
                  <a:lnTo>
                    <a:pt x="161925" y="419100"/>
                  </a:lnTo>
                  <a:lnTo>
                    <a:pt x="161925" y="342900"/>
                  </a:lnTo>
                  <a:lnTo>
                    <a:pt x="238125" y="342900"/>
                  </a:lnTo>
                  <a:cubicBezTo>
                    <a:pt x="253907" y="342900"/>
                    <a:pt x="266700" y="330107"/>
                    <a:pt x="266700" y="314325"/>
                  </a:cubicBezTo>
                  <a:cubicBezTo>
                    <a:pt x="266700" y="298543"/>
                    <a:pt x="253907" y="285750"/>
                    <a:pt x="238125" y="285750"/>
                  </a:cubicBezTo>
                  <a:close/>
                </a:path>
              </a:pathLst>
            </a:custGeom>
            <a:solidFill>
              <a:srgbClr val="0089C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393BAB2F-E20A-45D8-BDF5-0565E16AB937}"/>
                </a:ext>
              </a:extLst>
            </p:cNvPr>
            <p:cNvSpPr/>
            <p:nvPr/>
          </p:nvSpPr>
          <p:spPr>
            <a:xfrm>
              <a:off x="6233733" y="1353218"/>
              <a:ext cx="295275" cy="514350"/>
            </a:xfrm>
            <a:custGeom>
              <a:avLst/>
              <a:gdLst>
                <a:gd name="connsiteX0" fmla="*/ 156691 w 295275"/>
                <a:gd name="connsiteY0" fmla="*/ 132175 h 514350"/>
                <a:gd name="connsiteX1" fmla="*/ 175741 w 295275"/>
                <a:gd name="connsiteY1" fmla="*/ 138461 h 514350"/>
                <a:gd name="connsiteX2" fmla="*/ 270991 w 295275"/>
                <a:gd name="connsiteY2" fmla="*/ 138461 h 514350"/>
                <a:gd name="connsiteX3" fmla="*/ 304329 w 295275"/>
                <a:gd name="connsiteY3" fmla="*/ 105124 h 514350"/>
                <a:gd name="connsiteX4" fmla="*/ 270991 w 295275"/>
                <a:gd name="connsiteY4" fmla="*/ 71786 h 514350"/>
                <a:gd name="connsiteX5" fmla="*/ 186981 w 295275"/>
                <a:gd name="connsiteY5" fmla="*/ 71786 h 514350"/>
                <a:gd name="connsiteX6" fmla="*/ 111829 w 295275"/>
                <a:gd name="connsiteY6" fmla="*/ 17398 h 514350"/>
                <a:gd name="connsiteX7" fmla="*/ 60108 w 295275"/>
                <a:gd name="connsiteY7" fmla="*/ 349 h 514350"/>
                <a:gd name="connsiteX8" fmla="*/ 5 w 295275"/>
                <a:gd name="connsiteY8" fmla="*/ 68643 h 514350"/>
                <a:gd name="connsiteX9" fmla="*/ 5 w 295275"/>
                <a:gd name="connsiteY9" fmla="*/ 252761 h 514350"/>
                <a:gd name="connsiteX10" fmla="*/ 66680 w 295275"/>
                <a:gd name="connsiteY10" fmla="*/ 319436 h 514350"/>
                <a:gd name="connsiteX11" fmla="*/ 219080 w 295275"/>
                <a:gd name="connsiteY11" fmla="*/ 319436 h 514350"/>
                <a:gd name="connsiteX12" fmla="*/ 219080 w 295275"/>
                <a:gd name="connsiteY12" fmla="*/ 486124 h 514350"/>
                <a:gd name="connsiteX13" fmla="*/ 252418 w 295275"/>
                <a:gd name="connsiteY13" fmla="*/ 519461 h 514350"/>
                <a:gd name="connsiteX14" fmla="*/ 285755 w 295275"/>
                <a:gd name="connsiteY14" fmla="*/ 486124 h 514350"/>
                <a:gd name="connsiteX15" fmla="*/ 285755 w 295275"/>
                <a:gd name="connsiteY15" fmla="*/ 286099 h 514350"/>
                <a:gd name="connsiteX16" fmla="*/ 252418 w 295275"/>
                <a:gd name="connsiteY16" fmla="*/ 252761 h 514350"/>
                <a:gd name="connsiteX17" fmla="*/ 133355 w 295275"/>
                <a:gd name="connsiteY17" fmla="*/ 252761 h 514350"/>
                <a:gd name="connsiteX18" fmla="*/ 133355 w 295275"/>
                <a:gd name="connsiteY18" fmla="*/ 11522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5275" h="514350">
                  <a:moveTo>
                    <a:pt x="156691" y="132175"/>
                  </a:moveTo>
                  <a:cubicBezTo>
                    <a:pt x="162245" y="136176"/>
                    <a:pt x="168897" y="138372"/>
                    <a:pt x="175741" y="138461"/>
                  </a:cubicBezTo>
                  <a:lnTo>
                    <a:pt x="270991" y="138461"/>
                  </a:lnTo>
                  <a:cubicBezTo>
                    <a:pt x="289403" y="138461"/>
                    <a:pt x="304329" y="123535"/>
                    <a:pt x="304329" y="105124"/>
                  </a:cubicBezTo>
                  <a:cubicBezTo>
                    <a:pt x="304329" y="86712"/>
                    <a:pt x="289403" y="71786"/>
                    <a:pt x="270991" y="71786"/>
                  </a:cubicBezTo>
                  <a:lnTo>
                    <a:pt x="186981" y="71786"/>
                  </a:lnTo>
                  <a:lnTo>
                    <a:pt x="111829" y="17398"/>
                  </a:lnTo>
                  <a:cubicBezTo>
                    <a:pt x="97801" y="4613"/>
                    <a:pt x="78989" y="-1589"/>
                    <a:pt x="60108" y="349"/>
                  </a:cubicBezTo>
                  <a:cubicBezTo>
                    <a:pt x="25533" y="4349"/>
                    <a:pt x="-421" y="33840"/>
                    <a:pt x="5" y="68643"/>
                  </a:cubicBezTo>
                  <a:lnTo>
                    <a:pt x="5" y="252761"/>
                  </a:lnTo>
                  <a:cubicBezTo>
                    <a:pt x="5" y="289585"/>
                    <a:pt x="29857" y="319436"/>
                    <a:pt x="66680" y="319436"/>
                  </a:cubicBezTo>
                  <a:lnTo>
                    <a:pt x="219080" y="319436"/>
                  </a:lnTo>
                  <a:lnTo>
                    <a:pt x="219080" y="486124"/>
                  </a:lnTo>
                  <a:cubicBezTo>
                    <a:pt x="219080" y="504535"/>
                    <a:pt x="234006" y="519461"/>
                    <a:pt x="252418" y="519461"/>
                  </a:cubicBezTo>
                  <a:cubicBezTo>
                    <a:pt x="270829" y="519461"/>
                    <a:pt x="285755" y="504535"/>
                    <a:pt x="285755" y="486124"/>
                  </a:cubicBezTo>
                  <a:lnTo>
                    <a:pt x="285755" y="286099"/>
                  </a:lnTo>
                  <a:cubicBezTo>
                    <a:pt x="285755" y="267687"/>
                    <a:pt x="270829" y="252761"/>
                    <a:pt x="252418" y="252761"/>
                  </a:cubicBezTo>
                  <a:lnTo>
                    <a:pt x="133355" y="252761"/>
                  </a:lnTo>
                  <a:lnTo>
                    <a:pt x="133355" y="115220"/>
                  </a:lnTo>
                  <a:close/>
                </a:path>
              </a:pathLst>
            </a:custGeom>
            <a:solidFill>
              <a:srgbClr val="0089C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F2F87C3F-63F5-4A0A-8A27-D13F10DAAE59}"/>
                </a:ext>
              </a:extLst>
            </p:cNvPr>
            <p:cNvSpPr/>
            <p:nvPr/>
          </p:nvSpPr>
          <p:spPr>
            <a:xfrm>
              <a:off x="6233738" y="1196404"/>
              <a:ext cx="133350" cy="133350"/>
            </a:xfrm>
            <a:custGeom>
              <a:avLst/>
              <a:gdLst>
                <a:gd name="connsiteX0" fmla="*/ 133350 w 133350"/>
                <a:gd name="connsiteY0" fmla="*/ 66675 h 133350"/>
                <a:gd name="connsiteX1" fmla="*/ 66675 w 133350"/>
                <a:gd name="connsiteY1" fmla="*/ 133350 h 133350"/>
                <a:gd name="connsiteX2" fmla="*/ 0 w 133350"/>
                <a:gd name="connsiteY2" fmla="*/ 66675 h 133350"/>
                <a:gd name="connsiteX3" fmla="*/ 66675 w 133350"/>
                <a:gd name="connsiteY3" fmla="*/ 0 h 133350"/>
                <a:gd name="connsiteX4" fmla="*/ 133350 w 133350"/>
                <a:gd name="connsiteY4" fmla="*/ 66675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3350" y="66675"/>
                  </a:moveTo>
                  <a:cubicBezTo>
                    <a:pt x="133350" y="103499"/>
                    <a:pt x="103499" y="133350"/>
                    <a:pt x="66675" y="133350"/>
                  </a:cubicBezTo>
                  <a:cubicBezTo>
                    <a:pt x="29851" y="133350"/>
                    <a:pt x="0" y="103499"/>
                    <a:pt x="0" y="66675"/>
                  </a:cubicBezTo>
                  <a:cubicBezTo>
                    <a:pt x="0" y="29851"/>
                    <a:pt x="29851" y="0"/>
                    <a:pt x="66675" y="0"/>
                  </a:cubicBezTo>
                  <a:cubicBezTo>
                    <a:pt x="103499" y="0"/>
                    <a:pt x="133350" y="29851"/>
                    <a:pt x="133350" y="66675"/>
                  </a:cubicBezTo>
                  <a:close/>
                </a:path>
              </a:pathLst>
            </a:custGeom>
            <a:solidFill>
              <a:srgbClr val="0089C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2" name="Group 1">
            <a:extLst>
              <a:ext uri="{FF2B5EF4-FFF2-40B4-BE49-F238E27FC236}">
                <a16:creationId xmlns:a16="http://schemas.microsoft.com/office/drawing/2014/main" id="{4C032941-187D-2803-7628-5D6E1D058FBF}"/>
              </a:ext>
            </a:extLst>
          </p:cNvPr>
          <p:cNvGrpSpPr/>
          <p:nvPr/>
        </p:nvGrpSpPr>
        <p:grpSpPr>
          <a:xfrm>
            <a:off x="3701468" y="907591"/>
            <a:ext cx="1087279" cy="1243012"/>
            <a:chOff x="850106" y="999071"/>
            <a:chExt cx="1268492" cy="1473199"/>
          </a:xfrm>
        </p:grpSpPr>
        <p:sp>
          <p:nvSpPr>
            <p:cNvPr id="4" name="Donut 7">
              <a:extLst>
                <a:ext uri="{FF2B5EF4-FFF2-40B4-BE49-F238E27FC236}">
                  <a16:creationId xmlns:a16="http://schemas.microsoft.com/office/drawing/2014/main" id="{BAD942EB-6313-BFB9-65AA-4FDB18FF6561}"/>
                </a:ext>
              </a:extLst>
            </p:cNvPr>
            <p:cNvSpPr>
              <a:spLocks/>
            </p:cNvSpPr>
            <p:nvPr/>
          </p:nvSpPr>
          <p:spPr>
            <a:xfrm>
              <a:off x="850106" y="999071"/>
              <a:ext cx="1268492" cy="1288627"/>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 name="Isosceles Triangle 117">
              <a:extLst>
                <a:ext uri="{FF2B5EF4-FFF2-40B4-BE49-F238E27FC236}">
                  <a16:creationId xmlns:a16="http://schemas.microsoft.com/office/drawing/2014/main" id="{04E90CE4-A084-8CE2-A9B2-764DC2CAE6A9}"/>
                </a:ext>
              </a:extLst>
            </p:cNvPr>
            <p:cNvSpPr/>
            <p:nvPr/>
          </p:nvSpPr>
          <p:spPr>
            <a:xfrm rot="10800000">
              <a:off x="1348503" y="2235203"/>
              <a:ext cx="271700"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sp>
        <p:nvSpPr>
          <p:cNvPr id="15" name="Text Placeholder 14">
            <a:extLst>
              <a:ext uri="{FF2B5EF4-FFF2-40B4-BE49-F238E27FC236}">
                <a16:creationId xmlns:a16="http://schemas.microsoft.com/office/drawing/2014/main" id="{973B2ADF-F892-0005-771E-51344199B50E}"/>
              </a:ext>
            </a:extLst>
          </p:cNvPr>
          <p:cNvSpPr>
            <a:spLocks noGrp="1"/>
          </p:cNvSpPr>
          <p:nvPr>
            <p:ph type="body" sz="quarter" idx="13"/>
          </p:nvPr>
        </p:nvSpPr>
        <p:spPr/>
        <p:txBody>
          <a:bodyPr/>
          <a:lstStyle/>
          <a:p>
            <a:r>
              <a:rPr lang="en-US"/>
              <a:t>EPIC: Enterprise Pipeline for Infrastructure and Cloud</a:t>
            </a:r>
          </a:p>
        </p:txBody>
      </p:sp>
      <p:sp>
        <p:nvSpPr>
          <p:cNvPr id="16" name="Text Placeholder 15">
            <a:extLst>
              <a:ext uri="{FF2B5EF4-FFF2-40B4-BE49-F238E27FC236}">
                <a16:creationId xmlns:a16="http://schemas.microsoft.com/office/drawing/2014/main" id="{D161FB86-9F8A-F0E1-D1A7-D8B5B8B99758}"/>
              </a:ext>
            </a:extLst>
          </p:cNvPr>
          <p:cNvSpPr>
            <a:spLocks noGrp="1"/>
          </p:cNvSpPr>
          <p:nvPr>
            <p:ph type="body" sz="quarter" idx="14"/>
          </p:nvPr>
        </p:nvSpPr>
        <p:spPr/>
        <p:txBody>
          <a:bodyPr/>
          <a:lstStyle/>
          <a:p>
            <a:r>
              <a:rPr lang="en-US"/>
              <a:t>Virtual Meeting Safety</a:t>
            </a:r>
          </a:p>
        </p:txBody>
      </p:sp>
    </p:spTree>
    <p:extLst>
      <p:ext uri="{BB962C8B-B14F-4D97-AF65-F5344CB8AC3E}">
        <p14:creationId xmlns:p14="http://schemas.microsoft.com/office/powerpoint/2010/main" val="1343593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F9A9218-3E4F-407E-8274-BE97716EFA38}"/>
              </a:ext>
            </a:extLst>
          </p:cNvPr>
          <p:cNvSpPr>
            <a:spLocks noGrp="1"/>
          </p:cNvSpPr>
          <p:nvPr>
            <p:ph type="body" sz="quarter" idx="13"/>
          </p:nvPr>
        </p:nvSpPr>
        <p:spPr/>
        <p:txBody>
          <a:bodyPr/>
          <a:lstStyle/>
          <a:p>
            <a:r>
              <a:rPr lang="en-US"/>
              <a:t>EPIC: Enterprise Pipeline for Infrastructure and Cloud</a:t>
            </a:r>
          </a:p>
          <a:p>
            <a:endParaRPr lang="en-US"/>
          </a:p>
        </p:txBody>
      </p:sp>
      <p:sp>
        <p:nvSpPr>
          <p:cNvPr id="5" name="Text Placeholder 4">
            <a:extLst>
              <a:ext uri="{FF2B5EF4-FFF2-40B4-BE49-F238E27FC236}">
                <a16:creationId xmlns:a16="http://schemas.microsoft.com/office/drawing/2014/main" id="{49659835-12AA-D2A4-6E4C-6CB608CF9BBA}"/>
              </a:ext>
            </a:extLst>
          </p:cNvPr>
          <p:cNvSpPr>
            <a:spLocks noGrp="1"/>
          </p:cNvSpPr>
          <p:nvPr>
            <p:ph type="body" sz="quarter" idx="14"/>
          </p:nvPr>
        </p:nvSpPr>
        <p:spPr/>
        <p:txBody>
          <a:bodyPr/>
          <a:lstStyle/>
          <a:p>
            <a:r>
              <a:rPr lang="en-US"/>
              <a:t>Agenda</a:t>
            </a:r>
          </a:p>
        </p:txBody>
      </p:sp>
      <p:graphicFrame>
        <p:nvGraphicFramePr>
          <p:cNvPr id="4" name="Table 3">
            <a:extLst>
              <a:ext uri="{FF2B5EF4-FFF2-40B4-BE49-F238E27FC236}">
                <a16:creationId xmlns:a16="http://schemas.microsoft.com/office/drawing/2014/main" id="{F0C6246C-B98E-AF43-50AD-5FCC7AEE66A3}"/>
              </a:ext>
            </a:extLst>
          </p:cNvPr>
          <p:cNvGraphicFramePr>
            <a:graphicFrameLocks noGrp="1"/>
          </p:cNvGraphicFramePr>
          <p:nvPr>
            <p:extLst>
              <p:ext uri="{D42A27DB-BD31-4B8C-83A1-F6EECF244321}">
                <p14:modId xmlns:p14="http://schemas.microsoft.com/office/powerpoint/2010/main" val="3433609033"/>
              </p:ext>
            </p:extLst>
          </p:nvPr>
        </p:nvGraphicFramePr>
        <p:xfrm>
          <a:off x="1352378" y="2228128"/>
          <a:ext cx="8160692" cy="2445470"/>
        </p:xfrm>
        <a:graphic>
          <a:graphicData uri="http://schemas.openxmlformats.org/drawingml/2006/table">
            <a:tbl>
              <a:tblPr bandRow="1">
                <a:tableStyleId>{69012ECD-51FC-41F1-AA8D-1B2483CD663E}</a:tableStyleId>
              </a:tblPr>
              <a:tblGrid>
                <a:gridCol w="4726689">
                  <a:extLst>
                    <a:ext uri="{9D8B030D-6E8A-4147-A177-3AD203B41FA5}">
                      <a16:colId xmlns:a16="http://schemas.microsoft.com/office/drawing/2014/main" val="1001853158"/>
                    </a:ext>
                  </a:extLst>
                </a:gridCol>
                <a:gridCol w="1286933">
                  <a:extLst>
                    <a:ext uri="{9D8B030D-6E8A-4147-A177-3AD203B41FA5}">
                      <a16:colId xmlns:a16="http://schemas.microsoft.com/office/drawing/2014/main" val="2175274612"/>
                    </a:ext>
                  </a:extLst>
                </a:gridCol>
                <a:gridCol w="2147070">
                  <a:extLst>
                    <a:ext uri="{9D8B030D-6E8A-4147-A177-3AD203B41FA5}">
                      <a16:colId xmlns:a16="http://schemas.microsoft.com/office/drawing/2014/main" val="1763101437"/>
                    </a:ext>
                  </a:extLst>
                </a:gridCol>
              </a:tblGrid>
              <a:tr h="425299">
                <a:tc>
                  <a:txBody>
                    <a:bodyPr/>
                    <a:lstStyle/>
                    <a:p>
                      <a:r>
                        <a:rPr lang="en-US"/>
                        <a:t>Safety, Goals, and Ground Rules</a:t>
                      </a:r>
                    </a:p>
                  </a:txBody>
                  <a:tcPr>
                    <a:lnL w="6350" cap="flat" cmpd="sng" algn="ctr">
                      <a:noFill/>
                      <a:prstDash val="solid"/>
                      <a:miter lim="800000"/>
                    </a:lnL>
                    <a:lnR>
                      <a:noFill/>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5 minutes</a:t>
                      </a:r>
                    </a:p>
                  </a:txBody>
                  <a:tcPr>
                    <a:lnL>
                      <a:noFill/>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Michael Hansen</a:t>
                      </a:r>
                    </a:p>
                  </a:txBody>
                  <a:tcPr>
                    <a:lnL>
                      <a:noFill/>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7095517"/>
                  </a:ext>
                </a:extLst>
              </a:tr>
              <a:tr h="425299">
                <a:tc>
                  <a:txBody>
                    <a:bodyPr/>
                    <a:lstStyle/>
                    <a:p>
                      <a:r>
                        <a:rPr lang="en-US"/>
                        <a:t>Problem Statement</a:t>
                      </a:r>
                    </a:p>
                  </a:txBody>
                  <a:tcPr>
                    <a:lnL w="6350" cap="flat" cmpd="sng" algn="ctr">
                      <a:noFill/>
                      <a:prstDash val="solid"/>
                      <a:miter lim="800000"/>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5 minutes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Travis Hayes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9497925"/>
                  </a:ext>
                </a:extLst>
              </a:tr>
              <a:tr h="425299">
                <a:tc>
                  <a:txBody>
                    <a:bodyPr/>
                    <a:lstStyle/>
                    <a:p>
                      <a:r>
                        <a:rPr lang="en-US"/>
                        <a:t>Key Requirements Impacting Design</a:t>
                      </a:r>
                    </a:p>
                  </a:txBody>
                  <a:tcPr>
                    <a:lnL w="6350" cap="flat" cmpd="sng" algn="ctr">
                      <a:noFill/>
                      <a:prstDash val="solid"/>
                      <a:miter lim="800000"/>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5 minutes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Robb Morgan</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3565678"/>
                  </a:ext>
                </a:extLst>
              </a:tr>
              <a:tr h="4252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Target State / High-Level Architecture Review</a:t>
                      </a:r>
                    </a:p>
                  </a:txBody>
                  <a:tcPr>
                    <a:lnL w="6350" cap="flat" cmpd="sng" algn="ctr">
                      <a:noFill/>
                      <a:prstDash val="solid"/>
                      <a:miter lim="800000"/>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20 minutes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Robb Morgan</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8800925"/>
                  </a:ext>
                </a:extLst>
              </a:tr>
              <a:tr h="744274">
                <a:tc>
                  <a:txBody>
                    <a:bodyPr/>
                    <a:lstStyle/>
                    <a:p>
                      <a:r>
                        <a:rPr lang="en-US"/>
                        <a:t>Concerns/Follow-Ups</a:t>
                      </a:r>
                    </a:p>
                  </a:txBody>
                  <a:tcPr>
                    <a:lnL w="6350" cap="flat" cmpd="sng" algn="ctr">
                      <a:noFill/>
                      <a:prstDash val="solid"/>
                      <a:miter lim="800000"/>
                    </a:lnL>
                    <a:lnR>
                      <a:noFill/>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r>
                        <a:rPr lang="en-US"/>
                        <a:t>5 minutes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Michael Hansen</a:t>
                      </a:r>
                    </a:p>
                    <a:p>
                      <a:endParaRPr lang="en-US"/>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585275052"/>
                  </a:ext>
                </a:extLst>
              </a:tr>
            </a:tbl>
          </a:graphicData>
        </a:graphic>
      </p:graphicFrame>
    </p:spTree>
    <p:extLst>
      <p:ext uri="{BB962C8B-B14F-4D97-AF65-F5344CB8AC3E}">
        <p14:creationId xmlns:p14="http://schemas.microsoft.com/office/powerpoint/2010/main" val="4254772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BD1A9-B0B0-A886-1C78-6F93A17628A9}"/>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4EE47140-1879-2218-0B49-2FE1A53739A5}"/>
              </a:ext>
            </a:extLst>
          </p:cNvPr>
          <p:cNvGrpSpPr/>
          <p:nvPr/>
        </p:nvGrpSpPr>
        <p:grpSpPr>
          <a:xfrm>
            <a:off x="3300046" y="1137116"/>
            <a:ext cx="2795954" cy="2229598"/>
            <a:chOff x="1114525" y="1375248"/>
            <a:chExt cx="2795954" cy="2229598"/>
          </a:xfrm>
        </p:grpSpPr>
        <p:sp>
          <p:nvSpPr>
            <p:cNvPr id="29" name="TextBox 28">
              <a:extLst>
                <a:ext uri="{FF2B5EF4-FFF2-40B4-BE49-F238E27FC236}">
                  <a16:creationId xmlns:a16="http://schemas.microsoft.com/office/drawing/2014/main" id="{326BA25F-2F4E-B9EE-7537-D804E66A9C31}"/>
                </a:ext>
              </a:extLst>
            </p:cNvPr>
            <p:cNvSpPr txBox="1"/>
            <p:nvPr/>
          </p:nvSpPr>
          <p:spPr>
            <a:xfrm>
              <a:off x="1114525" y="1375248"/>
              <a:ext cx="2795954" cy="2229598"/>
            </a:xfrm>
            <a:prstGeom prst="rect">
              <a:avLst/>
            </a:prstGeom>
            <a:noFill/>
            <a:ln>
              <a:solidFill>
                <a:srgbClr val="0089C4"/>
              </a:solidFill>
            </a:ln>
          </p:spPr>
          <p:txBody>
            <a:bodyPr wrap="square" tIns="822960" rtlCol="0">
              <a:noAutofit/>
            </a:bodyPr>
            <a:lstStyle/>
            <a:p>
              <a:r>
                <a:rPr lang="en-US" sz="1200">
                  <a:solidFill>
                    <a:srgbClr val="0089C4"/>
                  </a:solidFill>
                  <a:latin typeface="+mj-lt"/>
                </a:rPr>
                <a:t>Out of respect for your busy schedules and the material that we need to review, we will be sticking to the schedule as outlined.  Please minimize interruptions of the presenter and rest assured that we will gather concerns at the end of the session.</a:t>
              </a:r>
            </a:p>
          </p:txBody>
        </p:sp>
        <p:sp>
          <p:nvSpPr>
            <p:cNvPr id="30" name="Rectangle 29">
              <a:extLst>
                <a:ext uri="{FF2B5EF4-FFF2-40B4-BE49-F238E27FC236}">
                  <a16:creationId xmlns:a16="http://schemas.microsoft.com/office/drawing/2014/main" id="{DD5601DB-1387-84F0-89DC-4B7972D5AA5F}"/>
                </a:ext>
              </a:extLst>
            </p:cNvPr>
            <p:cNvSpPr/>
            <p:nvPr/>
          </p:nvSpPr>
          <p:spPr>
            <a:xfrm>
              <a:off x="1114525" y="1375249"/>
              <a:ext cx="2795954" cy="756886"/>
            </a:xfrm>
            <a:prstGeom prst="rect">
              <a:avLst/>
            </a:prstGeom>
            <a:solidFill>
              <a:srgbClr val="0089C4"/>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b"/>
            <a:lstStyle/>
            <a:p>
              <a:pPr algn="ctr"/>
              <a:r>
                <a:rPr lang="en-US"/>
                <a:t>On Time &amp; On Purpose</a:t>
              </a:r>
            </a:p>
          </p:txBody>
        </p:sp>
        <p:pic>
          <p:nvPicPr>
            <p:cNvPr id="31" name="Picture 30">
              <a:extLst>
                <a:ext uri="{FF2B5EF4-FFF2-40B4-BE49-F238E27FC236}">
                  <a16:creationId xmlns:a16="http://schemas.microsoft.com/office/drawing/2014/main" id="{1169581F-4D20-9D4E-B07D-BF5D53682F47}"/>
                </a:ext>
              </a:extLst>
            </p:cNvPr>
            <p:cNvPicPr>
              <a:picLocks noChangeAspect="1"/>
            </p:cNvPicPr>
            <p:nvPr/>
          </p:nvPicPr>
          <p:blipFill>
            <a:blip r:embed="rId3"/>
            <a:srcRect/>
            <a:stretch/>
          </p:blipFill>
          <p:spPr>
            <a:xfrm>
              <a:off x="2220205" y="1380533"/>
              <a:ext cx="451774" cy="451774"/>
            </a:xfrm>
            <a:prstGeom prst="rect">
              <a:avLst/>
            </a:prstGeom>
          </p:spPr>
        </p:pic>
      </p:grpSp>
      <p:grpSp>
        <p:nvGrpSpPr>
          <p:cNvPr id="44" name="Group 43">
            <a:extLst>
              <a:ext uri="{FF2B5EF4-FFF2-40B4-BE49-F238E27FC236}">
                <a16:creationId xmlns:a16="http://schemas.microsoft.com/office/drawing/2014/main" id="{71829D54-13FD-551C-31E3-A6D0EDAEFD47}"/>
              </a:ext>
            </a:extLst>
          </p:cNvPr>
          <p:cNvGrpSpPr/>
          <p:nvPr/>
        </p:nvGrpSpPr>
        <p:grpSpPr>
          <a:xfrm>
            <a:off x="3300046" y="3806006"/>
            <a:ext cx="2795954" cy="2263800"/>
            <a:chOff x="4764432" y="1341794"/>
            <a:chExt cx="2795954" cy="2263800"/>
          </a:xfrm>
        </p:grpSpPr>
        <p:sp>
          <p:nvSpPr>
            <p:cNvPr id="25" name="TextBox 24">
              <a:extLst>
                <a:ext uri="{FF2B5EF4-FFF2-40B4-BE49-F238E27FC236}">
                  <a16:creationId xmlns:a16="http://schemas.microsoft.com/office/drawing/2014/main" id="{8E87B77D-6ACA-B2BC-30B3-22E774B95399}"/>
                </a:ext>
              </a:extLst>
            </p:cNvPr>
            <p:cNvSpPr txBox="1"/>
            <p:nvPr/>
          </p:nvSpPr>
          <p:spPr>
            <a:xfrm>
              <a:off x="4764432" y="1375996"/>
              <a:ext cx="2795954" cy="2229598"/>
            </a:xfrm>
            <a:prstGeom prst="rect">
              <a:avLst/>
            </a:prstGeom>
            <a:noFill/>
            <a:ln>
              <a:solidFill>
                <a:srgbClr val="49735D"/>
              </a:solidFill>
            </a:ln>
          </p:spPr>
          <p:txBody>
            <a:bodyPr wrap="square" tIns="822960" rtlCol="0">
              <a:noAutofit/>
            </a:bodyPr>
            <a:lstStyle/>
            <a:p>
              <a:r>
                <a:rPr lang="en-US" sz="1200">
                  <a:solidFill>
                    <a:srgbClr val="49735D"/>
                  </a:solidFill>
                  <a:latin typeface="+mj-lt"/>
                </a:rPr>
                <a:t>We want to make peer reviews efficient and effective.  To achieve this balance, we ask that you let the SA present their architecture.  However, we do not want you to forget your concerns.  All architecture questions from chat will be followed-up by the SA after the session.</a:t>
              </a:r>
            </a:p>
          </p:txBody>
        </p:sp>
        <p:sp>
          <p:nvSpPr>
            <p:cNvPr id="26" name="Rectangle 25">
              <a:extLst>
                <a:ext uri="{FF2B5EF4-FFF2-40B4-BE49-F238E27FC236}">
                  <a16:creationId xmlns:a16="http://schemas.microsoft.com/office/drawing/2014/main" id="{7546CCFA-B3B4-20AD-F298-2A8D23796D65}"/>
                </a:ext>
              </a:extLst>
            </p:cNvPr>
            <p:cNvSpPr/>
            <p:nvPr/>
          </p:nvSpPr>
          <p:spPr>
            <a:xfrm>
              <a:off x="4764432" y="1375997"/>
              <a:ext cx="2795954" cy="756886"/>
            </a:xfrm>
            <a:prstGeom prst="rect">
              <a:avLst/>
            </a:prstGeom>
            <a:solidFill>
              <a:srgbClr val="49735D"/>
            </a:solidFill>
            <a:ln>
              <a:solidFill>
                <a:srgbClr val="49735D"/>
              </a:solidFill>
            </a:ln>
          </p:spPr>
          <p:style>
            <a:lnRef idx="2">
              <a:schemeClr val="accent2">
                <a:shade val="15000"/>
              </a:schemeClr>
            </a:lnRef>
            <a:fillRef idx="1">
              <a:schemeClr val="accent2"/>
            </a:fillRef>
            <a:effectRef idx="0">
              <a:schemeClr val="accent2"/>
            </a:effectRef>
            <a:fontRef idx="minor">
              <a:schemeClr val="lt1"/>
            </a:fontRef>
          </p:style>
          <p:txBody>
            <a:bodyPr rtlCol="0" anchor="b"/>
            <a:lstStyle/>
            <a:p>
              <a:pPr algn="ctr"/>
              <a:r>
                <a:rPr lang="en-US"/>
                <a:t>Ask Questions (in chat)</a:t>
              </a:r>
            </a:p>
          </p:txBody>
        </p:sp>
        <p:pic>
          <p:nvPicPr>
            <p:cNvPr id="27" name="Picture 26">
              <a:extLst>
                <a:ext uri="{FF2B5EF4-FFF2-40B4-BE49-F238E27FC236}">
                  <a16:creationId xmlns:a16="http://schemas.microsoft.com/office/drawing/2014/main" id="{9F6524BF-EFD9-3E4E-22ED-A7B67CF1C577}"/>
                </a:ext>
              </a:extLst>
            </p:cNvPr>
            <p:cNvPicPr>
              <a:picLocks noChangeAspect="1"/>
            </p:cNvPicPr>
            <p:nvPr/>
          </p:nvPicPr>
          <p:blipFill>
            <a:blip r:embed="rId4"/>
            <a:srcRect/>
            <a:stretch/>
          </p:blipFill>
          <p:spPr>
            <a:xfrm>
              <a:off x="5816172" y="1341794"/>
              <a:ext cx="559655" cy="559655"/>
            </a:xfrm>
            <a:prstGeom prst="rect">
              <a:avLst/>
            </a:prstGeom>
            <a:ln>
              <a:noFill/>
            </a:ln>
          </p:spPr>
        </p:pic>
      </p:grpSp>
      <p:sp>
        <p:nvSpPr>
          <p:cNvPr id="8" name="Text Placeholder 7">
            <a:extLst>
              <a:ext uri="{FF2B5EF4-FFF2-40B4-BE49-F238E27FC236}">
                <a16:creationId xmlns:a16="http://schemas.microsoft.com/office/drawing/2014/main" id="{9AA49D88-3341-2330-4452-CD8AA6FDEDC5}"/>
              </a:ext>
            </a:extLst>
          </p:cNvPr>
          <p:cNvSpPr>
            <a:spLocks noGrp="1"/>
          </p:cNvSpPr>
          <p:nvPr>
            <p:ph type="body" sz="quarter" idx="13"/>
          </p:nvPr>
        </p:nvSpPr>
        <p:spPr/>
        <p:txBody>
          <a:bodyPr/>
          <a:lstStyle/>
          <a:p>
            <a:r>
              <a:rPr lang="en-US"/>
              <a:t>EPIC: Enterprise Pipeline for Infrastructure and Cloud</a:t>
            </a:r>
          </a:p>
          <a:p>
            <a:endParaRPr lang="en-US"/>
          </a:p>
        </p:txBody>
      </p:sp>
      <p:sp>
        <p:nvSpPr>
          <p:cNvPr id="9" name="Text Placeholder 8">
            <a:extLst>
              <a:ext uri="{FF2B5EF4-FFF2-40B4-BE49-F238E27FC236}">
                <a16:creationId xmlns:a16="http://schemas.microsoft.com/office/drawing/2014/main" id="{D9447BAC-400C-A610-2B40-B2284744AB4F}"/>
              </a:ext>
            </a:extLst>
          </p:cNvPr>
          <p:cNvSpPr>
            <a:spLocks noGrp="1"/>
          </p:cNvSpPr>
          <p:nvPr>
            <p:ph type="body" sz="quarter" idx="14"/>
          </p:nvPr>
        </p:nvSpPr>
        <p:spPr/>
        <p:txBody>
          <a:bodyPr/>
          <a:lstStyle/>
          <a:p>
            <a:r>
              <a:rPr lang="en-US"/>
              <a:t>Ground Rules</a:t>
            </a:r>
          </a:p>
        </p:txBody>
      </p:sp>
      <p:grpSp>
        <p:nvGrpSpPr>
          <p:cNvPr id="23" name="Group 22">
            <a:extLst>
              <a:ext uri="{FF2B5EF4-FFF2-40B4-BE49-F238E27FC236}">
                <a16:creationId xmlns:a16="http://schemas.microsoft.com/office/drawing/2014/main" id="{231A8DE1-9FA6-87EC-A648-BC1F2901F36A}"/>
              </a:ext>
            </a:extLst>
          </p:cNvPr>
          <p:cNvGrpSpPr/>
          <p:nvPr/>
        </p:nvGrpSpPr>
        <p:grpSpPr>
          <a:xfrm>
            <a:off x="6681788" y="951092"/>
            <a:ext cx="2795954" cy="2415621"/>
            <a:chOff x="1114525" y="1189225"/>
            <a:chExt cx="2795954" cy="2415621"/>
          </a:xfrm>
        </p:grpSpPr>
        <p:sp>
          <p:nvSpPr>
            <p:cNvPr id="6" name="TextBox 5">
              <a:extLst>
                <a:ext uri="{FF2B5EF4-FFF2-40B4-BE49-F238E27FC236}">
                  <a16:creationId xmlns:a16="http://schemas.microsoft.com/office/drawing/2014/main" id="{13DBE8B2-1EA3-7736-4F84-2A4A3AEC86B5}"/>
                </a:ext>
              </a:extLst>
            </p:cNvPr>
            <p:cNvSpPr txBox="1"/>
            <p:nvPr/>
          </p:nvSpPr>
          <p:spPr>
            <a:xfrm>
              <a:off x="1114525" y="1375248"/>
              <a:ext cx="2795954" cy="2229598"/>
            </a:xfrm>
            <a:prstGeom prst="rect">
              <a:avLst/>
            </a:prstGeom>
            <a:noFill/>
            <a:ln>
              <a:solidFill>
                <a:srgbClr val="ED9A2D"/>
              </a:solidFill>
            </a:ln>
          </p:spPr>
          <p:txBody>
            <a:bodyPr wrap="square" tIns="822960" rtlCol="0">
              <a:noAutofit/>
            </a:bodyPr>
            <a:lstStyle/>
            <a:p>
              <a:r>
                <a:rPr lang="en-US" sz="1200">
                  <a:solidFill>
                    <a:srgbClr val="ED9A2D"/>
                  </a:solidFill>
                  <a:latin typeface="+mj-lt"/>
                </a:rPr>
                <a:t>We are here to help everyone build better solutions.  It takes a lot of confidence and humility to stand in front over 100+ people and showcase your work.  Let’s support each other and build each other up.</a:t>
              </a:r>
            </a:p>
          </p:txBody>
        </p:sp>
        <p:sp>
          <p:nvSpPr>
            <p:cNvPr id="4" name="Rectangle 3">
              <a:extLst>
                <a:ext uri="{FF2B5EF4-FFF2-40B4-BE49-F238E27FC236}">
                  <a16:creationId xmlns:a16="http://schemas.microsoft.com/office/drawing/2014/main" id="{4C520EEB-9B94-960D-579C-51088BD6A4A8}"/>
                </a:ext>
              </a:extLst>
            </p:cNvPr>
            <p:cNvSpPr/>
            <p:nvPr/>
          </p:nvSpPr>
          <p:spPr>
            <a:xfrm>
              <a:off x="1114525" y="1375249"/>
              <a:ext cx="2795954" cy="75688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b"/>
            <a:lstStyle/>
            <a:p>
              <a:pPr algn="ctr"/>
              <a:r>
                <a:rPr lang="en-US"/>
                <a:t>Be Supportive</a:t>
              </a:r>
            </a:p>
          </p:txBody>
        </p:sp>
        <p:pic>
          <p:nvPicPr>
            <p:cNvPr id="22" name="Picture 21" descr="A handshake in a black background&#10;&#10;AI-generated content may be incorrect.">
              <a:extLst>
                <a:ext uri="{FF2B5EF4-FFF2-40B4-BE49-F238E27FC236}">
                  <a16:creationId xmlns:a16="http://schemas.microsoft.com/office/drawing/2014/main" id="{F8E6D317-7ED0-23C9-B59A-2F90AFB1C811}"/>
                </a:ext>
              </a:extLst>
            </p:cNvPr>
            <p:cNvPicPr>
              <a:picLocks noChangeAspect="1"/>
            </p:cNvPicPr>
            <p:nvPr/>
          </p:nvPicPr>
          <p:blipFill>
            <a:blip r:embed="rId5"/>
            <a:stretch>
              <a:fillRect/>
            </a:stretch>
          </p:blipFill>
          <p:spPr>
            <a:xfrm>
              <a:off x="2098919" y="1189225"/>
              <a:ext cx="713153" cy="713153"/>
            </a:xfrm>
            <a:prstGeom prst="rect">
              <a:avLst/>
            </a:prstGeom>
          </p:spPr>
        </p:pic>
      </p:grpSp>
      <p:grpSp>
        <p:nvGrpSpPr>
          <p:cNvPr id="3" name="Group 2">
            <a:extLst>
              <a:ext uri="{FF2B5EF4-FFF2-40B4-BE49-F238E27FC236}">
                <a16:creationId xmlns:a16="http://schemas.microsoft.com/office/drawing/2014/main" id="{B0A5520D-BDF1-B343-1BFE-4A9305932C41}"/>
              </a:ext>
            </a:extLst>
          </p:cNvPr>
          <p:cNvGrpSpPr/>
          <p:nvPr/>
        </p:nvGrpSpPr>
        <p:grpSpPr>
          <a:xfrm>
            <a:off x="6681788" y="3840208"/>
            <a:ext cx="2795954" cy="2229598"/>
            <a:chOff x="1114525" y="1375248"/>
            <a:chExt cx="2795954" cy="2229598"/>
          </a:xfrm>
        </p:grpSpPr>
        <p:sp>
          <p:nvSpPr>
            <p:cNvPr id="5" name="TextBox 4">
              <a:extLst>
                <a:ext uri="{FF2B5EF4-FFF2-40B4-BE49-F238E27FC236}">
                  <a16:creationId xmlns:a16="http://schemas.microsoft.com/office/drawing/2014/main" id="{A28DD786-8CF1-7B6B-CF96-605F5FF71605}"/>
                </a:ext>
              </a:extLst>
            </p:cNvPr>
            <p:cNvSpPr txBox="1"/>
            <p:nvPr/>
          </p:nvSpPr>
          <p:spPr>
            <a:xfrm>
              <a:off x="1114525" y="1375248"/>
              <a:ext cx="2795954" cy="2229598"/>
            </a:xfrm>
            <a:prstGeom prst="rect">
              <a:avLst/>
            </a:prstGeom>
            <a:noFill/>
            <a:ln>
              <a:solidFill>
                <a:srgbClr val="A1893D"/>
              </a:solidFill>
            </a:ln>
          </p:spPr>
          <p:txBody>
            <a:bodyPr wrap="square" tIns="822960" rtlCol="0">
              <a:noAutofit/>
            </a:bodyPr>
            <a:lstStyle/>
            <a:p>
              <a:r>
                <a:rPr lang="en-US" sz="1200">
                  <a:solidFill>
                    <a:srgbClr val="A1893D"/>
                  </a:solidFill>
                  <a:latin typeface="+mj-lt"/>
                </a:rPr>
                <a:t>You will notice that this Peer Review has no “Board” and no approval process.  This is simply a place to engage your colleagues in technical learning, collaboration, and continuous improvement.</a:t>
              </a:r>
            </a:p>
          </p:txBody>
        </p:sp>
        <p:sp>
          <p:nvSpPr>
            <p:cNvPr id="7" name="Rectangle 6">
              <a:extLst>
                <a:ext uri="{FF2B5EF4-FFF2-40B4-BE49-F238E27FC236}">
                  <a16:creationId xmlns:a16="http://schemas.microsoft.com/office/drawing/2014/main" id="{9532A4E8-16DC-A09F-3A09-E9B0AFA61656}"/>
                </a:ext>
              </a:extLst>
            </p:cNvPr>
            <p:cNvSpPr/>
            <p:nvPr/>
          </p:nvSpPr>
          <p:spPr>
            <a:xfrm>
              <a:off x="1114525" y="1375249"/>
              <a:ext cx="2795954" cy="756886"/>
            </a:xfrm>
            <a:prstGeom prst="rect">
              <a:avLst/>
            </a:prstGeom>
            <a:solidFill>
              <a:srgbClr val="A1893D"/>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b"/>
            <a:lstStyle/>
            <a:p>
              <a:pPr algn="ctr"/>
              <a:r>
                <a:rPr lang="en-US"/>
                <a:t>We Are Here To Learn</a:t>
              </a:r>
            </a:p>
          </p:txBody>
        </p:sp>
      </p:grpSp>
      <p:pic>
        <p:nvPicPr>
          <p:cNvPr id="10" name="Picture 9" descr="A white square academic cap with tassel&#10;&#10;AI-generated content may be incorrect.">
            <a:extLst>
              <a:ext uri="{FF2B5EF4-FFF2-40B4-BE49-F238E27FC236}">
                <a16:creationId xmlns:a16="http://schemas.microsoft.com/office/drawing/2014/main" id="{3389AAD0-1A78-4CD2-42E3-2690A8F6600F}"/>
              </a:ext>
            </a:extLst>
          </p:cNvPr>
          <p:cNvPicPr>
            <a:picLocks noChangeAspect="1"/>
          </p:cNvPicPr>
          <p:nvPr/>
        </p:nvPicPr>
        <p:blipFill>
          <a:blip r:embed="rId6"/>
          <a:stretch>
            <a:fillRect/>
          </a:stretch>
        </p:blipFill>
        <p:spPr>
          <a:xfrm>
            <a:off x="7756709" y="3786263"/>
            <a:ext cx="622626" cy="622626"/>
          </a:xfrm>
          <a:prstGeom prst="rect">
            <a:avLst/>
          </a:prstGeom>
        </p:spPr>
      </p:pic>
    </p:spTree>
    <p:extLst>
      <p:ext uri="{BB962C8B-B14F-4D97-AF65-F5344CB8AC3E}">
        <p14:creationId xmlns:p14="http://schemas.microsoft.com/office/powerpoint/2010/main" val="1102218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C8E95-34EC-0726-B715-11DC8CBA5A8F}"/>
            </a:ext>
          </a:extLst>
        </p:cNvPr>
        <p:cNvGrpSpPr/>
        <p:nvPr/>
      </p:nvGrpSpPr>
      <p:grpSpPr>
        <a:xfrm>
          <a:off x="0" y="0"/>
          <a:ext cx="0" cy="0"/>
          <a:chOff x="0" y="0"/>
          <a:chExt cx="0" cy="0"/>
        </a:xfrm>
      </p:grpSpPr>
      <p:sp>
        <p:nvSpPr>
          <p:cNvPr id="14" name="Rounded Rectangle 13">
            <a:extLst>
              <a:ext uri="{FF2B5EF4-FFF2-40B4-BE49-F238E27FC236}">
                <a16:creationId xmlns:a16="http://schemas.microsoft.com/office/drawing/2014/main" id="{22A2EFED-BE44-0475-F0BF-7A28624836F4}"/>
              </a:ext>
            </a:extLst>
          </p:cNvPr>
          <p:cNvSpPr/>
          <p:nvPr/>
        </p:nvSpPr>
        <p:spPr>
          <a:xfrm>
            <a:off x="4584823" y="2428391"/>
            <a:ext cx="2917159" cy="3908582"/>
          </a:xfrm>
          <a:prstGeom prst="roundRect">
            <a:avLst>
              <a:gd name="adj" fmla="val 5705"/>
            </a:avLst>
          </a:prstGeom>
          <a:solidFill>
            <a:schemeClr val="bg2"/>
          </a:solidFill>
          <a:ln>
            <a:solidFill>
              <a:schemeClr val="bg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5" name="Round Same Side Corner Rectangle 14">
            <a:extLst>
              <a:ext uri="{FF2B5EF4-FFF2-40B4-BE49-F238E27FC236}">
                <a16:creationId xmlns:a16="http://schemas.microsoft.com/office/drawing/2014/main" id="{917F9E2B-CEAE-11C0-BAEB-0DEF02FCB64C}"/>
              </a:ext>
            </a:extLst>
          </p:cNvPr>
          <p:cNvSpPr/>
          <p:nvPr/>
        </p:nvSpPr>
        <p:spPr>
          <a:xfrm rot="10800000">
            <a:off x="5349797" y="2424624"/>
            <a:ext cx="1396132" cy="778700"/>
          </a:xfrm>
          <a:prstGeom prst="round2SameRect">
            <a:avLst/>
          </a:prstGeom>
          <a:solidFill>
            <a:srgbClr val="49735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4" name="Rounded Rectangle 3">
            <a:extLst>
              <a:ext uri="{FF2B5EF4-FFF2-40B4-BE49-F238E27FC236}">
                <a16:creationId xmlns:a16="http://schemas.microsoft.com/office/drawing/2014/main" id="{83B20DDF-5FA5-46BD-DDEB-47928BF52F75}"/>
              </a:ext>
            </a:extLst>
          </p:cNvPr>
          <p:cNvSpPr/>
          <p:nvPr/>
        </p:nvSpPr>
        <p:spPr>
          <a:xfrm>
            <a:off x="805363" y="2428391"/>
            <a:ext cx="2917159" cy="3908582"/>
          </a:xfrm>
          <a:prstGeom prst="roundRect">
            <a:avLst>
              <a:gd name="adj" fmla="val 6904"/>
            </a:avLst>
          </a:prstGeom>
          <a:solidFill>
            <a:schemeClr val="bg2"/>
          </a:solidFill>
          <a:ln>
            <a:solidFill>
              <a:schemeClr val="bg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5" name="Round Same Side Corner Rectangle 4">
            <a:extLst>
              <a:ext uri="{FF2B5EF4-FFF2-40B4-BE49-F238E27FC236}">
                <a16:creationId xmlns:a16="http://schemas.microsoft.com/office/drawing/2014/main" id="{CFEC7E94-9AAE-F0EF-65E6-4BAA7D7CCFDB}"/>
              </a:ext>
            </a:extLst>
          </p:cNvPr>
          <p:cNvSpPr/>
          <p:nvPr/>
        </p:nvSpPr>
        <p:spPr>
          <a:xfrm rot="10800000">
            <a:off x="1570337" y="2424624"/>
            <a:ext cx="1396132" cy="778700"/>
          </a:xfrm>
          <a:prstGeom prst="round2SameRect">
            <a:avLst/>
          </a:prstGeom>
          <a:solidFill>
            <a:srgbClr val="696C4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7" name="Rounded Rectangle 16">
            <a:extLst>
              <a:ext uri="{FF2B5EF4-FFF2-40B4-BE49-F238E27FC236}">
                <a16:creationId xmlns:a16="http://schemas.microsoft.com/office/drawing/2014/main" id="{5C09D0F3-1225-F988-D3B6-604B5E93860E}"/>
              </a:ext>
            </a:extLst>
          </p:cNvPr>
          <p:cNvSpPr/>
          <p:nvPr/>
        </p:nvSpPr>
        <p:spPr>
          <a:xfrm>
            <a:off x="8364282" y="2428391"/>
            <a:ext cx="2917159" cy="3908582"/>
          </a:xfrm>
          <a:prstGeom prst="roundRect">
            <a:avLst>
              <a:gd name="adj" fmla="val 6561"/>
            </a:avLst>
          </a:prstGeom>
          <a:solidFill>
            <a:schemeClr val="bg2"/>
          </a:solidFill>
          <a:ln>
            <a:solidFill>
              <a:schemeClr val="bg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8" name="Round Same Side Corner Rectangle 17">
            <a:extLst>
              <a:ext uri="{FF2B5EF4-FFF2-40B4-BE49-F238E27FC236}">
                <a16:creationId xmlns:a16="http://schemas.microsoft.com/office/drawing/2014/main" id="{7A1DC207-26F6-54E6-7323-F89DB3241D01}"/>
              </a:ext>
            </a:extLst>
          </p:cNvPr>
          <p:cNvSpPr/>
          <p:nvPr/>
        </p:nvSpPr>
        <p:spPr>
          <a:xfrm rot="10800000">
            <a:off x="9129256" y="2424624"/>
            <a:ext cx="1396132" cy="778700"/>
          </a:xfrm>
          <a:prstGeom prst="round2SameRect">
            <a:avLst/>
          </a:prstGeom>
          <a:solidFill>
            <a:srgbClr val="A1893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C43DF571-9DA7-FC70-EFFD-BFD5ECE7ED74}"/>
              </a:ext>
            </a:extLst>
          </p:cNvPr>
          <p:cNvSpPr txBox="1"/>
          <p:nvPr/>
        </p:nvSpPr>
        <p:spPr>
          <a:xfrm>
            <a:off x="805359" y="4188943"/>
            <a:ext cx="2917160" cy="1908215"/>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Governance, approvals, and audit controls are implemented inconsistently across teams</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Production stability and recovery capability vary by application and pipeline design</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Compliance relies on individual team discipline rather than enforced enterprise controls</a:t>
            </a:r>
          </a:p>
        </p:txBody>
      </p:sp>
      <p:sp>
        <p:nvSpPr>
          <p:cNvPr id="2" name="Text Placeholder 1">
            <a:extLst>
              <a:ext uri="{FF2B5EF4-FFF2-40B4-BE49-F238E27FC236}">
                <a16:creationId xmlns:a16="http://schemas.microsoft.com/office/drawing/2014/main" id="{788594D3-322A-B02A-389A-D516CC47709C}"/>
              </a:ext>
            </a:extLst>
          </p:cNvPr>
          <p:cNvSpPr>
            <a:spLocks noGrp="1"/>
          </p:cNvSpPr>
          <p:nvPr>
            <p:ph type="body" sz="quarter" idx="13"/>
          </p:nvPr>
        </p:nvSpPr>
        <p:spPr/>
        <p:txBody>
          <a:bodyPr/>
          <a:lstStyle/>
          <a:p>
            <a:r>
              <a:rPr lang="en-US"/>
              <a:t>EPIC: Enterprise Pipeline for Infrastructure and Cloud</a:t>
            </a:r>
          </a:p>
        </p:txBody>
      </p:sp>
      <p:sp>
        <p:nvSpPr>
          <p:cNvPr id="3" name="Text Placeholder 2">
            <a:extLst>
              <a:ext uri="{FF2B5EF4-FFF2-40B4-BE49-F238E27FC236}">
                <a16:creationId xmlns:a16="http://schemas.microsoft.com/office/drawing/2014/main" id="{0C1DC046-13E8-8FEE-377B-71E8DC51775F}"/>
              </a:ext>
            </a:extLst>
          </p:cNvPr>
          <p:cNvSpPr>
            <a:spLocks noGrp="1"/>
          </p:cNvSpPr>
          <p:nvPr>
            <p:ph type="body" sz="quarter" idx="14"/>
          </p:nvPr>
        </p:nvSpPr>
        <p:spPr/>
        <p:txBody>
          <a:bodyPr/>
          <a:lstStyle/>
          <a:p>
            <a:r>
              <a:rPr lang="en-US"/>
              <a:t>Problem Statement</a:t>
            </a:r>
          </a:p>
        </p:txBody>
      </p:sp>
      <p:sp>
        <p:nvSpPr>
          <p:cNvPr id="7" name="TextBox 6">
            <a:extLst>
              <a:ext uri="{FF2B5EF4-FFF2-40B4-BE49-F238E27FC236}">
                <a16:creationId xmlns:a16="http://schemas.microsoft.com/office/drawing/2014/main" id="{77F0F50C-5654-23BB-920A-03591BD4A71E}"/>
              </a:ext>
            </a:extLst>
          </p:cNvPr>
          <p:cNvSpPr txBox="1"/>
          <p:nvPr/>
        </p:nvSpPr>
        <p:spPr>
          <a:xfrm>
            <a:off x="805362" y="3403031"/>
            <a:ext cx="2917160"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696C40"/>
                </a:solidFill>
                <a:effectLst/>
                <a:uLnTx/>
                <a:uFillTx/>
                <a:latin typeface="Arial" panose="020B0604020202020204" pitchFamily="34" charset="0"/>
                <a:ea typeface="MS PGothic" panose="020B0600070205080204" pitchFamily="34" charset="-128"/>
                <a:cs typeface="Arial" panose="020B0604020202020204" pitchFamily="34" charset="0"/>
              </a:rPr>
              <a:t>Increased Regulatory and Operational Risk</a:t>
            </a:r>
          </a:p>
        </p:txBody>
      </p:sp>
      <p:sp>
        <p:nvSpPr>
          <p:cNvPr id="8" name="TextBox 7">
            <a:extLst>
              <a:ext uri="{FF2B5EF4-FFF2-40B4-BE49-F238E27FC236}">
                <a16:creationId xmlns:a16="http://schemas.microsoft.com/office/drawing/2014/main" id="{9868E01A-04FF-653C-D26A-EA4121F86C91}"/>
              </a:ext>
            </a:extLst>
          </p:cNvPr>
          <p:cNvSpPr txBox="1"/>
          <p:nvPr/>
        </p:nvSpPr>
        <p:spPr>
          <a:xfrm>
            <a:off x="4584819" y="3264531"/>
            <a:ext cx="2917161"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49735D"/>
                </a:solidFill>
                <a:effectLst/>
                <a:uLnTx/>
                <a:uFillTx/>
                <a:latin typeface="Arial" panose="020B0604020202020204" pitchFamily="34" charset="0"/>
                <a:ea typeface="MS PGothic" panose="020B0600070205080204" pitchFamily="34" charset="-128"/>
                <a:cs typeface="Arial" panose="020B0604020202020204" pitchFamily="34" charset="0"/>
              </a:rPr>
              <a:t>Inconsistent Delivery and Developer Experience</a:t>
            </a:r>
            <a:endParaRPr kumimoji="0" lang="en-US" sz="1800" b="1" i="0" u="none" strike="noStrike" kern="1200" cap="none" spc="0" normalizeH="0" baseline="0" noProof="0">
              <a:ln>
                <a:noFill/>
              </a:ln>
              <a:solidFill>
                <a:srgbClr val="49735D"/>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D5A6C4B1-2CB4-85C4-93DC-8259ADDB4E4F}"/>
              </a:ext>
            </a:extLst>
          </p:cNvPr>
          <p:cNvSpPr txBox="1"/>
          <p:nvPr/>
        </p:nvSpPr>
        <p:spPr>
          <a:xfrm>
            <a:off x="8371369" y="3403031"/>
            <a:ext cx="291715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1893D"/>
                </a:solidFill>
                <a:effectLst/>
                <a:uLnTx/>
                <a:uFillTx/>
                <a:latin typeface="Arial" panose="020B0604020202020204" pitchFamily="34" charset="0"/>
                <a:ea typeface="+mn-ea"/>
                <a:cs typeface="Arial" panose="020B0604020202020204" pitchFamily="34" charset="0"/>
              </a:rPr>
              <a:t>Higher Enterprise Cost and Complexity</a:t>
            </a:r>
          </a:p>
        </p:txBody>
      </p:sp>
      <p:sp>
        <p:nvSpPr>
          <p:cNvPr id="11" name="TextBox 10">
            <a:extLst>
              <a:ext uri="{FF2B5EF4-FFF2-40B4-BE49-F238E27FC236}">
                <a16:creationId xmlns:a16="http://schemas.microsoft.com/office/drawing/2014/main" id="{59913A9A-9734-99B7-0F7E-EBB7FAFFD7FA}"/>
              </a:ext>
            </a:extLst>
          </p:cNvPr>
          <p:cNvSpPr txBox="1"/>
          <p:nvPr/>
        </p:nvSpPr>
        <p:spPr>
          <a:xfrm>
            <a:off x="4584821" y="4188943"/>
            <a:ext cx="2917159" cy="1908215"/>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Teams use different pipeline patterns, controls, and release processes</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Developer onboarding and productivity vary significantly by applications and teams</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Enterprise </a:t>
            </a:r>
            <a:r>
              <a:rPr kumimoji="0" lang="en-US" sz="1200" b="0" i="0" u="none" strike="noStrike" kern="1200" cap="none" spc="0" normalizeH="0" baseline="0" noProof="0" err="1">
                <a:ln>
                  <a:noFill/>
                </a:ln>
                <a:solidFill>
                  <a:srgbClr val="777777">
                    <a:lumMod val="50000"/>
                  </a:srgbClr>
                </a:solidFill>
                <a:effectLst/>
                <a:uLnTx/>
                <a:uFillTx/>
                <a:latin typeface="Arial" panose="020B0604020202020204" pitchFamily="34" charset="0"/>
                <a:ea typeface="+mn-ea"/>
                <a:cs typeface="Arial" panose="020B0604020202020204" pitchFamily="34" charset="0"/>
              </a:rPr>
              <a:t>DevSecOps</a:t>
            </a: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 improvements are complex to roll out consistently</a:t>
            </a:r>
          </a:p>
        </p:txBody>
      </p:sp>
      <p:sp>
        <p:nvSpPr>
          <p:cNvPr id="12" name="TextBox 11">
            <a:extLst>
              <a:ext uri="{FF2B5EF4-FFF2-40B4-BE49-F238E27FC236}">
                <a16:creationId xmlns:a16="http://schemas.microsoft.com/office/drawing/2014/main" id="{9BFA4B65-2125-D67F-A12D-300A2BB2162B}"/>
              </a:ext>
            </a:extLst>
          </p:cNvPr>
          <p:cNvSpPr txBox="1"/>
          <p:nvPr/>
        </p:nvSpPr>
        <p:spPr>
          <a:xfrm>
            <a:off x="8364282" y="4188943"/>
            <a:ext cx="2917159" cy="1908215"/>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Inconsistent pipelines creates duplicated integrations and support models for support</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Existing pipelines tools and skills do not support multi &amp; hybrid cloud world</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777777">
                    <a:lumMod val="50000"/>
                  </a:srgbClr>
                </a:solidFill>
                <a:effectLst/>
                <a:uLnTx/>
                <a:uFillTx/>
                <a:latin typeface="Arial" panose="020B0604020202020204" pitchFamily="34" charset="0"/>
                <a:ea typeface="+mn-ea"/>
                <a:cs typeface="Arial" panose="020B0604020202020204" pitchFamily="34" charset="0"/>
              </a:rPr>
              <a:t>De-centralized model creates duplication of effort with minimal enterprise value</a:t>
            </a:r>
          </a:p>
        </p:txBody>
      </p:sp>
      <p:sp>
        <p:nvSpPr>
          <p:cNvPr id="43" name="Rectangle: Rounded Corners 42">
            <a:extLst>
              <a:ext uri="{FF2B5EF4-FFF2-40B4-BE49-F238E27FC236}">
                <a16:creationId xmlns:a16="http://schemas.microsoft.com/office/drawing/2014/main" id="{587D5148-66B3-4549-03C4-F0297A0FF70F}"/>
              </a:ext>
            </a:extLst>
          </p:cNvPr>
          <p:cNvSpPr/>
          <p:nvPr/>
        </p:nvSpPr>
        <p:spPr>
          <a:xfrm>
            <a:off x="805358" y="838420"/>
            <a:ext cx="10476083" cy="1251474"/>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2">
              <a:shade val="15000"/>
            </a:schemeClr>
          </a:lnRef>
          <a:fillRef idx="1">
            <a:schemeClr val="accent2"/>
          </a:fillRef>
          <a:effectRef idx="0">
            <a:schemeClr val="accent2"/>
          </a:effectRef>
          <a:fontRef idx="minor">
            <a:schemeClr val="lt1"/>
          </a:fontRef>
        </p:style>
        <p:txBody>
          <a:bodyPr lIns="10058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89C4"/>
                </a:solidFill>
                <a:effectLst/>
                <a:uLnTx/>
                <a:uFillTx/>
                <a:latin typeface="Aptos" panose="02110004020202020204"/>
                <a:ea typeface="+mn-ea"/>
                <a:cs typeface="+mn-cs"/>
              </a:rPr>
              <a:t>PG&amp;E does not have an enterprise CI/CD pipeline that can support multi and hybrid cloud. As a result, teams independently adopt and configure CI/CD tools and patterns, creating inconsistent controls, unpredictable cost, increased operational risk, and uneven developer experience across the enterprise.</a:t>
            </a:r>
          </a:p>
        </p:txBody>
      </p:sp>
      <p:pic>
        <p:nvPicPr>
          <p:cNvPr id="20" name="Picture 19" descr="Question Mark with solid fill">
            <a:extLst>
              <a:ext uri="{FF2B5EF4-FFF2-40B4-BE49-F238E27FC236}">
                <a16:creationId xmlns:a16="http://schemas.microsoft.com/office/drawing/2014/main" id="{8C4267D9-B915-2E13-0A21-97038C81529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922674" y="2472708"/>
            <a:ext cx="682529" cy="682529"/>
          </a:xfrm>
          <a:prstGeom prst="rect">
            <a:avLst/>
          </a:prstGeom>
        </p:spPr>
      </p:pic>
      <p:pic>
        <p:nvPicPr>
          <p:cNvPr id="22" name="Picture 21" descr="Money with solid fill">
            <a:extLst>
              <a:ext uri="{FF2B5EF4-FFF2-40B4-BE49-F238E27FC236}">
                <a16:creationId xmlns:a16="http://schemas.microsoft.com/office/drawing/2014/main" id="{A64D64C8-FE1B-B522-5B6D-583AEDB30CB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489958" y="2473983"/>
            <a:ext cx="679979" cy="679979"/>
          </a:xfrm>
          <a:prstGeom prst="rect">
            <a:avLst/>
          </a:prstGeom>
        </p:spPr>
      </p:pic>
      <p:pic>
        <p:nvPicPr>
          <p:cNvPr id="24" name="Picture 23" descr="A white symbol with arrows and a question mark&#10;&#10;AI-generated content may be incorrect.">
            <a:extLst>
              <a:ext uri="{FF2B5EF4-FFF2-40B4-BE49-F238E27FC236}">
                <a16:creationId xmlns:a16="http://schemas.microsoft.com/office/drawing/2014/main" id="{D3F9221E-F330-3F21-F4F9-378B9227485C}"/>
              </a:ext>
            </a:extLst>
          </p:cNvPr>
          <p:cNvPicPr>
            <a:picLocks noChangeAspect="1"/>
          </p:cNvPicPr>
          <p:nvPr/>
        </p:nvPicPr>
        <p:blipFill>
          <a:blip r:embed="rId5"/>
          <a:stretch>
            <a:fillRect/>
          </a:stretch>
        </p:blipFill>
        <p:spPr>
          <a:xfrm>
            <a:off x="5779676" y="2546618"/>
            <a:ext cx="534708" cy="534708"/>
          </a:xfrm>
          <a:prstGeom prst="rect">
            <a:avLst/>
          </a:prstGeom>
        </p:spPr>
      </p:pic>
      <p:sp>
        <p:nvSpPr>
          <p:cNvPr id="25" name="Round Same Side Corner Rectangle 24">
            <a:extLst>
              <a:ext uri="{FF2B5EF4-FFF2-40B4-BE49-F238E27FC236}">
                <a16:creationId xmlns:a16="http://schemas.microsoft.com/office/drawing/2014/main" id="{E628972D-73D8-5CFB-67A8-AFBECE21FB43}"/>
              </a:ext>
            </a:extLst>
          </p:cNvPr>
          <p:cNvSpPr/>
          <p:nvPr/>
        </p:nvSpPr>
        <p:spPr>
          <a:xfrm rot="5400000">
            <a:off x="762492" y="1072191"/>
            <a:ext cx="864432" cy="778700"/>
          </a:xfrm>
          <a:prstGeom prst="round2SameRect">
            <a:avLst/>
          </a:prstGeom>
          <a:solidFill>
            <a:srgbClr val="0089C4"/>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9C4"/>
              </a:solidFill>
              <a:effectLst/>
              <a:uLnTx/>
              <a:uFillTx/>
              <a:latin typeface="Aptos" panose="02110004020202020204"/>
              <a:ea typeface="+mn-ea"/>
              <a:cs typeface="+mn-cs"/>
            </a:endParaRPr>
          </a:p>
        </p:txBody>
      </p:sp>
      <p:pic>
        <p:nvPicPr>
          <p:cNvPr id="27" name="Picture 26" descr="A white exclamation mark in a triangle&#10;&#10;AI-generated content may be incorrect.">
            <a:extLst>
              <a:ext uri="{FF2B5EF4-FFF2-40B4-BE49-F238E27FC236}">
                <a16:creationId xmlns:a16="http://schemas.microsoft.com/office/drawing/2014/main" id="{72FECA02-27E4-DC6D-5A4D-2EAE45B961A2}"/>
              </a:ext>
            </a:extLst>
          </p:cNvPr>
          <p:cNvPicPr>
            <a:picLocks noChangeAspect="1"/>
          </p:cNvPicPr>
          <p:nvPr/>
        </p:nvPicPr>
        <p:blipFill>
          <a:blip r:embed="rId6"/>
          <a:stretch>
            <a:fillRect/>
          </a:stretch>
        </p:blipFill>
        <p:spPr>
          <a:xfrm>
            <a:off x="910559" y="1209206"/>
            <a:ext cx="516066" cy="496343"/>
          </a:xfrm>
          <a:prstGeom prst="rect">
            <a:avLst/>
          </a:prstGeom>
        </p:spPr>
      </p:pic>
    </p:spTree>
    <p:extLst>
      <p:ext uri="{BB962C8B-B14F-4D97-AF65-F5344CB8AC3E}">
        <p14:creationId xmlns:p14="http://schemas.microsoft.com/office/powerpoint/2010/main" val="2597882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7D457-750B-3901-E9D3-0D7A988BBFC0}"/>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F0208A4A-912E-BE28-9520-62F441918AEF}"/>
              </a:ext>
            </a:extLst>
          </p:cNvPr>
          <p:cNvSpPr>
            <a:spLocks noGrp="1"/>
          </p:cNvSpPr>
          <p:nvPr>
            <p:ph type="body" sz="quarter" idx="13"/>
          </p:nvPr>
        </p:nvSpPr>
        <p:spPr/>
        <p:txBody>
          <a:bodyPr/>
          <a:lstStyle/>
          <a:p>
            <a:r>
              <a:rPr lang="en-US"/>
              <a:t>EPIC: Enterprise Pipeline for Infrastructure and Cloud</a:t>
            </a:r>
          </a:p>
          <a:p>
            <a:endParaRPr lang="en-US"/>
          </a:p>
        </p:txBody>
      </p:sp>
      <p:sp>
        <p:nvSpPr>
          <p:cNvPr id="9" name="Text Placeholder 8">
            <a:extLst>
              <a:ext uri="{FF2B5EF4-FFF2-40B4-BE49-F238E27FC236}">
                <a16:creationId xmlns:a16="http://schemas.microsoft.com/office/drawing/2014/main" id="{AEA3728F-504B-8CEA-B36B-6CC21038441D}"/>
              </a:ext>
            </a:extLst>
          </p:cNvPr>
          <p:cNvSpPr>
            <a:spLocks noGrp="1"/>
          </p:cNvSpPr>
          <p:nvPr>
            <p:ph type="body" sz="quarter" idx="14"/>
          </p:nvPr>
        </p:nvSpPr>
        <p:spPr/>
        <p:txBody>
          <a:bodyPr/>
          <a:lstStyle/>
          <a:p>
            <a:r>
              <a:rPr lang="en-US"/>
              <a:t>Key Requirements Impacting the Design</a:t>
            </a:r>
          </a:p>
        </p:txBody>
      </p:sp>
      <p:sp>
        <p:nvSpPr>
          <p:cNvPr id="2" name="TextBox 1">
            <a:extLst>
              <a:ext uri="{FF2B5EF4-FFF2-40B4-BE49-F238E27FC236}">
                <a16:creationId xmlns:a16="http://schemas.microsoft.com/office/drawing/2014/main" id="{2CF0CD1D-79DA-C8E1-3D9C-FC96EF2269CA}"/>
              </a:ext>
            </a:extLst>
          </p:cNvPr>
          <p:cNvSpPr txBox="1"/>
          <p:nvPr/>
        </p:nvSpPr>
        <p:spPr>
          <a:xfrm>
            <a:off x="459269" y="1580547"/>
            <a:ext cx="4890592" cy="2711640"/>
          </a:xfrm>
          <a:prstGeom prst="rect">
            <a:avLst/>
          </a:prstGeom>
          <a:noFill/>
        </p:spPr>
        <p:txBody>
          <a:bodyPr wrap="square" rtlCol="0">
            <a:normAutofit fontScale="92500" lnSpcReduction="20000"/>
          </a:bodyPr>
          <a:lstStyle/>
          <a:p>
            <a:r>
              <a:rPr lang="en-US" sz="1800" b="1" dirty="0">
                <a:solidFill>
                  <a:schemeClr val="tx2"/>
                </a:solidFill>
              </a:rPr>
              <a:t>Key Functional Requirements</a:t>
            </a:r>
          </a:p>
          <a:p>
            <a:endParaRPr lang="en-US" dirty="0"/>
          </a:p>
          <a:p>
            <a:pPr marL="342900" indent="-342900">
              <a:lnSpc>
                <a:spcPct val="110000"/>
              </a:lnSpc>
              <a:buFont typeface="+mj-lt"/>
              <a:buAutoNum type="arabicPeriod"/>
            </a:pPr>
            <a:r>
              <a:rPr lang="en-US" sz="1200" dirty="0"/>
              <a:t>Universal Pipeline — one ADO framework adopted by every PG&amp;E app team. As a regulated utility, consistent security, audit, and governance controls are mandatory across every workload — not optional per-team choices.</a:t>
            </a:r>
          </a:p>
          <a:p>
            <a:pPr marL="342900" indent="-342900">
              <a:lnSpc>
                <a:spcPct val="110000"/>
              </a:lnSpc>
              <a:buFont typeface="+mj-lt"/>
              <a:buAutoNum type="arabicPeriod"/>
            </a:pPr>
            <a:r>
              <a:rPr lang="en-US" sz="1200" dirty="0"/>
              <a:t>Single contract per app — every team onboards via .pipeline/</a:t>
            </a:r>
            <a:r>
              <a:rPr lang="en-US" sz="1200" dirty="0" err="1"/>
              <a:t>epic.json</a:t>
            </a:r>
            <a:r>
              <a:rPr lang="en-US" sz="1200" dirty="0"/>
              <a:t>; the contract drives stage selection (Build · Test · Scan · Infra · Deploy · Integration) and infrastructure provisioning.</a:t>
            </a:r>
          </a:p>
          <a:p>
            <a:pPr marL="342900" indent="-342900">
              <a:lnSpc>
                <a:spcPct val="110000"/>
              </a:lnSpc>
              <a:buFont typeface="+mj-lt"/>
              <a:buAutoNum type="arabicPeriod"/>
            </a:pPr>
            <a:r>
              <a:rPr lang="en-US" sz="1200" dirty="0"/>
              <a:t>Multi-cloud deployment — one pipeline targets AWS, Azure, Azure Local, and SAP BTP based on cloud.* in the contract.</a:t>
            </a:r>
          </a:p>
          <a:p>
            <a:pPr marL="342900" indent="-342900">
              <a:lnSpc>
                <a:spcPct val="110000"/>
              </a:lnSpc>
              <a:buFont typeface="+mj-lt"/>
              <a:buAutoNum type="arabicPeriod"/>
            </a:pPr>
            <a:r>
              <a:rPr lang="en-US" sz="1200" dirty="0"/>
              <a:t>Self-service runs + automated CI — users trigger builds from the EPIC dashboard, and PR merges to tracked branches kick off CI automatically.</a:t>
            </a:r>
          </a:p>
          <a:p>
            <a:pPr marL="342900" indent="-342900">
              <a:lnSpc>
                <a:spcPct val="110000"/>
              </a:lnSpc>
              <a:buFont typeface="+mj-lt"/>
              <a:buAutoNum type="arabicPeriod"/>
            </a:pPr>
            <a:r>
              <a:rPr lang="en-US" sz="1200" dirty="0"/>
              <a:t>Per-app, per-environment infrastructure — Terraform .infra/ provisioned through reusable </a:t>
            </a:r>
            <a:r>
              <a:rPr lang="en-US" sz="1200" dirty="0" err="1"/>
              <a:t>pgetech</a:t>
            </a:r>
            <a:r>
              <a:rPr lang="en-US" sz="1200" dirty="0"/>
              <a:t>/epic-pipeline-modules.</a:t>
            </a:r>
          </a:p>
        </p:txBody>
      </p:sp>
      <p:sp>
        <p:nvSpPr>
          <p:cNvPr id="3" name="TextBox 2">
            <a:extLst>
              <a:ext uri="{FF2B5EF4-FFF2-40B4-BE49-F238E27FC236}">
                <a16:creationId xmlns:a16="http://schemas.microsoft.com/office/drawing/2014/main" id="{FAF67627-FE62-1D4B-0839-2D859EF639FE}"/>
              </a:ext>
            </a:extLst>
          </p:cNvPr>
          <p:cNvSpPr txBox="1"/>
          <p:nvPr/>
        </p:nvSpPr>
        <p:spPr>
          <a:xfrm>
            <a:off x="6416661" y="1580547"/>
            <a:ext cx="4890592" cy="2711640"/>
          </a:xfrm>
          <a:prstGeom prst="rect">
            <a:avLst/>
          </a:prstGeom>
          <a:noFill/>
        </p:spPr>
        <p:txBody>
          <a:bodyPr wrap="square" rtlCol="0">
            <a:normAutofit/>
          </a:bodyPr>
          <a:lstStyle/>
          <a:p>
            <a:r>
              <a:rPr lang="en-US" sz="1800" b="1">
                <a:solidFill>
                  <a:schemeClr val="tx2"/>
                </a:solidFill>
              </a:rPr>
              <a:t>Key Non-Functional Requirements</a:t>
            </a:r>
          </a:p>
          <a:p>
            <a:endParaRPr lang="en-US"/>
          </a:p>
          <a:p>
            <a:pPr marL="342900" indent="-342900">
              <a:lnSpc>
                <a:spcPct val="110000"/>
              </a:lnSpc>
              <a:buFont typeface="+mj-lt"/>
              <a:buAutoNum type="arabicPeriod"/>
            </a:pPr>
            <a:r>
              <a:rPr lang="en-US" sz="1200"/>
              <a:t>Security — mandatory Wiz / SonarQube scans · AWS Secrets Manager for all creds · no long-lived cloud keys on agents.</a:t>
            </a:r>
          </a:p>
          <a:p>
            <a:pPr marL="342900" indent="-342900">
              <a:lnSpc>
                <a:spcPct val="110000"/>
              </a:lnSpc>
              <a:buFont typeface="+mj-lt"/>
              <a:buAutoNum type="arabicPeriod"/>
            </a:pPr>
            <a:r>
              <a:rPr lang="en-US" sz="1200"/>
              <a:t>Auditability / FinOps — every Engine build tagged: epicRepo · epicAppName · epicAppType · epicEnvironment · epicCloud.</a:t>
            </a:r>
          </a:p>
          <a:p>
            <a:pPr marL="342900" indent="-342900">
              <a:lnSpc>
                <a:spcPct val="110000"/>
              </a:lnSpc>
              <a:buFont typeface="+mj-lt"/>
              <a:buAutoNum type="arabicPeriod"/>
            </a:pPr>
            <a:r>
              <a:rPr lang="en-US" sz="1200"/>
              <a:t>Governance &amp; SoD — ManualValidation@0 approval gate driven by approvalEnvironments[] per environment.</a:t>
            </a:r>
          </a:p>
          <a:p>
            <a:pPr marL="342900" indent="-342900">
              <a:lnSpc>
                <a:spcPct val="110000"/>
              </a:lnSpc>
              <a:buFont typeface="+mj-lt"/>
              <a:buAutoNum type="arabicPeriod"/>
            </a:pPr>
            <a:r>
              <a:rPr lang="en-US" sz="1200"/>
              <a:t>Maintainability — centralized orchestrator + engine + stage templates; one repo to fix, every team benefits.</a:t>
            </a:r>
          </a:p>
          <a:p>
            <a:pPr marL="342900" indent="-342900">
              <a:lnSpc>
                <a:spcPct val="110000"/>
              </a:lnSpc>
              <a:buFont typeface="+mj-lt"/>
              <a:buAutoNum type="arabicPeriod"/>
            </a:pPr>
            <a:r>
              <a:rPr lang="en-US" sz="1200"/>
              <a:t>Network compliance — internal ALB w/ PG&amp;E corp CIDR ingress · CCOE-managed VPC · private Route 53 zones.</a:t>
            </a:r>
          </a:p>
        </p:txBody>
      </p:sp>
      <p:cxnSp>
        <p:nvCxnSpPr>
          <p:cNvPr id="8" name="Straight Connector 7">
            <a:extLst>
              <a:ext uri="{FF2B5EF4-FFF2-40B4-BE49-F238E27FC236}">
                <a16:creationId xmlns:a16="http://schemas.microsoft.com/office/drawing/2014/main" id="{50B87E09-1F87-61F2-B547-A30835CBC6BD}"/>
              </a:ext>
            </a:extLst>
          </p:cNvPr>
          <p:cNvCxnSpPr/>
          <p:nvPr/>
        </p:nvCxnSpPr>
        <p:spPr>
          <a:xfrm>
            <a:off x="6104275" y="1468833"/>
            <a:ext cx="0" cy="50560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8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69FA67-039F-B7F5-0EFC-BEFB17CB779D}"/>
              </a:ext>
            </a:extLst>
          </p:cNvPr>
          <p:cNvSpPr>
            <a:spLocks noGrp="1"/>
          </p:cNvSpPr>
          <p:nvPr>
            <p:ph type="body" sz="quarter" idx="13"/>
          </p:nvPr>
        </p:nvSpPr>
        <p:spPr/>
        <p:txBody>
          <a:bodyPr/>
          <a:lstStyle/>
          <a:p>
            <a:r>
              <a:rPr lang="en-US"/>
              <a:t>EPIC: Enterprise Pipeline for Infrastructure and Cloud</a:t>
            </a:r>
          </a:p>
        </p:txBody>
      </p:sp>
      <p:sp>
        <p:nvSpPr>
          <p:cNvPr id="3" name="Text Placeholder 2">
            <a:extLst>
              <a:ext uri="{FF2B5EF4-FFF2-40B4-BE49-F238E27FC236}">
                <a16:creationId xmlns:a16="http://schemas.microsoft.com/office/drawing/2014/main" id="{9240680B-8891-0A47-D914-4AF7608F8513}"/>
              </a:ext>
            </a:extLst>
          </p:cNvPr>
          <p:cNvSpPr>
            <a:spLocks noGrp="1"/>
          </p:cNvSpPr>
          <p:nvPr>
            <p:ph type="body" sz="quarter" idx="14"/>
          </p:nvPr>
        </p:nvSpPr>
        <p:spPr/>
        <p:txBody>
          <a:bodyPr/>
          <a:lstStyle/>
          <a:p>
            <a:r>
              <a:rPr lang="en-US"/>
              <a:t>Target State: Universal Pipeline Across Platforms</a:t>
            </a:r>
          </a:p>
        </p:txBody>
      </p:sp>
      <p:sp>
        <p:nvSpPr>
          <p:cNvPr id="10" name="Rectangle 9">
            <a:extLst>
              <a:ext uri="{FF2B5EF4-FFF2-40B4-BE49-F238E27FC236}">
                <a16:creationId xmlns:a16="http://schemas.microsoft.com/office/drawing/2014/main" id="{CBB8F9E7-9612-8BDA-5C98-692A40185570}"/>
              </a:ext>
            </a:extLst>
          </p:cNvPr>
          <p:cNvSpPr/>
          <p:nvPr/>
        </p:nvSpPr>
        <p:spPr>
          <a:xfrm>
            <a:off x="5303769" y="1410055"/>
            <a:ext cx="1828800" cy="566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61A2CF9C-8439-A080-6A1D-D3C78C61B0AD}"/>
              </a:ext>
            </a:extLst>
          </p:cNvPr>
          <p:cNvSpPr/>
          <p:nvPr/>
        </p:nvSpPr>
        <p:spPr>
          <a:xfrm>
            <a:off x="5303769" y="965555"/>
            <a:ext cx="1828800" cy="444500"/>
          </a:xfrm>
          <a:prstGeom prst="rect">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ptos" panose="02110004020202020204"/>
                <a:ea typeface="+mn-ea"/>
                <a:cs typeface="+mn-cs"/>
              </a:rPr>
              <a:t>Build Pipeline Configuration</a:t>
            </a:r>
          </a:p>
        </p:txBody>
      </p:sp>
      <p:sp>
        <p:nvSpPr>
          <p:cNvPr id="18" name="Rectangle 17">
            <a:extLst>
              <a:ext uri="{FF2B5EF4-FFF2-40B4-BE49-F238E27FC236}">
                <a16:creationId xmlns:a16="http://schemas.microsoft.com/office/drawing/2014/main" id="{AB1C79E7-37E3-75DF-7C77-47C82A0E8193}"/>
              </a:ext>
            </a:extLst>
          </p:cNvPr>
          <p:cNvSpPr/>
          <p:nvPr/>
        </p:nvSpPr>
        <p:spPr>
          <a:xfrm>
            <a:off x="900415" y="2253549"/>
            <a:ext cx="10617200" cy="2029694"/>
          </a:xfrm>
          <a:prstGeom prst="rect">
            <a:avLst/>
          </a:prstGeom>
          <a:solidFill>
            <a:srgbClr val="00B050">
              <a:alpha val="25337"/>
            </a:srgb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t"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panose="02110004020202020204"/>
                <a:ea typeface="+mn-ea"/>
                <a:cs typeface="+mn-cs"/>
              </a:rPr>
              <a:t>Enterprise Pipeline</a:t>
            </a:r>
          </a:p>
        </p:txBody>
      </p:sp>
      <p:sp>
        <p:nvSpPr>
          <p:cNvPr id="19" name="Rounded Rectangle 27">
            <a:extLst>
              <a:ext uri="{FF2B5EF4-FFF2-40B4-BE49-F238E27FC236}">
                <a16:creationId xmlns:a16="http://schemas.microsoft.com/office/drawing/2014/main" id="{CA58CEEE-0BC3-DA6E-3C70-6212F56AB399}"/>
              </a:ext>
            </a:extLst>
          </p:cNvPr>
          <p:cNvSpPr/>
          <p:nvPr/>
        </p:nvSpPr>
        <p:spPr>
          <a:xfrm>
            <a:off x="1092030" y="2865236"/>
            <a:ext cx="1371600" cy="60960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panose="02110004020202020204"/>
                <a:ea typeface="+mn-ea"/>
                <a:cs typeface="+mn-cs"/>
              </a:rPr>
              <a:t>App - Build</a:t>
            </a:r>
          </a:p>
        </p:txBody>
      </p:sp>
      <p:sp>
        <p:nvSpPr>
          <p:cNvPr id="20" name="Rounded Rectangle 33">
            <a:extLst>
              <a:ext uri="{FF2B5EF4-FFF2-40B4-BE49-F238E27FC236}">
                <a16:creationId xmlns:a16="http://schemas.microsoft.com/office/drawing/2014/main" id="{D0C4EF1E-43DC-049C-557F-D94083E1EB40}"/>
              </a:ext>
            </a:extLst>
          </p:cNvPr>
          <p:cNvSpPr/>
          <p:nvPr/>
        </p:nvSpPr>
        <p:spPr>
          <a:xfrm>
            <a:off x="2827002" y="2865562"/>
            <a:ext cx="1371600" cy="60960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panose="02110004020202020204"/>
                <a:ea typeface="+mn-ea"/>
                <a:cs typeface="+mn-cs"/>
              </a:rPr>
              <a:t>Unit Tests</a:t>
            </a:r>
          </a:p>
        </p:txBody>
      </p:sp>
      <p:sp>
        <p:nvSpPr>
          <p:cNvPr id="21" name="Rounded Rectangle 34">
            <a:extLst>
              <a:ext uri="{FF2B5EF4-FFF2-40B4-BE49-F238E27FC236}">
                <a16:creationId xmlns:a16="http://schemas.microsoft.com/office/drawing/2014/main" id="{5BD1DBA3-9974-41DD-F6C1-053031B4FBF5}"/>
              </a:ext>
            </a:extLst>
          </p:cNvPr>
          <p:cNvSpPr/>
          <p:nvPr/>
        </p:nvSpPr>
        <p:spPr>
          <a:xfrm>
            <a:off x="4567996" y="2868479"/>
            <a:ext cx="1371600" cy="60960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panose="02110004020202020204"/>
                <a:ea typeface="+mn-ea"/>
                <a:cs typeface="+mn-cs"/>
              </a:rPr>
              <a:t>App - Scan</a:t>
            </a:r>
          </a:p>
        </p:txBody>
      </p:sp>
      <p:sp>
        <p:nvSpPr>
          <p:cNvPr id="22" name="Rounded Rectangle 35">
            <a:extLst>
              <a:ext uri="{FF2B5EF4-FFF2-40B4-BE49-F238E27FC236}">
                <a16:creationId xmlns:a16="http://schemas.microsoft.com/office/drawing/2014/main" id="{D4008681-02AE-0CE5-175C-38AC7E28277D}"/>
              </a:ext>
            </a:extLst>
          </p:cNvPr>
          <p:cNvSpPr/>
          <p:nvPr/>
        </p:nvSpPr>
        <p:spPr>
          <a:xfrm>
            <a:off x="8043962" y="2868479"/>
            <a:ext cx="1371600" cy="60960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panose="02110004020202020204"/>
                <a:ea typeface="+mn-ea"/>
                <a:cs typeface="+mn-cs"/>
              </a:rPr>
              <a:t>App - Deploy</a:t>
            </a:r>
          </a:p>
        </p:txBody>
      </p:sp>
      <p:sp>
        <p:nvSpPr>
          <p:cNvPr id="23" name="Rounded Rectangle 36">
            <a:extLst>
              <a:ext uri="{FF2B5EF4-FFF2-40B4-BE49-F238E27FC236}">
                <a16:creationId xmlns:a16="http://schemas.microsoft.com/office/drawing/2014/main" id="{C06ABD43-04A9-91A6-042C-313E724F6F45}"/>
              </a:ext>
            </a:extLst>
          </p:cNvPr>
          <p:cNvSpPr/>
          <p:nvPr/>
        </p:nvSpPr>
        <p:spPr>
          <a:xfrm>
            <a:off x="9778934" y="2865075"/>
            <a:ext cx="1371600" cy="60960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defRPr/>
            </a:pPr>
            <a:r>
              <a:rPr kumimoji="0" lang="en-US" sz="1200" b="0" i="0" u="none" strike="noStrike" kern="1200" cap="none" spc="0" normalizeH="0" baseline="0" noProof="0">
                <a:ln>
                  <a:noFill/>
                </a:ln>
                <a:solidFill>
                  <a:srgbClr val="FFFFFF"/>
                </a:solidFill>
                <a:effectLst/>
                <a:uLnTx/>
                <a:uFillTx/>
                <a:latin typeface="Aptos" panose="02110004020202020204"/>
                <a:ea typeface="+mn-ea"/>
                <a:cs typeface="+mn-cs"/>
              </a:rPr>
              <a:t>Run </a:t>
            </a:r>
            <a:r>
              <a:rPr lang="en-US" sz="1200">
                <a:solidFill>
                  <a:srgbClr val="FFFFFF"/>
                </a:solidFill>
                <a:latin typeface="Aptos" panose="02110004020202020204"/>
              </a:rPr>
              <a:t>Integration</a:t>
            </a:r>
            <a:r>
              <a:rPr kumimoji="0" lang="en-US" sz="1200" b="0" i="0" u="none" strike="noStrike" kern="1200" cap="none" spc="0" normalizeH="0" baseline="0" noProof="0">
                <a:ln>
                  <a:noFill/>
                </a:ln>
                <a:solidFill>
                  <a:srgbClr val="FFFFFF"/>
                </a:solidFill>
                <a:effectLst/>
                <a:uLnTx/>
                <a:uFillTx/>
                <a:latin typeface="Aptos" panose="02110004020202020204"/>
                <a:ea typeface="+mn-ea"/>
                <a:cs typeface="+mn-cs"/>
              </a:rPr>
              <a:t> Tests (optional)</a:t>
            </a:r>
          </a:p>
        </p:txBody>
      </p:sp>
      <p:sp>
        <p:nvSpPr>
          <p:cNvPr id="24" name="Right Arrow 39">
            <a:extLst>
              <a:ext uri="{FF2B5EF4-FFF2-40B4-BE49-F238E27FC236}">
                <a16:creationId xmlns:a16="http://schemas.microsoft.com/office/drawing/2014/main" id="{9EB76945-ECD1-5C14-2BA0-EDBE1399DB37}"/>
              </a:ext>
            </a:extLst>
          </p:cNvPr>
          <p:cNvSpPr/>
          <p:nvPr/>
        </p:nvSpPr>
        <p:spPr>
          <a:xfrm>
            <a:off x="2469287" y="3042874"/>
            <a:ext cx="508335" cy="254002"/>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6" name="TextBox 25">
            <a:extLst>
              <a:ext uri="{FF2B5EF4-FFF2-40B4-BE49-F238E27FC236}">
                <a16:creationId xmlns:a16="http://schemas.microsoft.com/office/drawing/2014/main" id="{6B15819C-9F7E-B56E-9334-19CF7925DAF8}"/>
              </a:ext>
            </a:extLst>
          </p:cNvPr>
          <p:cNvSpPr txBox="1"/>
          <p:nvPr/>
        </p:nvSpPr>
        <p:spPr>
          <a:xfrm>
            <a:off x="5385667" y="1455902"/>
            <a:ext cx="166500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panose="02110004020202020204"/>
                <a:ea typeface="+mn-ea"/>
                <a:cs typeface="+mn-cs"/>
              </a:rPr>
              <a:t>Create pipeline config in project repo</a:t>
            </a:r>
          </a:p>
        </p:txBody>
      </p:sp>
      <p:sp>
        <p:nvSpPr>
          <p:cNvPr id="35" name="Rectangle 34">
            <a:extLst>
              <a:ext uri="{FF2B5EF4-FFF2-40B4-BE49-F238E27FC236}">
                <a16:creationId xmlns:a16="http://schemas.microsoft.com/office/drawing/2014/main" id="{FC6028D1-953A-080C-17C2-C86DCE2E9104}"/>
              </a:ext>
            </a:extLst>
          </p:cNvPr>
          <p:cNvSpPr/>
          <p:nvPr/>
        </p:nvSpPr>
        <p:spPr>
          <a:xfrm>
            <a:off x="918460" y="4726668"/>
            <a:ext cx="10617200" cy="3749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ptos" panose="02110004020202020204"/>
                <a:ea typeface="+mn-ea"/>
                <a:cs typeface="+mn-cs"/>
              </a:rPr>
              <a:t>Business Outcomes</a:t>
            </a:r>
          </a:p>
        </p:txBody>
      </p:sp>
      <p:grpSp>
        <p:nvGrpSpPr>
          <p:cNvPr id="36" name="Group 35">
            <a:extLst>
              <a:ext uri="{FF2B5EF4-FFF2-40B4-BE49-F238E27FC236}">
                <a16:creationId xmlns:a16="http://schemas.microsoft.com/office/drawing/2014/main" id="{14888851-E57B-F88A-F7A8-9D725F8EE9BA}"/>
              </a:ext>
            </a:extLst>
          </p:cNvPr>
          <p:cNvGrpSpPr/>
          <p:nvPr/>
        </p:nvGrpSpPr>
        <p:grpSpPr>
          <a:xfrm>
            <a:off x="1304540" y="5148310"/>
            <a:ext cx="1544952" cy="365760"/>
            <a:chOff x="558800" y="6840445"/>
            <a:chExt cx="1544952" cy="365760"/>
          </a:xfrm>
        </p:grpSpPr>
        <p:sp>
          <p:nvSpPr>
            <p:cNvPr id="37" name="TextBox 36">
              <a:extLst>
                <a:ext uri="{FF2B5EF4-FFF2-40B4-BE49-F238E27FC236}">
                  <a16:creationId xmlns:a16="http://schemas.microsoft.com/office/drawing/2014/main" id="{21B51692-DF1C-BD3E-E0F5-EC74220CDB34}"/>
                </a:ext>
              </a:extLst>
            </p:cNvPr>
            <p:cNvSpPr txBox="1">
              <a:spLocks/>
            </p:cNvSpPr>
            <p:nvPr/>
          </p:nvSpPr>
          <p:spPr>
            <a:xfrm>
              <a:off x="849629" y="6884825"/>
              <a:ext cx="125412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panose="02110004020202020204"/>
                  <a:ea typeface="+mn-ea"/>
                  <a:cs typeface="+mn-cs"/>
                </a:rPr>
                <a:t>Faster Delivery</a:t>
              </a:r>
            </a:p>
          </p:txBody>
        </p:sp>
        <p:pic>
          <p:nvPicPr>
            <p:cNvPr id="38" name="Graphic 37" descr="Badge Tick with solid fill">
              <a:extLst>
                <a:ext uri="{FF2B5EF4-FFF2-40B4-BE49-F238E27FC236}">
                  <a16:creationId xmlns:a16="http://schemas.microsoft.com/office/drawing/2014/main" id="{64178894-7AF0-FFE1-A429-30F94FD033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8800" y="6840445"/>
              <a:ext cx="365760" cy="365760"/>
            </a:xfrm>
            <a:prstGeom prst="rect">
              <a:avLst/>
            </a:prstGeom>
          </p:spPr>
        </p:pic>
      </p:grpSp>
      <p:grpSp>
        <p:nvGrpSpPr>
          <p:cNvPr id="39" name="Group 38">
            <a:extLst>
              <a:ext uri="{FF2B5EF4-FFF2-40B4-BE49-F238E27FC236}">
                <a16:creationId xmlns:a16="http://schemas.microsoft.com/office/drawing/2014/main" id="{D8C2A389-DFAB-DACA-8F23-4E08365E535C}"/>
              </a:ext>
            </a:extLst>
          </p:cNvPr>
          <p:cNvGrpSpPr/>
          <p:nvPr/>
        </p:nvGrpSpPr>
        <p:grpSpPr>
          <a:xfrm>
            <a:off x="3093968" y="5146001"/>
            <a:ext cx="1488439" cy="365760"/>
            <a:chOff x="2552700" y="6840445"/>
            <a:chExt cx="1488439" cy="365760"/>
          </a:xfrm>
        </p:grpSpPr>
        <p:sp>
          <p:nvSpPr>
            <p:cNvPr id="40" name="TextBox 39">
              <a:extLst>
                <a:ext uri="{FF2B5EF4-FFF2-40B4-BE49-F238E27FC236}">
                  <a16:creationId xmlns:a16="http://schemas.microsoft.com/office/drawing/2014/main" id="{054697A2-57F0-0F49-FD7F-6237E77DEA2F}"/>
                </a:ext>
              </a:extLst>
            </p:cNvPr>
            <p:cNvSpPr txBox="1">
              <a:spLocks/>
            </p:cNvSpPr>
            <p:nvPr/>
          </p:nvSpPr>
          <p:spPr>
            <a:xfrm>
              <a:off x="2854960" y="6884825"/>
              <a:ext cx="118617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panose="02110004020202020204"/>
                  <a:ea typeface="+mn-ea"/>
                  <a:cs typeface="+mn-cs"/>
                </a:rPr>
                <a:t>Reduced Risk</a:t>
              </a:r>
            </a:p>
          </p:txBody>
        </p:sp>
        <p:pic>
          <p:nvPicPr>
            <p:cNvPr id="41" name="Graphic 40" descr="Shield Tick with solid fill">
              <a:extLst>
                <a:ext uri="{FF2B5EF4-FFF2-40B4-BE49-F238E27FC236}">
                  <a16:creationId xmlns:a16="http://schemas.microsoft.com/office/drawing/2014/main" id="{222920F9-F276-8FBB-BFA1-131BD3EBD1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2700" y="6840445"/>
              <a:ext cx="365760" cy="365760"/>
            </a:xfrm>
            <a:prstGeom prst="rect">
              <a:avLst/>
            </a:prstGeom>
          </p:spPr>
        </p:pic>
      </p:grpSp>
      <p:grpSp>
        <p:nvGrpSpPr>
          <p:cNvPr id="42" name="Group 41">
            <a:extLst>
              <a:ext uri="{FF2B5EF4-FFF2-40B4-BE49-F238E27FC236}">
                <a16:creationId xmlns:a16="http://schemas.microsoft.com/office/drawing/2014/main" id="{FD9F6F02-A408-2B14-1426-CB5BCD70416A}"/>
              </a:ext>
            </a:extLst>
          </p:cNvPr>
          <p:cNvGrpSpPr/>
          <p:nvPr/>
        </p:nvGrpSpPr>
        <p:grpSpPr>
          <a:xfrm>
            <a:off x="9330940" y="5151305"/>
            <a:ext cx="2123122" cy="366387"/>
            <a:chOff x="8585200" y="6840445"/>
            <a:chExt cx="2123122" cy="366387"/>
          </a:xfrm>
        </p:grpSpPr>
        <p:sp>
          <p:nvSpPr>
            <p:cNvPr id="43" name="TextBox 42">
              <a:extLst>
                <a:ext uri="{FF2B5EF4-FFF2-40B4-BE49-F238E27FC236}">
                  <a16:creationId xmlns:a16="http://schemas.microsoft.com/office/drawing/2014/main" id="{52657021-B457-494A-5E66-394E049B9D81}"/>
                </a:ext>
              </a:extLst>
            </p:cNvPr>
            <p:cNvSpPr txBox="1">
              <a:spLocks/>
            </p:cNvSpPr>
            <p:nvPr/>
          </p:nvSpPr>
          <p:spPr>
            <a:xfrm>
              <a:off x="8910955" y="6840445"/>
              <a:ext cx="179736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panose="02110004020202020204"/>
                  <a:ea typeface="+mn-ea"/>
                  <a:cs typeface="+mn-cs"/>
                </a:rPr>
                <a:t>Reduce Technical Debt</a:t>
              </a:r>
            </a:p>
          </p:txBody>
        </p:sp>
        <p:pic>
          <p:nvPicPr>
            <p:cNvPr id="44" name="Graphic 43" descr="Business Growth with solid fill">
              <a:extLst>
                <a:ext uri="{FF2B5EF4-FFF2-40B4-BE49-F238E27FC236}">
                  <a16:creationId xmlns:a16="http://schemas.microsoft.com/office/drawing/2014/main" id="{D51EB052-9301-B3D7-1898-489C4D4CB6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85200" y="6841072"/>
              <a:ext cx="365760" cy="365760"/>
            </a:xfrm>
            <a:prstGeom prst="rect">
              <a:avLst/>
            </a:prstGeom>
          </p:spPr>
        </p:pic>
      </p:grpSp>
      <p:grpSp>
        <p:nvGrpSpPr>
          <p:cNvPr id="45" name="Group 44">
            <a:extLst>
              <a:ext uri="{FF2B5EF4-FFF2-40B4-BE49-F238E27FC236}">
                <a16:creationId xmlns:a16="http://schemas.microsoft.com/office/drawing/2014/main" id="{EA63EC89-9816-2F8D-1A75-8195E49A1DFD}"/>
              </a:ext>
            </a:extLst>
          </p:cNvPr>
          <p:cNvGrpSpPr/>
          <p:nvPr/>
        </p:nvGrpSpPr>
        <p:grpSpPr>
          <a:xfrm>
            <a:off x="4826883" y="5146001"/>
            <a:ext cx="2167907" cy="365760"/>
            <a:chOff x="4530090" y="6835134"/>
            <a:chExt cx="2167907" cy="365760"/>
          </a:xfrm>
        </p:grpSpPr>
        <p:sp>
          <p:nvSpPr>
            <p:cNvPr id="46" name="TextBox 45">
              <a:extLst>
                <a:ext uri="{FF2B5EF4-FFF2-40B4-BE49-F238E27FC236}">
                  <a16:creationId xmlns:a16="http://schemas.microsoft.com/office/drawing/2014/main" id="{97DFFB3F-9A8F-EC11-00FD-3B1CA29DD079}"/>
                </a:ext>
              </a:extLst>
            </p:cNvPr>
            <p:cNvSpPr txBox="1">
              <a:spLocks/>
            </p:cNvSpPr>
            <p:nvPr/>
          </p:nvSpPr>
          <p:spPr>
            <a:xfrm>
              <a:off x="4915219" y="6883849"/>
              <a:ext cx="178277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panose="02110004020202020204"/>
                  <a:ea typeface="+mn-ea"/>
                  <a:cs typeface="+mn-cs"/>
                </a:rPr>
                <a:t>Consistent Architecture</a:t>
              </a:r>
            </a:p>
          </p:txBody>
        </p:sp>
        <p:pic>
          <p:nvPicPr>
            <p:cNvPr id="47" name="Graphic 46" descr="Blockchain with solid fill">
              <a:extLst>
                <a:ext uri="{FF2B5EF4-FFF2-40B4-BE49-F238E27FC236}">
                  <a16:creationId xmlns:a16="http://schemas.microsoft.com/office/drawing/2014/main" id="{ABA80042-1561-285F-841C-5A98F98F21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30090" y="6835134"/>
              <a:ext cx="365760" cy="365760"/>
            </a:xfrm>
            <a:prstGeom prst="rect">
              <a:avLst/>
            </a:prstGeom>
          </p:spPr>
        </p:pic>
      </p:grpSp>
      <p:grpSp>
        <p:nvGrpSpPr>
          <p:cNvPr id="48" name="Group 47">
            <a:extLst>
              <a:ext uri="{FF2B5EF4-FFF2-40B4-BE49-F238E27FC236}">
                <a16:creationId xmlns:a16="http://schemas.microsoft.com/office/drawing/2014/main" id="{F5F005D3-616C-29F6-FC53-CEAECA641A48}"/>
              </a:ext>
            </a:extLst>
          </p:cNvPr>
          <p:cNvGrpSpPr/>
          <p:nvPr/>
        </p:nvGrpSpPr>
        <p:grpSpPr>
          <a:xfrm>
            <a:off x="7132569" y="5146001"/>
            <a:ext cx="2020588" cy="365760"/>
            <a:chOff x="6539863" y="6835134"/>
            <a:chExt cx="2020588" cy="365760"/>
          </a:xfrm>
        </p:grpSpPr>
        <p:sp>
          <p:nvSpPr>
            <p:cNvPr id="49" name="TextBox 48">
              <a:extLst>
                <a:ext uri="{FF2B5EF4-FFF2-40B4-BE49-F238E27FC236}">
                  <a16:creationId xmlns:a16="http://schemas.microsoft.com/office/drawing/2014/main" id="{B27400AE-94AD-48F5-72F3-3CDF053CF998}"/>
                </a:ext>
              </a:extLst>
            </p:cNvPr>
            <p:cNvSpPr txBox="1">
              <a:spLocks/>
            </p:cNvSpPr>
            <p:nvPr/>
          </p:nvSpPr>
          <p:spPr>
            <a:xfrm>
              <a:off x="6851650" y="6895000"/>
              <a:ext cx="170880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panose="02110004020202020204"/>
                  <a:ea typeface="+mn-ea"/>
                  <a:cs typeface="+mn-cs"/>
                </a:rPr>
                <a:t>Audit-Ready by Default</a:t>
              </a:r>
            </a:p>
          </p:txBody>
        </p:sp>
        <p:pic>
          <p:nvPicPr>
            <p:cNvPr id="50" name="Graphic 49" descr="Checkbox Checked with solid fill">
              <a:extLst>
                <a:ext uri="{FF2B5EF4-FFF2-40B4-BE49-F238E27FC236}">
                  <a16:creationId xmlns:a16="http://schemas.microsoft.com/office/drawing/2014/main" id="{1A45C13F-D98E-72E5-0489-2BB35B719FE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9863" y="6835134"/>
              <a:ext cx="365760" cy="365760"/>
            </a:xfrm>
            <a:prstGeom prst="rect">
              <a:avLst/>
            </a:prstGeom>
          </p:spPr>
        </p:pic>
      </p:grpSp>
      <p:sp>
        <p:nvSpPr>
          <p:cNvPr id="51" name="Title 1">
            <a:extLst>
              <a:ext uri="{FF2B5EF4-FFF2-40B4-BE49-F238E27FC236}">
                <a16:creationId xmlns:a16="http://schemas.microsoft.com/office/drawing/2014/main" id="{47C44A4D-608E-D8F7-D9DA-2EA09758A16F}"/>
              </a:ext>
            </a:extLst>
          </p:cNvPr>
          <p:cNvSpPr txBox="1">
            <a:spLocks/>
          </p:cNvSpPr>
          <p:nvPr/>
        </p:nvSpPr>
        <p:spPr>
          <a:xfrm>
            <a:off x="836863" y="5852627"/>
            <a:ext cx="10617199" cy="539759"/>
          </a:xfrm>
          <a:prstGeom prst="roundRect">
            <a:avLst/>
          </a:prstGeom>
        </p:spPr>
        <p:style>
          <a:lnRef idx="3">
            <a:schemeClr val="lt1"/>
          </a:lnRef>
          <a:fillRef idx="1">
            <a:schemeClr val="accent2"/>
          </a:fillRef>
          <a:effectRef idx="1">
            <a:schemeClr val="accent2"/>
          </a:effectRef>
          <a:fontRef idx="minor">
            <a:schemeClr val="lt1"/>
          </a:fontRef>
        </p:style>
        <p:txBody>
          <a:bodyPr vert="horz" lIns="0" tIns="0" rIns="0" bIns="0" rtlCol="0" anchor="ctr">
            <a:normAutofit/>
          </a:bodyPr>
          <a:lstStyle>
            <a:lvl1pPr algn="l" defTabSz="1097275" rtl="0" eaLnBrk="1" latinLnBrk="0" hangingPunct="1">
              <a:lnSpc>
                <a:spcPct val="90000"/>
              </a:lnSpc>
              <a:spcBef>
                <a:spcPct val="0"/>
              </a:spcBef>
              <a:buNone/>
              <a:defRPr lang="en-US" sz="2400" b="1" kern="1200">
                <a:solidFill>
                  <a:schemeClr val="bg1"/>
                </a:solidFill>
                <a:latin typeface="Arial" panose="020B0604020202020204" pitchFamily="34" charset="0"/>
                <a:ea typeface="MS PGothic" panose="020B0600070205080204" pitchFamily="34" charset="-128"/>
                <a:cs typeface="Arial" panose="020B0604020202020204" pitchFamily="34" charset="0"/>
              </a:defRPr>
            </a:lvl1pPr>
          </a:lstStyle>
          <a:p>
            <a:pPr marL="0" marR="0" lvl="0" indent="0" algn="ctr" defTabSz="1097275"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lumMod val="75000"/>
                  </a:srgbClr>
                </a:solidFill>
                <a:effectLst/>
                <a:uLnTx/>
                <a:uFillTx/>
                <a:latin typeface="Arial" panose="020B0604020202020204" pitchFamily="34" charset="0"/>
                <a:ea typeface="MS PGothic" panose="020B0600070205080204" pitchFamily="34" charset="-128"/>
                <a:cs typeface="Arial" panose="020B0604020202020204" pitchFamily="34" charset="0"/>
              </a:rPr>
              <a:t>“Enterprise Pipeline transforms developers intent into secure, compliant cloud deployments – automatically, consistently, and at enterprise scale.”</a:t>
            </a:r>
          </a:p>
        </p:txBody>
      </p:sp>
      <p:cxnSp>
        <p:nvCxnSpPr>
          <p:cNvPr id="52" name="Straight Connector 51">
            <a:extLst>
              <a:ext uri="{FF2B5EF4-FFF2-40B4-BE49-F238E27FC236}">
                <a16:creationId xmlns:a16="http://schemas.microsoft.com/office/drawing/2014/main" id="{8669EC85-7A07-D2C9-3B2F-8313C3B2481F}"/>
              </a:ext>
            </a:extLst>
          </p:cNvPr>
          <p:cNvCxnSpPr>
            <a:cxnSpLocks/>
          </p:cNvCxnSpPr>
          <p:nvPr/>
        </p:nvCxnSpPr>
        <p:spPr>
          <a:xfrm>
            <a:off x="1304540" y="5667746"/>
            <a:ext cx="988574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A2BA8EED-BA8C-E32C-2249-5C0218DFF85C}"/>
              </a:ext>
            </a:extLst>
          </p:cNvPr>
          <p:cNvSpPr/>
          <p:nvPr/>
        </p:nvSpPr>
        <p:spPr>
          <a:xfrm>
            <a:off x="5272389" y="2641812"/>
            <a:ext cx="632460" cy="18228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Aptos" panose="02110004020202020204"/>
                <a:ea typeface="+mn-ea"/>
                <a:cs typeface="+mn-cs"/>
              </a:rPr>
              <a:t>Fail</a:t>
            </a:r>
          </a:p>
        </p:txBody>
      </p:sp>
      <p:sp>
        <p:nvSpPr>
          <p:cNvPr id="54" name="Rectangle 53">
            <a:extLst>
              <a:ext uri="{FF2B5EF4-FFF2-40B4-BE49-F238E27FC236}">
                <a16:creationId xmlns:a16="http://schemas.microsoft.com/office/drawing/2014/main" id="{A6CED5E8-9989-2E63-F3AA-2370EBB01A04}"/>
              </a:ext>
            </a:extLst>
          </p:cNvPr>
          <p:cNvSpPr/>
          <p:nvPr/>
        </p:nvSpPr>
        <p:spPr>
          <a:xfrm>
            <a:off x="4598140" y="2645582"/>
            <a:ext cx="632460" cy="18228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Aptos" panose="02110004020202020204"/>
                <a:ea typeface="+mn-ea"/>
                <a:cs typeface="+mn-cs"/>
              </a:rPr>
              <a:t>Pass</a:t>
            </a:r>
          </a:p>
        </p:txBody>
      </p:sp>
      <p:sp>
        <p:nvSpPr>
          <p:cNvPr id="55" name="Right Arrow 21">
            <a:extLst>
              <a:ext uri="{FF2B5EF4-FFF2-40B4-BE49-F238E27FC236}">
                <a16:creationId xmlns:a16="http://schemas.microsoft.com/office/drawing/2014/main" id="{0EECC90E-9DF3-7445-3408-CD0BCA74D107}"/>
              </a:ext>
            </a:extLst>
          </p:cNvPr>
          <p:cNvSpPr/>
          <p:nvPr/>
        </p:nvSpPr>
        <p:spPr>
          <a:xfrm rot="5400000">
            <a:off x="6062329" y="1744358"/>
            <a:ext cx="342900" cy="666750"/>
          </a:xfrm>
          <a:prstGeom prst="rightArrow">
            <a:avLst/>
          </a:prstGeom>
          <a:gradFill flip="none" rotWithShape="1">
            <a:gsLst>
              <a:gs pos="0">
                <a:schemeClr val="accent5">
                  <a:lumMod val="20000"/>
                  <a:lumOff val="80000"/>
                </a:schemeClr>
              </a:gs>
              <a:gs pos="28000">
                <a:schemeClr val="accent5">
                  <a:lumMod val="40000"/>
                  <a:lumOff val="60000"/>
                </a:schemeClr>
              </a:gs>
              <a:gs pos="48000">
                <a:schemeClr val="accent5">
                  <a:lumMod val="60000"/>
                  <a:lumOff val="40000"/>
                </a:schemeClr>
              </a:gs>
              <a:gs pos="100000">
                <a:schemeClr val="accent5">
                  <a:lumMod val="7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57" name="Rounded Rectangle 5">
            <a:extLst>
              <a:ext uri="{FF2B5EF4-FFF2-40B4-BE49-F238E27FC236}">
                <a16:creationId xmlns:a16="http://schemas.microsoft.com/office/drawing/2014/main" id="{421F0EA2-DBD4-A3FF-412C-38100E805293}"/>
              </a:ext>
            </a:extLst>
          </p:cNvPr>
          <p:cNvSpPr/>
          <p:nvPr/>
        </p:nvSpPr>
        <p:spPr>
          <a:xfrm>
            <a:off x="6308990" y="2868479"/>
            <a:ext cx="1371600" cy="60960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panose="02110004020202020204"/>
                <a:ea typeface="+mn-ea"/>
                <a:cs typeface="+mn-cs"/>
              </a:rPr>
              <a:t>Infra - Deploy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panose="02110004020202020204"/>
                <a:ea typeface="+mn-ea"/>
                <a:cs typeface="+mn-cs"/>
              </a:rPr>
              <a:t>(optional)</a:t>
            </a:r>
          </a:p>
        </p:txBody>
      </p:sp>
      <p:sp>
        <p:nvSpPr>
          <p:cNvPr id="58" name="Rectangle 57">
            <a:extLst>
              <a:ext uri="{FF2B5EF4-FFF2-40B4-BE49-F238E27FC236}">
                <a16:creationId xmlns:a16="http://schemas.microsoft.com/office/drawing/2014/main" id="{7DE080B2-1F45-47D0-3B47-05532555D79B}"/>
              </a:ext>
            </a:extLst>
          </p:cNvPr>
          <p:cNvSpPr/>
          <p:nvPr/>
        </p:nvSpPr>
        <p:spPr>
          <a:xfrm>
            <a:off x="8752958" y="2642881"/>
            <a:ext cx="632460" cy="18228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Aptos" panose="02110004020202020204"/>
                <a:ea typeface="+mn-ea"/>
                <a:cs typeface="+mn-cs"/>
              </a:rPr>
              <a:t>Denu</a:t>
            </a:r>
          </a:p>
        </p:txBody>
      </p:sp>
      <p:sp>
        <p:nvSpPr>
          <p:cNvPr id="59" name="Rectangle 58">
            <a:extLst>
              <a:ext uri="{FF2B5EF4-FFF2-40B4-BE49-F238E27FC236}">
                <a16:creationId xmlns:a16="http://schemas.microsoft.com/office/drawing/2014/main" id="{B06B23A4-25C6-A1D7-1788-B2A9AE5530AC}"/>
              </a:ext>
            </a:extLst>
          </p:cNvPr>
          <p:cNvSpPr/>
          <p:nvPr/>
        </p:nvSpPr>
        <p:spPr>
          <a:xfrm>
            <a:off x="8078709" y="2646651"/>
            <a:ext cx="632460" cy="18228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Aptos" panose="02110004020202020204"/>
                <a:ea typeface="+mn-ea"/>
                <a:cs typeface="+mn-cs"/>
              </a:rPr>
              <a:t>Approve</a:t>
            </a:r>
          </a:p>
        </p:txBody>
      </p:sp>
      <p:sp>
        <p:nvSpPr>
          <p:cNvPr id="60" name="Right Arrow 28">
            <a:extLst>
              <a:ext uri="{FF2B5EF4-FFF2-40B4-BE49-F238E27FC236}">
                <a16:creationId xmlns:a16="http://schemas.microsoft.com/office/drawing/2014/main" id="{7BC0D39C-FDF5-6359-0995-4420793E83FA}"/>
              </a:ext>
            </a:extLst>
          </p:cNvPr>
          <p:cNvSpPr/>
          <p:nvPr/>
        </p:nvSpPr>
        <p:spPr>
          <a:xfrm>
            <a:off x="4198602" y="3042874"/>
            <a:ext cx="508335" cy="254002"/>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61" name="Right Arrow 29">
            <a:extLst>
              <a:ext uri="{FF2B5EF4-FFF2-40B4-BE49-F238E27FC236}">
                <a16:creationId xmlns:a16="http://schemas.microsoft.com/office/drawing/2014/main" id="{968BA92F-F2F4-C822-44C0-4DD1DC814A60}"/>
              </a:ext>
            </a:extLst>
          </p:cNvPr>
          <p:cNvSpPr/>
          <p:nvPr/>
        </p:nvSpPr>
        <p:spPr>
          <a:xfrm>
            <a:off x="5939596" y="3038322"/>
            <a:ext cx="508335" cy="254002"/>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62" name="Right Arrow 30">
            <a:extLst>
              <a:ext uri="{FF2B5EF4-FFF2-40B4-BE49-F238E27FC236}">
                <a16:creationId xmlns:a16="http://schemas.microsoft.com/office/drawing/2014/main" id="{21C34508-CE0C-64A9-F292-DEE6B2048B23}"/>
              </a:ext>
            </a:extLst>
          </p:cNvPr>
          <p:cNvSpPr/>
          <p:nvPr/>
        </p:nvSpPr>
        <p:spPr>
          <a:xfrm>
            <a:off x="7680590" y="3038322"/>
            <a:ext cx="508335" cy="254002"/>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63" name="Right Arrow 31">
            <a:extLst>
              <a:ext uri="{FF2B5EF4-FFF2-40B4-BE49-F238E27FC236}">
                <a16:creationId xmlns:a16="http://schemas.microsoft.com/office/drawing/2014/main" id="{045B7A08-AB39-ABB0-EC10-D39A738C3835}"/>
              </a:ext>
            </a:extLst>
          </p:cNvPr>
          <p:cNvSpPr/>
          <p:nvPr/>
        </p:nvSpPr>
        <p:spPr>
          <a:xfrm>
            <a:off x="9415254" y="3027498"/>
            <a:ext cx="508335" cy="254002"/>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64" name="Right Arrow 21">
            <a:extLst>
              <a:ext uri="{FF2B5EF4-FFF2-40B4-BE49-F238E27FC236}">
                <a16:creationId xmlns:a16="http://schemas.microsoft.com/office/drawing/2014/main" id="{86FB5593-D8C8-C075-75BF-7C707E680D01}"/>
              </a:ext>
            </a:extLst>
          </p:cNvPr>
          <p:cNvSpPr/>
          <p:nvPr/>
        </p:nvSpPr>
        <p:spPr>
          <a:xfrm rot="5400000">
            <a:off x="6055610" y="4100927"/>
            <a:ext cx="342900" cy="666750"/>
          </a:xfrm>
          <a:prstGeom prst="rightArrow">
            <a:avLst/>
          </a:prstGeom>
          <a:gradFill flip="none" rotWithShape="1">
            <a:gsLst>
              <a:gs pos="0">
                <a:schemeClr val="accent5">
                  <a:lumMod val="20000"/>
                  <a:lumOff val="80000"/>
                </a:schemeClr>
              </a:gs>
              <a:gs pos="28000">
                <a:schemeClr val="accent5">
                  <a:lumMod val="40000"/>
                  <a:lumOff val="60000"/>
                </a:schemeClr>
              </a:gs>
              <a:gs pos="48000">
                <a:schemeClr val="accent5">
                  <a:lumMod val="60000"/>
                  <a:lumOff val="40000"/>
                </a:schemeClr>
              </a:gs>
              <a:gs pos="100000">
                <a:schemeClr val="accent5">
                  <a:lumMod val="7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pic>
        <p:nvPicPr>
          <p:cNvPr id="3074" name="Picture 2" descr="AWS Icon SVG Vector &amp; PNG Free Download | UXWing">
            <a:extLst>
              <a:ext uri="{FF2B5EF4-FFF2-40B4-BE49-F238E27FC236}">
                <a16:creationId xmlns:a16="http://schemas.microsoft.com/office/drawing/2014/main" id="{863B0FAC-15A0-1064-B21D-07EBFEABE35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03536" y="3519074"/>
            <a:ext cx="219925" cy="2199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zure has a new logo, but where do you download it? Here!">
            <a:extLst>
              <a:ext uri="{FF2B5EF4-FFF2-40B4-BE49-F238E27FC236}">
                <a16:creationId xmlns:a16="http://schemas.microsoft.com/office/drawing/2014/main" id="{0A9DA680-9B0B-1B84-2F72-6A885733853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1047" y="3519074"/>
            <a:ext cx="219926" cy="219926"/>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a:extLst>
              <a:ext uri="{FF2B5EF4-FFF2-40B4-BE49-F238E27FC236}">
                <a16:creationId xmlns:a16="http://schemas.microsoft.com/office/drawing/2014/main" id="{F4A731BB-9B86-394B-51EF-8F6C60A4565B}"/>
              </a:ext>
            </a:extLst>
          </p:cNvPr>
          <p:cNvPicPr>
            <a:picLocks noChangeAspect="1"/>
          </p:cNvPicPr>
          <p:nvPr/>
        </p:nvPicPr>
        <p:blipFill>
          <a:blip r:embed="rId9"/>
          <a:stretch>
            <a:fillRect/>
          </a:stretch>
        </p:blipFill>
        <p:spPr>
          <a:xfrm>
            <a:off x="7259696" y="3535521"/>
            <a:ext cx="219925" cy="219925"/>
          </a:xfrm>
          <a:prstGeom prst="rect">
            <a:avLst/>
          </a:prstGeom>
        </p:spPr>
      </p:pic>
      <p:pic>
        <p:nvPicPr>
          <p:cNvPr id="74" name="Picture 73">
            <a:extLst>
              <a:ext uri="{FF2B5EF4-FFF2-40B4-BE49-F238E27FC236}">
                <a16:creationId xmlns:a16="http://schemas.microsoft.com/office/drawing/2014/main" id="{6FAB08D8-9C1B-711A-7FE4-E0F14F820DD7}"/>
              </a:ext>
            </a:extLst>
          </p:cNvPr>
          <p:cNvPicPr>
            <a:picLocks noChangeAspect="1"/>
          </p:cNvPicPr>
          <p:nvPr/>
        </p:nvPicPr>
        <p:blipFill>
          <a:blip r:embed="rId10"/>
          <a:stretch>
            <a:fillRect/>
          </a:stretch>
        </p:blipFill>
        <p:spPr>
          <a:xfrm>
            <a:off x="990493" y="3075552"/>
            <a:ext cx="1785945" cy="1190630"/>
          </a:xfrm>
          <a:prstGeom prst="rect">
            <a:avLst/>
          </a:prstGeom>
        </p:spPr>
      </p:pic>
      <p:pic>
        <p:nvPicPr>
          <p:cNvPr id="76" name="Picture 75">
            <a:extLst>
              <a:ext uri="{FF2B5EF4-FFF2-40B4-BE49-F238E27FC236}">
                <a16:creationId xmlns:a16="http://schemas.microsoft.com/office/drawing/2014/main" id="{56F8AEBC-1B96-2478-C4E8-0320497A2914}"/>
              </a:ext>
            </a:extLst>
          </p:cNvPr>
          <p:cNvPicPr>
            <a:picLocks noChangeAspect="1"/>
          </p:cNvPicPr>
          <p:nvPr/>
        </p:nvPicPr>
        <p:blipFill>
          <a:blip r:embed="rId11"/>
          <a:stretch>
            <a:fillRect/>
          </a:stretch>
        </p:blipFill>
        <p:spPr>
          <a:xfrm>
            <a:off x="2495994" y="3028029"/>
            <a:ext cx="1879289" cy="1252859"/>
          </a:xfrm>
          <a:prstGeom prst="rect">
            <a:avLst/>
          </a:prstGeom>
        </p:spPr>
      </p:pic>
      <p:pic>
        <p:nvPicPr>
          <p:cNvPr id="78" name="Picture 77">
            <a:extLst>
              <a:ext uri="{FF2B5EF4-FFF2-40B4-BE49-F238E27FC236}">
                <a16:creationId xmlns:a16="http://schemas.microsoft.com/office/drawing/2014/main" id="{A6EBB639-8869-D805-91BF-0A041230155F}"/>
              </a:ext>
            </a:extLst>
          </p:cNvPr>
          <p:cNvPicPr>
            <a:picLocks noChangeAspect="1"/>
          </p:cNvPicPr>
          <p:nvPr/>
        </p:nvPicPr>
        <p:blipFill>
          <a:blip r:embed="rId12"/>
          <a:stretch>
            <a:fillRect/>
          </a:stretch>
        </p:blipFill>
        <p:spPr>
          <a:xfrm>
            <a:off x="4316001" y="3042870"/>
            <a:ext cx="1857028" cy="1238018"/>
          </a:xfrm>
          <a:prstGeom prst="rect">
            <a:avLst/>
          </a:prstGeom>
        </p:spPr>
      </p:pic>
      <p:pic>
        <p:nvPicPr>
          <p:cNvPr id="82" name="Picture 81">
            <a:extLst>
              <a:ext uri="{FF2B5EF4-FFF2-40B4-BE49-F238E27FC236}">
                <a16:creationId xmlns:a16="http://schemas.microsoft.com/office/drawing/2014/main" id="{340B2ADB-82BF-293A-75EB-A3EE2ECF9474}"/>
              </a:ext>
            </a:extLst>
          </p:cNvPr>
          <p:cNvPicPr>
            <a:picLocks noChangeAspect="1"/>
          </p:cNvPicPr>
          <p:nvPr/>
        </p:nvPicPr>
        <p:blipFill>
          <a:blip r:embed="rId13"/>
          <a:stretch>
            <a:fillRect/>
          </a:stretch>
        </p:blipFill>
        <p:spPr>
          <a:xfrm>
            <a:off x="7250593" y="2497553"/>
            <a:ext cx="3343203" cy="2228802"/>
          </a:xfrm>
          <a:prstGeom prst="rect">
            <a:avLst/>
          </a:prstGeom>
        </p:spPr>
      </p:pic>
    </p:spTree>
    <p:extLst>
      <p:ext uri="{BB962C8B-B14F-4D97-AF65-F5344CB8AC3E}">
        <p14:creationId xmlns:p14="http://schemas.microsoft.com/office/powerpoint/2010/main" val="349043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C2A68-3C41-5187-D1BB-1CD01DD29AC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BA67F61-38FF-93D3-08E0-234854851129}"/>
              </a:ext>
            </a:extLst>
          </p:cNvPr>
          <p:cNvSpPr>
            <a:spLocks noGrp="1"/>
          </p:cNvSpPr>
          <p:nvPr>
            <p:ph type="body" sz="quarter" idx="13"/>
          </p:nvPr>
        </p:nvSpPr>
        <p:spPr/>
        <p:txBody>
          <a:bodyPr/>
          <a:lstStyle/>
          <a:p>
            <a:r>
              <a:rPr lang="en-US"/>
              <a:t>EPIC: Enterprise Pipeline for Infrastructure and Cloud</a:t>
            </a:r>
          </a:p>
          <a:p>
            <a:endParaRPr lang="en-US"/>
          </a:p>
        </p:txBody>
      </p:sp>
      <p:sp>
        <p:nvSpPr>
          <p:cNvPr id="3" name="Text Placeholder 2">
            <a:extLst>
              <a:ext uri="{FF2B5EF4-FFF2-40B4-BE49-F238E27FC236}">
                <a16:creationId xmlns:a16="http://schemas.microsoft.com/office/drawing/2014/main" id="{1BE70A4C-2DF6-7F55-943B-61F189BDB931}"/>
              </a:ext>
            </a:extLst>
          </p:cNvPr>
          <p:cNvSpPr>
            <a:spLocks noGrp="1"/>
          </p:cNvSpPr>
          <p:nvPr>
            <p:ph type="body" sz="quarter" idx="14"/>
          </p:nvPr>
        </p:nvSpPr>
        <p:spPr/>
        <p:txBody>
          <a:bodyPr/>
          <a:lstStyle/>
          <a:p>
            <a:r>
              <a:rPr lang="en-US"/>
              <a:t>High-Level Architecture Diagram</a:t>
            </a:r>
          </a:p>
        </p:txBody>
      </p:sp>
      <p:pic>
        <p:nvPicPr>
          <p:cNvPr id="4" name="Picture 3">
            <a:extLst>
              <a:ext uri="{FF2B5EF4-FFF2-40B4-BE49-F238E27FC236}">
                <a16:creationId xmlns:a16="http://schemas.microsoft.com/office/drawing/2014/main" id="{C0E7E8A8-FB39-DA10-4CCE-03C405E9EFE1}"/>
              </a:ext>
            </a:extLst>
          </p:cNvPr>
          <p:cNvPicPr>
            <a:picLocks noChangeAspect="1"/>
          </p:cNvPicPr>
          <p:nvPr/>
        </p:nvPicPr>
        <p:blipFill>
          <a:blip r:embed="rId3"/>
          <a:stretch>
            <a:fillRect/>
          </a:stretch>
        </p:blipFill>
        <p:spPr>
          <a:xfrm>
            <a:off x="1007060" y="815617"/>
            <a:ext cx="10177880" cy="5679138"/>
          </a:xfrm>
          <a:prstGeom prst="rect">
            <a:avLst/>
          </a:prstGeom>
        </p:spPr>
      </p:pic>
    </p:spTree>
    <p:extLst>
      <p:ext uri="{BB962C8B-B14F-4D97-AF65-F5344CB8AC3E}">
        <p14:creationId xmlns:p14="http://schemas.microsoft.com/office/powerpoint/2010/main" val="376102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95806-EC21-AB2A-28C9-BB42B660A9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87B859E-F282-F0F8-CB8B-EC73CE45C631}"/>
              </a:ext>
            </a:extLst>
          </p:cNvPr>
          <p:cNvSpPr>
            <a:spLocks noGrp="1"/>
          </p:cNvSpPr>
          <p:nvPr>
            <p:ph type="body" sz="quarter" idx="13"/>
          </p:nvPr>
        </p:nvSpPr>
        <p:spPr/>
        <p:txBody>
          <a:bodyPr/>
          <a:lstStyle/>
          <a:p>
            <a:r>
              <a:rPr lang="en-US"/>
              <a:t>EPIC: Enterprise Pipeline for Infrastructure and Cloud</a:t>
            </a:r>
          </a:p>
          <a:p>
            <a:endParaRPr lang="en-US"/>
          </a:p>
        </p:txBody>
      </p:sp>
      <p:sp>
        <p:nvSpPr>
          <p:cNvPr id="6" name="Text Placeholder 5">
            <a:extLst>
              <a:ext uri="{FF2B5EF4-FFF2-40B4-BE49-F238E27FC236}">
                <a16:creationId xmlns:a16="http://schemas.microsoft.com/office/drawing/2014/main" id="{39E8D13E-E79C-95D3-793B-E89B08906347}"/>
              </a:ext>
            </a:extLst>
          </p:cNvPr>
          <p:cNvSpPr>
            <a:spLocks noGrp="1"/>
          </p:cNvSpPr>
          <p:nvPr>
            <p:ph type="body" sz="quarter" idx="14"/>
          </p:nvPr>
        </p:nvSpPr>
        <p:spPr/>
        <p:txBody>
          <a:bodyPr/>
          <a:lstStyle/>
          <a:p>
            <a:r>
              <a:rPr lang="en-US"/>
              <a:t>Concerns / Follow-Ups</a:t>
            </a:r>
          </a:p>
        </p:txBody>
      </p:sp>
      <p:sp>
        <p:nvSpPr>
          <p:cNvPr id="2" name="TextBox 1">
            <a:extLst>
              <a:ext uri="{FF2B5EF4-FFF2-40B4-BE49-F238E27FC236}">
                <a16:creationId xmlns:a16="http://schemas.microsoft.com/office/drawing/2014/main" id="{7B4DFB89-179A-CA27-F5E5-D5855F959601}"/>
              </a:ext>
            </a:extLst>
          </p:cNvPr>
          <p:cNvSpPr txBox="1"/>
          <p:nvPr/>
        </p:nvSpPr>
        <p:spPr>
          <a:xfrm>
            <a:off x="1692331" y="3520153"/>
            <a:ext cx="8807335" cy="1323439"/>
          </a:xfrm>
          <a:prstGeom prst="rect">
            <a:avLst/>
          </a:prstGeom>
          <a:noFill/>
        </p:spPr>
        <p:txBody>
          <a:bodyPr wrap="square" rtlCol="0">
            <a:spAutoFit/>
          </a:bodyPr>
          <a:lstStyle/>
          <a:p>
            <a:pPr algn="ctr"/>
            <a:r>
              <a:rPr lang="en-US" sz="2400"/>
              <a:t>Are there any concerns with the architecture that you would like to have a follow-up conversation with the Solution Architect?  </a:t>
            </a:r>
          </a:p>
          <a:p>
            <a:pPr algn="ctr"/>
            <a:endParaRPr lang="en-US"/>
          </a:p>
          <a:p>
            <a:pPr algn="ctr"/>
            <a:r>
              <a:rPr lang="en-US" sz="1400" i="1">
                <a:solidFill>
                  <a:schemeClr val="bg1">
                    <a:lumMod val="50000"/>
                  </a:schemeClr>
                </a:solidFill>
              </a:rPr>
              <a:t>Speak up now (or added it to the chat) so that we can follow up on your concerns after this session concludes.</a:t>
            </a:r>
          </a:p>
        </p:txBody>
      </p:sp>
      <p:pic>
        <p:nvPicPr>
          <p:cNvPr id="7" name="Picture 6">
            <a:extLst>
              <a:ext uri="{FF2B5EF4-FFF2-40B4-BE49-F238E27FC236}">
                <a16:creationId xmlns:a16="http://schemas.microsoft.com/office/drawing/2014/main" id="{43B01C23-CEB3-BDD0-3206-92B3D31EB0C5}"/>
              </a:ext>
            </a:extLst>
          </p:cNvPr>
          <p:cNvPicPr>
            <a:picLocks noChangeAspect="1"/>
          </p:cNvPicPr>
          <p:nvPr/>
        </p:nvPicPr>
        <p:blipFill>
          <a:blip r:embed="rId2"/>
          <a:srcRect/>
          <a:stretch/>
        </p:blipFill>
        <p:spPr>
          <a:xfrm>
            <a:off x="5416683" y="1601248"/>
            <a:ext cx="1358630" cy="1358630"/>
          </a:xfrm>
          <a:prstGeom prst="rect">
            <a:avLst/>
          </a:prstGeom>
        </p:spPr>
      </p:pic>
    </p:spTree>
    <p:extLst>
      <p:ext uri="{BB962C8B-B14F-4D97-AF65-F5344CB8AC3E}">
        <p14:creationId xmlns:p14="http://schemas.microsoft.com/office/powerpoint/2010/main" val="373397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BF54A-F381-5D69-6C7B-C14EB469BA8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CA98E06A-2D19-1D1E-5487-AA22AA5181CA}"/>
              </a:ext>
            </a:extLst>
          </p:cNvPr>
          <p:cNvSpPr>
            <a:spLocks noGrp="1"/>
          </p:cNvSpPr>
          <p:nvPr>
            <p:ph type="body" sz="quarter" idx="13"/>
          </p:nvPr>
        </p:nvSpPr>
        <p:spPr/>
        <p:txBody>
          <a:bodyPr/>
          <a:lstStyle/>
          <a:p>
            <a:r>
              <a:rPr lang="en-US"/>
              <a:t>EPIC Peer Review: APP-2102 – ADO Pipeline</a:t>
            </a:r>
          </a:p>
          <a:p>
            <a:endParaRPr lang="en-US"/>
          </a:p>
        </p:txBody>
      </p:sp>
      <p:sp>
        <p:nvSpPr>
          <p:cNvPr id="8" name="Text Placeholder 7">
            <a:extLst>
              <a:ext uri="{FF2B5EF4-FFF2-40B4-BE49-F238E27FC236}">
                <a16:creationId xmlns:a16="http://schemas.microsoft.com/office/drawing/2014/main" id="{D31EF680-AD12-EACF-6B35-3A3E3DFC8A55}"/>
              </a:ext>
            </a:extLst>
          </p:cNvPr>
          <p:cNvSpPr>
            <a:spLocks noGrp="1"/>
          </p:cNvSpPr>
          <p:nvPr>
            <p:ph type="body" sz="quarter" idx="14"/>
          </p:nvPr>
        </p:nvSpPr>
        <p:spPr/>
        <p:txBody>
          <a:bodyPr/>
          <a:lstStyle/>
          <a:p>
            <a:r>
              <a:rPr lang="en-US"/>
              <a:t>Appendix: Resources</a:t>
            </a:r>
          </a:p>
        </p:txBody>
      </p:sp>
      <p:sp>
        <p:nvSpPr>
          <p:cNvPr id="2" name="TextBox 1">
            <a:extLst>
              <a:ext uri="{FF2B5EF4-FFF2-40B4-BE49-F238E27FC236}">
                <a16:creationId xmlns:a16="http://schemas.microsoft.com/office/drawing/2014/main" id="{75287CC2-A777-ADC2-6E26-68661CDD379F}"/>
              </a:ext>
            </a:extLst>
          </p:cNvPr>
          <p:cNvSpPr txBox="1"/>
          <p:nvPr/>
        </p:nvSpPr>
        <p:spPr>
          <a:xfrm>
            <a:off x="966140" y="2558858"/>
            <a:ext cx="2358787" cy="369332"/>
          </a:xfrm>
          <a:prstGeom prst="rect">
            <a:avLst/>
          </a:prstGeom>
          <a:noFill/>
        </p:spPr>
        <p:txBody>
          <a:bodyPr wrap="none" rtlCol="0">
            <a:spAutoFit/>
          </a:bodyPr>
          <a:lstStyle/>
          <a:p>
            <a:r>
              <a:rPr lang="en-US"/>
              <a:t>Project Documentation</a:t>
            </a:r>
          </a:p>
        </p:txBody>
      </p:sp>
      <p:pic>
        <p:nvPicPr>
          <p:cNvPr id="7" name="Picture 6" descr="A blue circle with white text on it&#10;&#10;AI-generated content may be incorrect.">
            <a:extLst>
              <a:ext uri="{FF2B5EF4-FFF2-40B4-BE49-F238E27FC236}">
                <a16:creationId xmlns:a16="http://schemas.microsoft.com/office/drawing/2014/main" id="{E4E91664-F525-FC85-BE05-F09F87BED950}"/>
              </a:ext>
            </a:extLst>
          </p:cNvPr>
          <p:cNvPicPr>
            <a:picLocks noChangeAspect="1"/>
          </p:cNvPicPr>
          <p:nvPr/>
        </p:nvPicPr>
        <p:blipFill>
          <a:blip r:embed="rId3"/>
          <a:stretch>
            <a:fillRect/>
          </a:stretch>
        </p:blipFill>
        <p:spPr>
          <a:xfrm>
            <a:off x="1698653" y="1568221"/>
            <a:ext cx="893762" cy="893762"/>
          </a:xfrm>
          <a:prstGeom prst="rect">
            <a:avLst/>
          </a:prstGeom>
        </p:spPr>
      </p:pic>
      <p:pic>
        <p:nvPicPr>
          <p:cNvPr id="10" name="Picture 9">
            <a:extLst>
              <a:ext uri="{FF2B5EF4-FFF2-40B4-BE49-F238E27FC236}">
                <a16:creationId xmlns:a16="http://schemas.microsoft.com/office/drawing/2014/main" id="{60506DDF-6614-CFC5-FC74-5499CDBD01B8}"/>
              </a:ext>
            </a:extLst>
          </p:cNvPr>
          <p:cNvPicPr>
            <a:picLocks noChangeAspect="1"/>
          </p:cNvPicPr>
          <p:nvPr/>
        </p:nvPicPr>
        <p:blipFill>
          <a:blip r:embed="rId4"/>
          <a:srcRect/>
          <a:stretch/>
        </p:blipFill>
        <p:spPr>
          <a:xfrm>
            <a:off x="5514656" y="1568221"/>
            <a:ext cx="893762" cy="893762"/>
          </a:xfrm>
          <a:prstGeom prst="rect">
            <a:avLst/>
          </a:prstGeom>
        </p:spPr>
      </p:pic>
      <p:pic>
        <p:nvPicPr>
          <p:cNvPr id="11" name="Picture 10">
            <a:extLst>
              <a:ext uri="{FF2B5EF4-FFF2-40B4-BE49-F238E27FC236}">
                <a16:creationId xmlns:a16="http://schemas.microsoft.com/office/drawing/2014/main" id="{43BD25DE-12F9-DEAD-A695-F9D11E35A9DA}"/>
              </a:ext>
            </a:extLst>
          </p:cNvPr>
          <p:cNvPicPr>
            <a:picLocks noChangeAspect="1"/>
          </p:cNvPicPr>
          <p:nvPr/>
        </p:nvPicPr>
        <p:blipFill>
          <a:blip r:embed="rId5"/>
          <a:srcRect/>
          <a:stretch/>
        </p:blipFill>
        <p:spPr>
          <a:xfrm>
            <a:off x="9330659" y="1568221"/>
            <a:ext cx="893762" cy="893762"/>
          </a:xfrm>
          <a:prstGeom prst="rect">
            <a:avLst/>
          </a:prstGeom>
        </p:spPr>
      </p:pic>
      <p:sp>
        <p:nvSpPr>
          <p:cNvPr id="12" name="TextBox 11">
            <a:extLst>
              <a:ext uri="{FF2B5EF4-FFF2-40B4-BE49-F238E27FC236}">
                <a16:creationId xmlns:a16="http://schemas.microsoft.com/office/drawing/2014/main" id="{4C6FC258-B2B6-DB4D-6B5B-E85D6FDC7EC7}"/>
              </a:ext>
            </a:extLst>
          </p:cNvPr>
          <p:cNvSpPr txBox="1"/>
          <p:nvPr/>
        </p:nvSpPr>
        <p:spPr>
          <a:xfrm>
            <a:off x="4771692" y="2558858"/>
            <a:ext cx="2379690" cy="369332"/>
          </a:xfrm>
          <a:prstGeom prst="rect">
            <a:avLst/>
          </a:prstGeom>
          <a:noFill/>
        </p:spPr>
        <p:txBody>
          <a:bodyPr wrap="none" rtlCol="0">
            <a:spAutoFit/>
          </a:bodyPr>
          <a:lstStyle/>
          <a:p>
            <a:r>
              <a:rPr lang="en-US"/>
              <a:t>High-Level Architecture</a:t>
            </a:r>
          </a:p>
        </p:txBody>
      </p:sp>
      <p:sp>
        <p:nvSpPr>
          <p:cNvPr id="13" name="TextBox 12">
            <a:extLst>
              <a:ext uri="{FF2B5EF4-FFF2-40B4-BE49-F238E27FC236}">
                <a16:creationId xmlns:a16="http://schemas.microsoft.com/office/drawing/2014/main" id="{D1234078-E42B-9A8B-F5B2-BE5E3E4DB70A}"/>
              </a:ext>
            </a:extLst>
          </p:cNvPr>
          <p:cNvSpPr txBox="1"/>
          <p:nvPr/>
        </p:nvSpPr>
        <p:spPr>
          <a:xfrm>
            <a:off x="8920895" y="2558858"/>
            <a:ext cx="1713290" cy="369332"/>
          </a:xfrm>
          <a:prstGeom prst="rect">
            <a:avLst/>
          </a:prstGeom>
          <a:noFill/>
        </p:spPr>
        <p:txBody>
          <a:bodyPr wrap="none" rtlCol="0">
            <a:spAutoFit/>
          </a:bodyPr>
          <a:lstStyle/>
          <a:p>
            <a:r>
              <a:rPr lang="en-US"/>
              <a:t>Project Contacts</a:t>
            </a:r>
          </a:p>
        </p:txBody>
      </p:sp>
      <p:sp>
        <p:nvSpPr>
          <p:cNvPr id="16" name="TextBox 15">
            <a:extLst>
              <a:ext uri="{FF2B5EF4-FFF2-40B4-BE49-F238E27FC236}">
                <a16:creationId xmlns:a16="http://schemas.microsoft.com/office/drawing/2014/main" id="{570C58D6-3257-7B9B-1EF2-C1BE990B84DC}"/>
              </a:ext>
            </a:extLst>
          </p:cNvPr>
          <p:cNvSpPr txBox="1"/>
          <p:nvPr/>
        </p:nvSpPr>
        <p:spPr>
          <a:xfrm>
            <a:off x="7925880" y="3025064"/>
            <a:ext cx="3703320" cy="3299535"/>
          </a:xfrm>
          <a:prstGeom prst="rect">
            <a:avLst/>
          </a:prstGeom>
          <a:noFill/>
        </p:spPr>
        <p:txBody>
          <a:bodyPr wrap="square" rtlCol="0">
            <a:noAutofit/>
          </a:bodyPr>
          <a:lstStyle/>
          <a:p>
            <a:r>
              <a:rPr lang="en-US" sz="1400">
                <a:solidFill>
                  <a:schemeClr val="bg1">
                    <a:lumMod val="50000"/>
                  </a:schemeClr>
                </a:solidFill>
              </a:rPr>
              <a:t>Place your key project contacts here</a:t>
            </a:r>
          </a:p>
        </p:txBody>
      </p:sp>
      <p:sp>
        <p:nvSpPr>
          <p:cNvPr id="17" name="TextBox 16">
            <a:extLst>
              <a:ext uri="{FF2B5EF4-FFF2-40B4-BE49-F238E27FC236}">
                <a16:creationId xmlns:a16="http://schemas.microsoft.com/office/drawing/2014/main" id="{739142C9-95C2-6E9F-90EF-24A8BB7E5359}"/>
              </a:ext>
            </a:extLst>
          </p:cNvPr>
          <p:cNvSpPr txBox="1"/>
          <p:nvPr/>
        </p:nvSpPr>
        <p:spPr>
          <a:xfrm>
            <a:off x="4109876" y="3025064"/>
            <a:ext cx="3703320" cy="3299535"/>
          </a:xfrm>
          <a:prstGeom prst="rect">
            <a:avLst/>
          </a:prstGeom>
          <a:noFill/>
        </p:spPr>
        <p:txBody>
          <a:bodyPr wrap="square" rtlCol="0">
            <a:noAutofit/>
          </a:bodyPr>
          <a:lstStyle/>
          <a:p>
            <a:r>
              <a:rPr lang="en-US" sz="1400">
                <a:solidFill>
                  <a:schemeClr val="bg1">
                    <a:lumMod val="50000"/>
                  </a:schemeClr>
                </a:solidFill>
              </a:rPr>
              <a:t>Place a link to your Lucid Diagram of your HLA here.  (Sharing for the link should be for all licensed users at PG&amp;E an should include Comment rights)</a:t>
            </a:r>
          </a:p>
        </p:txBody>
      </p:sp>
      <p:sp>
        <p:nvSpPr>
          <p:cNvPr id="18" name="TextBox 17">
            <a:extLst>
              <a:ext uri="{FF2B5EF4-FFF2-40B4-BE49-F238E27FC236}">
                <a16:creationId xmlns:a16="http://schemas.microsoft.com/office/drawing/2014/main" id="{2997001D-9109-D7E5-96E8-99EDCCB7AF1D}"/>
              </a:ext>
            </a:extLst>
          </p:cNvPr>
          <p:cNvSpPr txBox="1"/>
          <p:nvPr/>
        </p:nvSpPr>
        <p:spPr>
          <a:xfrm>
            <a:off x="293873" y="3025064"/>
            <a:ext cx="3703320" cy="3299535"/>
          </a:xfrm>
          <a:prstGeom prst="rect">
            <a:avLst/>
          </a:prstGeom>
          <a:noFill/>
        </p:spPr>
        <p:txBody>
          <a:bodyPr wrap="square" rtlCol="0">
            <a:noAutofit/>
          </a:bodyPr>
          <a:lstStyle/>
          <a:p>
            <a:r>
              <a:rPr lang="en-US" sz="1400">
                <a:solidFill>
                  <a:schemeClr val="bg1">
                    <a:lumMod val="50000"/>
                  </a:schemeClr>
                </a:solidFill>
              </a:rPr>
              <a:t>Place links to your project documentation here</a:t>
            </a:r>
          </a:p>
        </p:txBody>
      </p:sp>
      <p:sp>
        <p:nvSpPr>
          <p:cNvPr id="3" name="TextBox 2">
            <a:extLst>
              <a:ext uri="{FF2B5EF4-FFF2-40B4-BE49-F238E27FC236}">
                <a16:creationId xmlns:a16="http://schemas.microsoft.com/office/drawing/2014/main" id="{4C38B454-A478-6480-FE4D-CC779D0CDE81}"/>
              </a:ext>
            </a:extLst>
          </p:cNvPr>
          <p:cNvSpPr txBox="1"/>
          <p:nvPr/>
        </p:nvSpPr>
        <p:spPr>
          <a:xfrm>
            <a:off x="187568" y="1000370"/>
            <a:ext cx="11672277" cy="5324229"/>
          </a:xfrm>
          <a:prstGeom prst="rect">
            <a:avLst/>
          </a:prstGeom>
          <a:solidFill>
            <a:schemeClr val="bg1"/>
          </a:solidFill>
          <a:ln>
            <a:solidFill>
              <a:schemeClr val="accent1"/>
            </a:solidFill>
          </a:ln>
        </p:spPr>
        <p:txBody>
          <a:bodyPr wrap="square" rtlCol="0">
            <a:noAutofit/>
          </a:bodyPr>
          <a:lstStyle/>
          <a:p>
            <a:r>
              <a:rPr lang="en-US" sz="1400" b="1" dirty="0">
                <a:solidFill>
                  <a:schemeClr val="bg1">
                    <a:lumMod val="50000"/>
                  </a:schemeClr>
                </a:solidFill>
              </a:rPr>
              <a:t>Project Documentation:</a:t>
            </a:r>
            <a:r>
              <a:rPr lang="en-US" sz="1400" dirty="0">
                <a:solidFill>
                  <a:schemeClr val="bg1">
                    <a:lumMod val="50000"/>
                  </a:schemeClr>
                </a:solidFill>
              </a:rPr>
              <a:t> </a:t>
            </a:r>
          </a:p>
          <a:p>
            <a:pPr marL="285750" indent="-285750">
              <a:buFont typeface="Arial" panose="020B0604020202020204" pitchFamily="34" charset="0"/>
              <a:buChar char="•"/>
            </a:pPr>
            <a:r>
              <a:rPr lang="en-US" sz="1400" dirty="0">
                <a:solidFill>
                  <a:schemeClr val="bg1">
                    <a:lumMod val="50000"/>
                  </a:schemeClr>
                </a:solidFill>
              </a:rPr>
              <a:t>EPIC Repo: </a:t>
            </a:r>
            <a:r>
              <a:rPr lang="en-US" sz="1400" dirty="0">
                <a:solidFill>
                  <a:schemeClr val="bg1">
                    <a:lumMod val="50000"/>
                  </a:schemeClr>
                </a:solidFill>
                <a:hlinkClick r:id="rId6"/>
              </a:rPr>
              <a:t>https://github.com/pgetech/epic-pipeline</a:t>
            </a:r>
            <a:r>
              <a:rPr lang="en-US" sz="1400" dirty="0">
                <a:solidFill>
                  <a:schemeClr val="bg1">
                    <a:lumMod val="50000"/>
                  </a:schemeClr>
                </a:solidFill>
              </a:rPr>
              <a:t> </a:t>
            </a:r>
          </a:p>
          <a:p>
            <a:endParaRPr lang="en-US" sz="1400" b="1" dirty="0">
              <a:solidFill>
                <a:schemeClr val="bg1">
                  <a:lumMod val="50000"/>
                </a:schemeClr>
              </a:solidFill>
            </a:endParaRPr>
          </a:p>
          <a:p>
            <a:r>
              <a:rPr lang="en-US" sz="1400" b="1" dirty="0">
                <a:solidFill>
                  <a:schemeClr val="bg1">
                    <a:lumMod val="50000"/>
                  </a:schemeClr>
                </a:solidFill>
              </a:rPr>
              <a:t>Key Contacts:</a:t>
            </a:r>
            <a:r>
              <a:rPr lang="en-US" sz="1400" dirty="0">
                <a:solidFill>
                  <a:schemeClr val="bg1">
                    <a:lumMod val="50000"/>
                  </a:schemeClr>
                </a:solidFill>
              </a:rPr>
              <a:t> </a:t>
            </a:r>
          </a:p>
          <a:p>
            <a:pPr marL="285750" indent="-285750">
              <a:buFont typeface="Arial" panose="020B0604020202020204" pitchFamily="34" charset="0"/>
              <a:buChar char="•"/>
            </a:pPr>
            <a:r>
              <a:rPr lang="en-US" sz="1400" dirty="0">
                <a:solidFill>
                  <a:schemeClr val="bg1">
                    <a:lumMod val="50000"/>
                  </a:schemeClr>
                </a:solidFill>
              </a:rPr>
              <a:t>Travis Hayes: </a:t>
            </a:r>
            <a:r>
              <a:rPr lang="en-US" sz="1400" dirty="0" err="1">
                <a:solidFill>
                  <a:schemeClr val="bg1">
                    <a:lumMod val="50000"/>
                  </a:schemeClr>
                </a:solidFill>
              </a:rPr>
              <a:t>TAHZ@pge.com</a:t>
            </a:r>
            <a:endParaRPr lang="en-US" sz="1400" dirty="0">
              <a:solidFill>
                <a:schemeClr val="bg1">
                  <a:lumMod val="50000"/>
                </a:schemeClr>
              </a:solidFill>
            </a:endParaRPr>
          </a:p>
          <a:p>
            <a:pPr marL="285750" indent="-285750">
              <a:buFont typeface="Arial" panose="020B0604020202020204" pitchFamily="34" charset="0"/>
              <a:buChar char="•"/>
            </a:pPr>
            <a:r>
              <a:rPr lang="en-US" sz="1400" dirty="0">
                <a:solidFill>
                  <a:schemeClr val="bg1">
                    <a:lumMod val="50000"/>
                  </a:schemeClr>
                </a:solidFill>
              </a:rPr>
              <a:t>Robb Morgan: </a:t>
            </a:r>
            <a:r>
              <a:rPr lang="en-US" sz="1400" dirty="0" err="1">
                <a:solidFill>
                  <a:schemeClr val="bg1">
                    <a:lumMod val="50000"/>
                  </a:schemeClr>
                </a:solidFill>
              </a:rPr>
              <a:t>RHMG@pge.com</a:t>
            </a:r>
            <a:br>
              <a:rPr lang="en-US" dirty="0"/>
            </a:br>
            <a:endParaRPr kumimoji="0" lang="en-US" sz="1100" b="0" i="1" u="none" strike="noStrike" kern="1200" cap="none" spc="0" normalizeH="0" baseline="0" noProof="0" dirty="0">
              <a:ln>
                <a:noFill/>
              </a:ln>
              <a:solidFill>
                <a:srgbClr val="0089C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7899392"/>
      </p:ext>
    </p:extLst>
  </p:cSld>
  <p:clrMapOvr>
    <a:masterClrMapping/>
  </p:clrMapOvr>
</p:sld>
</file>

<file path=ppt/theme/theme1.xml><?xml version="1.0" encoding="utf-8"?>
<a:theme xmlns:a="http://schemas.openxmlformats.org/drawingml/2006/main" name="PG&amp;E">
  <a:themeElements>
    <a:clrScheme name="PG&amp;E Color Palette">
      <a:dk1>
        <a:srgbClr val="000000"/>
      </a:dk1>
      <a:lt1>
        <a:srgbClr val="FFFFFF"/>
      </a:lt1>
      <a:dk2>
        <a:srgbClr val="0E2841"/>
      </a:dk2>
      <a:lt2>
        <a:srgbClr val="E8E8E8"/>
      </a:lt2>
      <a:accent1>
        <a:srgbClr val="00A8E4"/>
      </a:accent1>
      <a:accent2>
        <a:srgbClr val="FFA100"/>
      </a:accent2>
      <a:accent3>
        <a:srgbClr val="00A7C2"/>
      </a:accent3>
      <a:accent4>
        <a:srgbClr val="70A389"/>
      </a:accent4>
      <a:accent5>
        <a:srgbClr val="A3A86B"/>
      </a:accent5>
      <a:accent6>
        <a:srgbClr val="CAB575"/>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G&amp;E" id="{ABA58795-94FF-564E-8C87-4564D9B5FAFB}" vid="{971C80A3-0458-1141-94EF-31CD93151E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b0d6fe9-5d6a-4bc0-a54c-bcad7a1ba9de}" enabled="1" method="Privileged" siteId="{44ae661a-ece6-41aa-bc96-7c2c85a08941}" contentBits="0" removed="0"/>
</clbl:labelList>
</file>

<file path=docProps/app.xml><?xml version="1.0" encoding="utf-8"?>
<Properties xmlns="http://schemas.openxmlformats.org/officeDocument/2006/extended-properties" xmlns:vt="http://schemas.openxmlformats.org/officeDocument/2006/docPropsVTypes">
  <Template>PG&amp;E</Template>
  <TotalTime>76</TotalTime>
  <Words>1125</Words>
  <Application>Microsoft Macintosh PowerPoint</Application>
  <PresentationFormat>Widescreen</PresentationFormat>
  <Paragraphs>137</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Segoe UI</vt:lpstr>
      <vt:lpstr>Wingdings</vt:lpstr>
      <vt:lpstr>PG&amp;E</vt:lpstr>
      <vt:lpstr>High-Level Architecture Review Session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Hansen, Michael</dc:creator>
  <cp:lastModifiedBy>Morgan, Robb</cp:lastModifiedBy>
  <cp:revision>1</cp:revision>
  <dcterms:created xsi:type="dcterms:W3CDTF">2025-08-05T22:46:59Z</dcterms:created>
  <dcterms:modified xsi:type="dcterms:W3CDTF">2026-06-08T21:44:21Z</dcterms:modified>
</cp:coreProperties>
</file>